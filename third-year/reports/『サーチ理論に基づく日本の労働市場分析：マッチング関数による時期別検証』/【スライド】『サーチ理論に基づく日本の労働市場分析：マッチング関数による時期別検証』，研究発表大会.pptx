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57" r:id="rId4"/>
    <p:sldId id="259" r:id="rId5"/>
    <p:sldId id="260" r:id="rId6"/>
    <p:sldId id="261" r:id="rId7"/>
    <p:sldId id="263" r:id="rId8"/>
    <p:sldId id="265" r:id="rId9"/>
    <p:sldId id="269" r:id="rId10"/>
    <p:sldId id="266" r:id="rId11"/>
    <p:sldId id="267" r:id="rId12"/>
    <p:sldId id="262"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19C669-E5DF-4544-BE9D-700E8EE5C66A}" v="855" dt="2026-01-04T17:13:25.28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021" autoAdjust="0"/>
  </p:normalViewPr>
  <p:slideViewPr>
    <p:cSldViewPr snapToGrid="0">
      <p:cViewPr varScale="1">
        <p:scale>
          <a:sx n="66" d="100"/>
          <a:sy n="66" d="100"/>
        </p:scale>
        <p:origin x="13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康佑 岸本" userId="cc71d766d9ae723a" providerId="LiveId" clId="{F89A7927-A189-4256-9764-A98768DFB462}"/>
    <pc:docChg chg="undo custSel addSld delSld modSld sldOrd">
      <pc:chgData name="康佑 岸本" userId="cc71d766d9ae723a" providerId="LiveId" clId="{F89A7927-A189-4256-9764-A98768DFB462}" dt="2026-01-04T17:13:54.272" v="6721" actId="47"/>
      <pc:docMkLst>
        <pc:docMk/>
      </pc:docMkLst>
      <pc:sldChg chg="addSp modSp mod">
        <pc:chgData name="康佑 岸本" userId="cc71d766d9ae723a" providerId="LiveId" clId="{F89A7927-A189-4256-9764-A98768DFB462}" dt="2026-01-03T13:33:56.465" v="936" actId="20577"/>
        <pc:sldMkLst>
          <pc:docMk/>
          <pc:sldMk cId="477159656" sldId="256"/>
        </pc:sldMkLst>
        <pc:spChg chg="mod">
          <ac:chgData name="康佑 岸本" userId="cc71d766d9ae723a" providerId="LiveId" clId="{F89A7927-A189-4256-9764-A98768DFB462}" dt="2025-12-20T02:20:46.738" v="422" actId="1076"/>
          <ac:spMkLst>
            <pc:docMk/>
            <pc:sldMk cId="477159656" sldId="256"/>
            <ac:spMk id="2" creationId="{DE105A29-FF3E-26B7-B1D9-8313A52BB9DA}"/>
          </ac:spMkLst>
        </pc:spChg>
        <pc:spChg chg="mod">
          <ac:chgData name="康佑 岸本" userId="cc71d766d9ae723a" providerId="LiveId" clId="{F89A7927-A189-4256-9764-A98768DFB462}" dt="2026-01-03T13:33:56.465" v="936" actId="20577"/>
          <ac:spMkLst>
            <pc:docMk/>
            <pc:sldMk cId="477159656" sldId="256"/>
            <ac:spMk id="3" creationId="{D2BF5FAF-A013-F82E-654A-BB83AD6AB8F2}"/>
          </ac:spMkLst>
        </pc:spChg>
        <pc:spChg chg="add mod">
          <ac:chgData name="康佑 岸本" userId="cc71d766d9ae723a" providerId="LiveId" clId="{F89A7927-A189-4256-9764-A98768DFB462}" dt="2025-12-20T02:21:12.451" v="425" actId="1076"/>
          <ac:spMkLst>
            <pc:docMk/>
            <pc:sldMk cId="477159656" sldId="256"/>
            <ac:spMk id="5" creationId="{FBE6FC75-FF76-D04C-95EC-AABF4A2014C1}"/>
          </ac:spMkLst>
        </pc:spChg>
        <pc:spChg chg="add">
          <ac:chgData name="康佑 岸本" userId="cc71d766d9ae723a" providerId="LiveId" clId="{F89A7927-A189-4256-9764-A98768DFB462}" dt="2026-01-03T13:33:41.229" v="926"/>
          <ac:spMkLst>
            <pc:docMk/>
            <pc:sldMk cId="477159656" sldId="256"/>
            <ac:spMk id="8" creationId="{7242EFAF-6CAB-4925-9F8F-C4D2732DAC76}"/>
          </ac:spMkLst>
        </pc:spChg>
      </pc:sldChg>
      <pc:sldChg chg="modSp mod">
        <pc:chgData name="康佑 岸本" userId="cc71d766d9ae723a" providerId="LiveId" clId="{F89A7927-A189-4256-9764-A98768DFB462}" dt="2026-01-04T16:58:13.321" v="6553"/>
        <pc:sldMkLst>
          <pc:docMk/>
          <pc:sldMk cId="732969619" sldId="257"/>
        </pc:sldMkLst>
        <pc:spChg chg="mod">
          <ac:chgData name="康佑 岸本" userId="cc71d766d9ae723a" providerId="LiveId" clId="{F89A7927-A189-4256-9764-A98768DFB462}" dt="2025-12-14T12:32:33.827" v="172" actId="20577"/>
          <ac:spMkLst>
            <pc:docMk/>
            <pc:sldMk cId="732969619" sldId="257"/>
            <ac:spMk id="2" creationId="{762C6010-F503-EDF4-B1C8-90D51F21E0AA}"/>
          </ac:spMkLst>
        </pc:spChg>
        <pc:spChg chg="mod">
          <ac:chgData name="康佑 岸本" userId="cc71d766d9ae723a" providerId="LiveId" clId="{F89A7927-A189-4256-9764-A98768DFB462}" dt="2026-01-04T16:58:13.321" v="6553"/>
          <ac:spMkLst>
            <pc:docMk/>
            <pc:sldMk cId="732969619" sldId="257"/>
            <ac:spMk id="3" creationId="{D3E978B3-9B8B-1872-30CB-4F651A85DF57}"/>
          </ac:spMkLst>
        </pc:spChg>
      </pc:sldChg>
      <pc:sldChg chg="modSp mod">
        <pc:chgData name="康佑 岸本" userId="cc71d766d9ae723a" providerId="LiveId" clId="{F89A7927-A189-4256-9764-A98768DFB462}" dt="2026-01-03T12:29:11.173" v="865" actId="113"/>
        <pc:sldMkLst>
          <pc:docMk/>
          <pc:sldMk cId="2868773566" sldId="258"/>
        </pc:sldMkLst>
        <pc:spChg chg="mod">
          <ac:chgData name="康佑 岸本" userId="cc71d766d9ae723a" providerId="LiveId" clId="{F89A7927-A189-4256-9764-A98768DFB462}" dt="2026-01-03T12:29:11.173" v="865" actId="113"/>
          <ac:spMkLst>
            <pc:docMk/>
            <pc:sldMk cId="2868773566" sldId="258"/>
            <ac:spMk id="3" creationId="{CD1F3EF3-DD60-C727-7629-9917CDB615C7}"/>
          </ac:spMkLst>
        </pc:spChg>
      </pc:sldChg>
      <pc:sldChg chg="addSp modSp mod">
        <pc:chgData name="康佑 岸本" userId="cc71d766d9ae723a" providerId="LiveId" clId="{F89A7927-A189-4256-9764-A98768DFB462}" dt="2026-01-04T14:27:24.272" v="3901" actId="20577"/>
        <pc:sldMkLst>
          <pc:docMk/>
          <pc:sldMk cId="2208512692" sldId="259"/>
        </pc:sldMkLst>
        <pc:spChg chg="mod">
          <ac:chgData name="康佑 岸本" userId="cc71d766d9ae723a" providerId="LiveId" clId="{F89A7927-A189-4256-9764-A98768DFB462}" dt="2025-12-29T01:36:30.961" v="587" actId="5793"/>
          <ac:spMkLst>
            <pc:docMk/>
            <pc:sldMk cId="2208512692" sldId="259"/>
            <ac:spMk id="3" creationId="{171A813C-D3E7-1EC2-5B2A-0F1A1BE03650}"/>
          </ac:spMkLst>
        </pc:spChg>
        <pc:graphicFrameChg chg="add mod modGraphic">
          <ac:chgData name="康佑 岸本" userId="cc71d766d9ae723a" providerId="LiveId" clId="{F89A7927-A189-4256-9764-A98768DFB462}" dt="2025-12-29T01:41:42.815" v="623"/>
          <ac:graphicFrameMkLst>
            <pc:docMk/>
            <pc:sldMk cId="2208512692" sldId="259"/>
            <ac:graphicFrameMk id="5" creationId="{A9CA913D-920E-819F-6381-B797CF507D25}"/>
          </ac:graphicFrameMkLst>
        </pc:graphicFrameChg>
        <pc:graphicFrameChg chg="add mod modGraphic">
          <ac:chgData name="康佑 岸本" userId="cc71d766d9ae723a" providerId="LiveId" clId="{F89A7927-A189-4256-9764-A98768DFB462}" dt="2025-12-29T01:41:45.100" v="624"/>
          <ac:graphicFrameMkLst>
            <pc:docMk/>
            <pc:sldMk cId="2208512692" sldId="259"/>
            <ac:graphicFrameMk id="6" creationId="{62817523-B555-8AD2-25FB-A85907DA4656}"/>
          </ac:graphicFrameMkLst>
        </pc:graphicFrameChg>
        <pc:graphicFrameChg chg="add mod modGraphic">
          <ac:chgData name="康佑 岸本" userId="cc71d766d9ae723a" providerId="LiveId" clId="{F89A7927-A189-4256-9764-A98768DFB462}" dt="2026-01-04T14:27:13.945" v="3887" actId="20577"/>
          <ac:graphicFrameMkLst>
            <pc:docMk/>
            <pc:sldMk cId="2208512692" sldId="259"/>
            <ac:graphicFrameMk id="7" creationId="{9D0A720F-81C9-EE89-2F81-E826EAC3B683}"/>
          </ac:graphicFrameMkLst>
        </pc:graphicFrameChg>
        <pc:graphicFrameChg chg="add mod modGraphic">
          <ac:chgData name="康佑 岸本" userId="cc71d766d9ae723a" providerId="LiveId" clId="{F89A7927-A189-4256-9764-A98768DFB462}" dt="2026-01-04T14:27:24.272" v="3901" actId="20577"/>
          <ac:graphicFrameMkLst>
            <pc:docMk/>
            <pc:sldMk cId="2208512692" sldId="259"/>
            <ac:graphicFrameMk id="8" creationId="{40139C58-81F9-A5DC-D35A-01BA7881F69E}"/>
          </ac:graphicFrameMkLst>
        </pc:graphicFrameChg>
      </pc:sldChg>
      <pc:sldChg chg="addSp delSp modSp mod modNotesTx">
        <pc:chgData name="康佑 岸本" userId="cc71d766d9ae723a" providerId="LiveId" clId="{F89A7927-A189-4256-9764-A98768DFB462}" dt="2026-01-04T13:37:01.019" v="1200" actId="20577"/>
        <pc:sldMkLst>
          <pc:docMk/>
          <pc:sldMk cId="3046542434" sldId="260"/>
        </pc:sldMkLst>
        <pc:spChg chg="mod">
          <ac:chgData name="康佑 岸本" userId="cc71d766d9ae723a" providerId="LiveId" clId="{F89A7927-A189-4256-9764-A98768DFB462}" dt="2026-01-03T12:29:47.261" v="872" actId="207"/>
          <ac:spMkLst>
            <pc:docMk/>
            <pc:sldMk cId="3046542434" sldId="260"/>
            <ac:spMk id="3" creationId="{9284ABEE-E43F-1750-2341-0802E6465FAA}"/>
          </ac:spMkLst>
        </pc:spChg>
        <pc:spChg chg="add del">
          <ac:chgData name="康佑 岸本" userId="cc71d766d9ae723a" providerId="LiveId" clId="{F89A7927-A189-4256-9764-A98768DFB462}" dt="2026-01-03T13:32:43.769" v="918" actId="22"/>
          <ac:spMkLst>
            <pc:docMk/>
            <pc:sldMk cId="3046542434" sldId="260"/>
            <ac:spMk id="8" creationId="{3BACD830-2B86-552A-2858-42329DD39A06}"/>
          </ac:spMkLst>
        </pc:spChg>
        <pc:graphicFrameChg chg="add mod modGraphic">
          <ac:chgData name="康佑 岸本" userId="cc71d766d9ae723a" providerId="LiveId" clId="{F89A7927-A189-4256-9764-A98768DFB462}" dt="2026-01-02T06:38:34.090" v="851" actId="1036"/>
          <ac:graphicFrameMkLst>
            <pc:docMk/>
            <pc:sldMk cId="3046542434" sldId="260"/>
            <ac:graphicFrameMk id="6" creationId="{8AB8B116-29CA-C7F6-4031-F88F2E9E2B7C}"/>
          </ac:graphicFrameMkLst>
        </pc:graphicFrameChg>
      </pc:sldChg>
      <pc:sldChg chg="modSp mod ord modNotesTx">
        <pc:chgData name="康佑 岸本" userId="cc71d766d9ae723a" providerId="LiveId" clId="{F89A7927-A189-4256-9764-A98768DFB462}" dt="2026-01-04T16:45:07.871" v="6544"/>
        <pc:sldMkLst>
          <pc:docMk/>
          <pc:sldMk cId="3974686319" sldId="261"/>
        </pc:sldMkLst>
        <pc:spChg chg="mod">
          <ac:chgData name="康佑 岸本" userId="cc71d766d9ae723a" providerId="LiveId" clId="{F89A7927-A189-4256-9764-A98768DFB462}" dt="2026-01-04T14:36:33.345" v="3942" actId="20577"/>
          <ac:spMkLst>
            <pc:docMk/>
            <pc:sldMk cId="3974686319" sldId="261"/>
            <ac:spMk id="10" creationId="{955018DB-1C47-0ECA-6279-6663B9996652}"/>
          </ac:spMkLst>
        </pc:spChg>
      </pc:sldChg>
      <pc:sldChg chg="addSp delSp modSp mod">
        <pc:chgData name="康佑 岸本" userId="cc71d766d9ae723a" providerId="LiveId" clId="{F89A7927-A189-4256-9764-A98768DFB462}" dt="2026-01-03T13:38:40.755" v="1023"/>
        <pc:sldMkLst>
          <pc:docMk/>
          <pc:sldMk cId="45745005" sldId="262"/>
        </pc:sldMkLst>
        <pc:spChg chg="mod">
          <ac:chgData name="康佑 岸本" userId="cc71d766d9ae723a" providerId="LiveId" clId="{F89A7927-A189-4256-9764-A98768DFB462}" dt="2026-01-03T13:38:40.755" v="1023"/>
          <ac:spMkLst>
            <pc:docMk/>
            <pc:sldMk cId="45745005" sldId="262"/>
            <ac:spMk id="2" creationId="{4966F05A-6A36-363A-6C81-5EB48D36D3D5}"/>
          </ac:spMkLst>
        </pc:spChg>
        <pc:spChg chg="mod">
          <ac:chgData name="康佑 岸本" userId="cc71d766d9ae723a" providerId="LiveId" clId="{F89A7927-A189-4256-9764-A98768DFB462}" dt="2026-01-03T13:38:32.504" v="1013" actId="404"/>
          <ac:spMkLst>
            <pc:docMk/>
            <pc:sldMk cId="45745005" sldId="262"/>
            <ac:spMk id="3" creationId="{3DFFF809-581F-7F57-D737-C065EE5C2839}"/>
          </ac:spMkLst>
        </pc:spChg>
      </pc:sldChg>
      <pc:sldChg chg="modSp mod ord modNotesTx">
        <pc:chgData name="康佑 岸本" userId="cc71d766d9ae723a" providerId="LiveId" clId="{F89A7927-A189-4256-9764-A98768DFB462}" dt="2026-01-04T16:45:03.739" v="6542"/>
        <pc:sldMkLst>
          <pc:docMk/>
          <pc:sldMk cId="1415953846" sldId="263"/>
        </pc:sldMkLst>
        <pc:spChg chg="mod">
          <ac:chgData name="康佑 岸本" userId="cc71d766d9ae723a" providerId="LiveId" clId="{F89A7927-A189-4256-9764-A98768DFB462}" dt="2026-01-03T13:22:54.929" v="902" actId="27636"/>
          <ac:spMkLst>
            <pc:docMk/>
            <pc:sldMk cId="1415953846" sldId="263"/>
            <ac:spMk id="3" creationId="{E21CABBD-DAB0-D8A9-AE23-4BE1140F04C4}"/>
          </ac:spMkLst>
        </pc:spChg>
      </pc:sldChg>
      <pc:sldChg chg="modSp add del mod">
        <pc:chgData name="康佑 岸本" userId="cc71d766d9ae723a" providerId="LiveId" clId="{F89A7927-A189-4256-9764-A98768DFB462}" dt="2026-01-03T13:38:44.802" v="1024" actId="47"/>
        <pc:sldMkLst>
          <pc:docMk/>
          <pc:sldMk cId="2266653708" sldId="264"/>
        </pc:sldMkLst>
      </pc:sldChg>
      <pc:sldChg chg="addSp delSp modSp new del mod">
        <pc:chgData name="康佑 岸本" userId="cc71d766d9ae723a" providerId="LiveId" clId="{F89A7927-A189-4256-9764-A98768DFB462}" dt="2026-01-04T17:13:54.272" v="6721" actId="47"/>
        <pc:sldMkLst>
          <pc:docMk/>
          <pc:sldMk cId="3511522655" sldId="264"/>
        </pc:sldMkLst>
        <pc:spChg chg="mod">
          <ac:chgData name="康佑 岸本" userId="cc71d766d9ae723a" providerId="LiveId" clId="{F89A7927-A189-4256-9764-A98768DFB462}" dt="2026-01-04T14:37:42.189" v="3978"/>
          <ac:spMkLst>
            <pc:docMk/>
            <pc:sldMk cId="3511522655" sldId="264"/>
            <ac:spMk id="2" creationId="{B2FC08D0-224B-73BE-9F74-05F5F0D9583D}"/>
          </ac:spMkLst>
        </pc:spChg>
        <pc:spChg chg="mod">
          <ac:chgData name="康佑 岸本" userId="cc71d766d9ae723a" providerId="LiveId" clId="{F89A7927-A189-4256-9764-A98768DFB462}" dt="2026-01-04T17:12:34.812" v="6711" actId="14100"/>
          <ac:spMkLst>
            <pc:docMk/>
            <pc:sldMk cId="3511522655" sldId="264"/>
            <ac:spMk id="3" creationId="{01BDD1B4-F8AD-0800-D019-95C2A5EA6390}"/>
          </ac:spMkLst>
        </pc:spChg>
        <pc:spChg chg="add del mod">
          <ac:chgData name="康佑 岸本" userId="cc71d766d9ae723a" providerId="LiveId" clId="{F89A7927-A189-4256-9764-A98768DFB462}" dt="2026-01-04T17:13:22.331" v="6719" actId="478"/>
          <ac:spMkLst>
            <pc:docMk/>
            <pc:sldMk cId="3511522655" sldId="264"/>
            <ac:spMk id="6" creationId="{93DD6CAE-BEE7-3B6E-1779-44C5356532DC}"/>
          </ac:spMkLst>
        </pc:spChg>
        <pc:picChg chg="add del mod">
          <ac:chgData name="康佑 岸本" userId="cc71d766d9ae723a" providerId="LiveId" clId="{F89A7927-A189-4256-9764-A98768DFB462}" dt="2026-01-04T17:13:25.273" v="6720" actId="478"/>
          <ac:picMkLst>
            <pc:docMk/>
            <pc:sldMk cId="3511522655" sldId="264"/>
            <ac:picMk id="1026" creationId="{AA15F4C0-B66D-CBAC-AC9E-78CCB45209A3}"/>
          </ac:picMkLst>
        </pc:picChg>
      </pc:sldChg>
      <pc:sldChg chg="addSp delSp modSp new mod ord">
        <pc:chgData name="康佑 岸本" userId="cc71d766d9ae723a" providerId="LiveId" clId="{F89A7927-A189-4256-9764-A98768DFB462}" dt="2026-01-04T16:58:32.945" v="6561"/>
        <pc:sldMkLst>
          <pc:docMk/>
          <pc:sldMk cId="1049714664" sldId="265"/>
        </pc:sldMkLst>
        <pc:spChg chg="mod">
          <ac:chgData name="康佑 岸本" userId="cc71d766d9ae723a" providerId="LiveId" clId="{F89A7927-A189-4256-9764-A98768DFB462}" dt="2026-01-04T15:18:56.524" v="4715"/>
          <ac:spMkLst>
            <pc:docMk/>
            <pc:sldMk cId="1049714664" sldId="265"/>
            <ac:spMk id="2" creationId="{6A4B1C93-4749-CEBC-763D-8E731CB5F55F}"/>
          </ac:spMkLst>
        </pc:spChg>
        <pc:spChg chg="mod">
          <ac:chgData name="康佑 岸本" userId="cc71d766d9ae723a" providerId="LiveId" clId="{F89A7927-A189-4256-9764-A98768DFB462}" dt="2026-01-04T15:57:41.166" v="5063" actId="27636"/>
          <ac:spMkLst>
            <pc:docMk/>
            <pc:sldMk cId="1049714664" sldId="265"/>
            <ac:spMk id="3" creationId="{02F4154B-CF95-2EF2-B278-B9E6AE1B07EE}"/>
          </ac:spMkLst>
        </pc:spChg>
        <pc:spChg chg="add mod">
          <ac:chgData name="康佑 岸本" userId="cc71d766d9ae723a" providerId="LiveId" clId="{F89A7927-A189-4256-9764-A98768DFB462}" dt="2026-01-04T15:18:32.650" v="4697" actId="1037"/>
          <ac:spMkLst>
            <pc:docMk/>
            <pc:sldMk cId="1049714664" sldId="265"/>
            <ac:spMk id="5" creationId="{8E87EF08-389D-0C82-194C-6FBE963414D5}"/>
          </ac:spMkLst>
        </pc:spChg>
        <pc:spChg chg="add mod">
          <ac:chgData name="康佑 岸本" userId="cc71d766d9ae723a" providerId="LiveId" clId="{F89A7927-A189-4256-9764-A98768DFB462}" dt="2026-01-04T15:20:54.297" v="4755" actId="1035"/>
          <ac:spMkLst>
            <pc:docMk/>
            <pc:sldMk cId="1049714664" sldId="265"/>
            <ac:spMk id="6" creationId="{E3F43B55-883F-9110-4C7B-8D9F0E1821B3}"/>
          </ac:spMkLst>
        </pc:spChg>
        <pc:spChg chg="add mod">
          <ac:chgData name="康佑 岸本" userId="cc71d766d9ae723a" providerId="LiveId" clId="{F89A7927-A189-4256-9764-A98768DFB462}" dt="2026-01-04T15:18:32.650" v="4697" actId="1037"/>
          <ac:spMkLst>
            <pc:docMk/>
            <pc:sldMk cId="1049714664" sldId="265"/>
            <ac:spMk id="7" creationId="{2FD27A22-13BA-2B44-DEF3-B1187BA6ED1B}"/>
          </ac:spMkLst>
        </pc:spChg>
        <pc:spChg chg="add mod">
          <ac:chgData name="康佑 岸本" userId="cc71d766d9ae723a" providerId="LiveId" clId="{F89A7927-A189-4256-9764-A98768DFB462}" dt="2026-01-04T15:58:44.417" v="5067" actId="14100"/>
          <ac:spMkLst>
            <pc:docMk/>
            <pc:sldMk cId="1049714664" sldId="265"/>
            <ac:spMk id="14" creationId="{4D4DD017-6229-0DF7-EF0A-60D1A3BC0CB1}"/>
          </ac:spMkLst>
        </pc:spChg>
        <pc:spChg chg="add mod">
          <ac:chgData name="康佑 岸本" userId="cc71d766d9ae723a" providerId="LiveId" clId="{F89A7927-A189-4256-9764-A98768DFB462}" dt="2026-01-04T15:58:45.245" v="5069" actId="14100"/>
          <ac:spMkLst>
            <pc:docMk/>
            <pc:sldMk cId="1049714664" sldId="265"/>
            <ac:spMk id="15" creationId="{93178393-2731-50D7-A8C2-AE64BDA19810}"/>
          </ac:spMkLst>
        </pc:spChg>
        <pc:spChg chg="add mod">
          <ac:chgData name="康佑 岸本" userId="cc71d766d9ae723a" providerId="LiveId" clId="{F89A7927-A189-4256-9764-A98768DFB462}" dt="2026-01-04T15:58:44.814" v="5068" actId="14100"/>
          <ac:spMkLst>
            <pc:docMk/>
            <pc:sldMk cId="1049714664" sldId="265"/>
            <ac:spMk id="16" creationId="{3B431D82-4E4E-0896-39B7-544C9D0AA64A}"/>
          </ac:spMkLst>
        </pc:spChg>
        <pc:spChg chg="add mod">
          <ac:chgData name="康佑 岸本" userId="cc71d766d9ae723a" providerId="LiveId" clId="{F89A7927-A189-4256-9764-A98768DFB462}" dt="2026-01-04T15:18:32.650" v="4697" actId="1037"/>
          <ac:spMkLst>
            <pc:docMk/>
            <pc:sldMk cId="1049714664" sldId="265"/>
            <ac:spMk id="17" creationId="{B3A52759-8DA3-5DA8-DE09-BCF3F6CDF71E}"/>
          </ac:spMkLst>
        </pc:spChg>
        <pc:cxnChg chg="add del mod">
          <ac:chgData name="康佑 岸本" userId="cc71d766d9ae723a" providerId="LiveId" clId="{F89A7927-A189-4256-9764-A98768DFB462}" dt="2026-01-04T14:50:26.404" v="4627" actId="478"/>
          <ac:cxnSpMkLst>
            <pc:docMk/>
            <pc:sldMk cId="1049714664" sldId="265"/>
            <ac:cxnSpMk id="9" creationId="{51D7743D-A39F-4660-5C0B-44C6405A8B27}"/>
          </ac:cxnSpMkLst>
        </pc:cxnChg>
      </pc:sldChg>
      <pc:sldChg chg="delSp modSp add del mod">
        <pc:chgData name="康佑 岸本" userId="cc71d766d9ae723a" providerId="LiveId" clId="{F89A7927-A189-4256-9764-A98768DFB462}" dt="2026-01-03T13:33:06.769" v="923" actId="47"/>
        <pc:sldMkLst>
          <pc:docMk/>
          <pc:sldMk cId="1777219389" sldId="265"/>
        </pc:sldMkLst>
        <pc:spChg chg="mod">
          <ac:chgData name="康佑 岸本" userId="cc71d766d9ae723a" providerId="LiveId" clId="{F89A7927-A189-4256-9764-A98768DFB462}" dt="2026-01-03T13:32:50.870" v="920" actId="20577"/>
          <ac:spMkLst>
            <pc:docMk/>
            <pc:sldMk cId="1777219389" sldId="265"/>
            <ac:spMk id="2" creationId="{2ACC0CA7-A224-5A9D-16F4-FB9CCDE990D9}"/>
          </ac:spMkLst>
        </pc:spChg>
        <pc:graphicFrameChg chg="del">
          <ac:chgData name="康佑 岸本" userId="cc71d766d9ae723a" providerId="LiveId" clId="{F89A7927-A189-4256-9764-A98768DFB462}" dt="2026-01-03T13:32:59.947" v="921" actId="478"/>
          <ac:graphicFrameMkLst>
            <pc:docMk/>
            <pc:sldMk cId="1777219389" sldId="265"/>
            <ac:graphicFrameMk id="5" creationId="{DC575DB5-ED52-4489-F22C-F40391B4354D}"/>
          </ac:graphicFrameMkLst>
        </pc:graphicFrameChg>
        <pc:graphicFrameChg chg="mod">
          <ac:chgData name="康佑 岸本" userId="cc71d766d9ae723a" providerId="LiveId" clId="{F89A7927-A189-4256-9764-A98768DFB462}" dt="2026-01-03T13:33:02.895" v="922" actId="6549"/>
          <ac:graphicFrameMkLst>
            <pc:docMk/>
            <pc:sldMk cId="1777219389" sldId="265"/>
            <ac:graphicFrameMk id="6" creationId="{197442F5-9214-902E-7ECD-D9DB35A5CEA6}"/>
          </ac:graphicFrameMkLst>
        </pc:graphicFrameChg>
      </pc:sldChg>
      <pc:sldChg chg="addSp delSp modSp new mod ord">
        <pc:chgData name="康佑 岸本" userId="cc71d766d9ae723a" providerId="LiveId" clId="{F89A7927-A189-4256-9764-A98768DFB462}" dt="2026-01-04T16:58:26.953" v="6557"/>
        <pc:sldMkLst>
          <pc:docMk/>
          <pc:sldMk cId="1184633420" sldId="266"/>
        </pc:sldMkLst>
        <pc:spChg chg="mod">
          <ac:chgData name="康佑 岸本" userId="cc71d766d9ae723a" providerId="LiveId" clId="{F89A7927-A189-4256-9764-A98768DFB462}" dt="2026-01-04T15:19:01.940" v="4722"/>
          <ac:spMkLst>
            <pc:docMk/>
            <pc:sldMk cId="1184633420" sldId="266"/>
            <ac:spMk id="2" creationId="{A612B8CF-061C-C165-BF80-C1E67A301381}"/>
          </ac:spMkLst>
        </pc:spChg>
        <pc:spChg chg="del mod">
          <ac:chgData name="康佑 岸本" userId="cc71d766d9ae723a" providerId="LiveId" clId="{F89A7927-A189-4256-9764-A98768DFB462}" dt="2026-01-04T15:19:49.212" v="4724" actId="1032"/>
          <ac:spMkLst>
            <pc:docMk/>
            <pc:sldMk cId="1184633420" sldId="266"/>
            <ac:spMk id="3" creationId="{4CD9F8CA-0B00-4A96-B944-BDE0A9CF19C0}"/>
          </ac:spMkLst>
        </pc:spChg>
        <pc:spChg chg="mod">
          <ac:chgData name="康佑 岸本" userId="cc71d766d9ae723a" providerId="LiveId" clId="{F89A7927-A189-4256-9764-A98768DFB462}" dt="2026-01-04T15:59:19.909" v="5074" actId="1076"/>
          <ac:spMkLst>
            <pc:docMk/>
            <pc:sldMk cId="1184633420" sldId="266"/>
            <ac:spMk id="4" creationId="{90255066-C125-A49E-DDE4-34A215DC89A8}"/>
          </ac:spMkLst>
        </pc:spChg>
        <pc:spChg chg="mod">
          <ac:chgData name="康佑 岸本" userId="cc71d766d9ae723a" providerId="LiveId" clId="{F89A7927-A189-4256-9764-A98768DFB462}" dt="2026-01-04T15:20:10.622" v="4725" actId="18245"/>
          <ac:spMkLst>
            <pc:docMk/>
            <pc:sldMk cId="1184633420" sldId="266"/>
            <ac:spMk id="7" creationId="{0EA59AE0-28A7-EE84-A34E-864181D72927}"/>
          </ac:spMkLst>
        </pc:spChg>
        <pc:spChg chg="mod">
          <ac:chgData name="康佑 岸本" userId="cc71d766d9ae723a" providerId="LiveId" clId="{F89A7927-A189-4256-9764-A98768DFB462}" dt="2026-01-04T15:20:10.622" v="4725" actId="18245"/>
          <ac:spMkLst>
            <pc:docMk/>
            <pc:sldMk cId="1184633420" sldId="266"/>
            <ac:spMk id="8" creationId="{FAAEF474-FB23-CC38-AF44-6ECFA1B349EA}"/>
          </ac:spMkLst>
        </pc:spChg>
        <pc:spChg chg="mod">
          <ac:chgData name="康佑 岸本" userId="cc71d766d9ae723a" providerId="LiveId" clId="{F89A7927-A189-4256-9764-A98768DFB462}" dt="2026-01-04T15:20:10.622" v="4725" actId="18245"/>
          <ac:spMkLst>
            <pc:docMk/>
            <pc:sldMk cId="1184633420" sldId="266"/>
            <ac:spMk id="9" creationId="{E7B57D42-1795-2084-B294-B11779D33A78}"/>
          </ac:spMkLst>
        </pc:spChg>
        <pc:spChg chg="mod">
          <ac:chgData name="康佑 岸本" userId="cc71d766d9ae723a" providerId="LiveId" clId="{F89A7927-A189-4256-9764-A98768DFB462}" dt="2026-01-04T15:20:10.622" v="4725" actId="18245"/>
          <ac:spMkLst>
            <pc:docMk/>
            <pc:sldMk cId="1184633420" sldId="266"/>
            <ac:spMk id="10" creationId="{E51E8A39-5790-7C1C-C90C-7B1F9AD16027}"/>
          </ac:spMkLst>
        </pc:spChg>
        <pc:spChg chg="mod">
          <ac:chgData name="康佑 岸本" userId="cc71d766d9ae723a" providerId="LiveId" clId="{F89A7927-A189-4256-9764-A98768DFB462}" dt="2026-01-04T15:20:10.622" v="4725" actId="18245"/>
          <ac:spMkLst>
            <pc:docMk/>
            <pc:sldMk cId="1184633420" sldId="266"/>
            <ac:spMk id="11" creationId="{EFF78215-D24F-5F0A-3789-01302B5E6097}"/>
          </ac:spMkLst>
        </pc:spChg>
        <pc:spChg chg="mod">
          <ac:chgData name="康佑 岸本" userId="cc71d766d9ae723a" providerId="LiveId" clId="{F89A7927-A189-4256-9764-A98768DFB462}" dt="2026-01-04T15:20:10.622" v="4725" actId="18245"/>
          <ac:spMkLst>
            <pc:docMk/>
            <pc:sldMk cId="1184633420" sldId="266"/>
            <ac:spMk id="12" creationId="{E21C7AC9-7CC5-F55F-0FC1-CD7F54567FDF}"/>
          </ac:spMkLst>
        </pc:spChg>
        <pc:spChg chg="add mod">
          <ac:chgData name="康佑 岸本" userId="cc71d766d9ae723a" providerId="LiveId" clId="{F89A7927-A189-4256-9764-A98768DFB462}" dt="2026-01-04T15:59:40.976" v="5100" actId="1038"/>
          <ac:spMkLst>
            <pc:docMk/>
            <pc:sldMk cId="1184633420" sldId="266"/>
            <ac:spMk id="13" creationId="{CC3E7EA4-38AB-29D8-9791-B0C4B9CD7717}"/>
          </ac:spMkLst>
        </pc:spChg>
        <pc:spChg chg="add mod">
          <ac:chgData name="康佑 岸本" userId="cc71d766d9ae723a" providerId="LiveId" clId="{F89A7927-A189-4256-9764-A98768DFB462}" dt="2026-01-04T15:59:40.976" v="5100" actId="1038"/>
          <ac:spMkLst>
            <pc:docMk/>
            <pc:sldMk cId="1184633420" sldId="266"/>
            <ac:spMk id="14" creationId="{4FF50D3D-F123-6658-6A41-CB08AEE5E48A}"/>
          </ac:spMkLst>
        </pc:spChg>
        <pc:spChg chg="add mod">
          <ac:chgData name="康佑 岸本" userId="cc71d766d9ae723a" providerId="LiveId" clId="{F89A7927-A189-4256-9764-A98768DFB462}" dt="2026-01-04T15:59:40.976" v="5100" actId="1038"/>
          <ac:spMkLst>
            <pc:docMk/>
            <pc:sldMk cId="1184633420" sldId="266"/>
            <ac:spMk id="15" creationId="{801C6B93-0AC9-2525-9BC1-6B41E919B34B}"/>
          </ac:spMkLst>
        </pc:spChg>
        <pc:spChg chg="add mod">
          <ac:chgData name="康佑 岸本" userId="cc71d766d9ae723a" providerId="LiveId" clId="{F89A7927-A189-4256-9764-A98768DFB462}" dt="2026-01-04T15:59:40.976" v="5100" actId="1038"/>
          <ac:spMkLst>
            <pc:docMk/>
            <pc:sldMk cId="1184633420" sldId="266"/>
            <ac:spMk id="16" creationId="{C022686A-697A-46ED-A446-CCB2899D6DB7}"/>
          </ac:spMkLst>
        </pc:spChg>
        <pc:spChg chg="add del mod">
          <ac:chgData name="康佑 岸本" userId="cc71d766d9ae723a" providerId="LiveId" clId="{F89A7927-A189-4256-9764-A98768DFB462}" dt="2026-01-04T15:21:58.194" v="4801" actId="478"/>
          <ac:spMkLst>
            <pc:docMk/>
            <pc:sldMk cId="1184633420" sldId="266"/>
            <ac:spMk id="17" creationId="{2244C9A5-B05D-11DF-7E0F-82ABBFE46FD1}"/>
          </ac:spMkLst>
        </pc:spChg>
        <pc:spChg chg="add mod">
          <ac:chgData name="康佑 岸本" userId="cc71d766d9ae723a" providerId="LiveId" clId="{F89A7927-A189-4256-9764-A98768DFB462}" dt="2026-01-04T15:59:40.976" v="5100" actId="1038"/>
          <ac:spMkLst>
            <pc:docMk/>
            <pc:sldMk cId="1184633420" sldId="266"/>
            <ac:spMk id="18" creationId="{332359DF-DCF4-86E3-40AF-4CBE26068322}"/>
          </ac:spMkLst>
        </pc:spChg>
        <pc:spChg chg="add mod">
          <ac:chgData name="康佑 岸本" userId="cc71d766d9ae723a" providerId="LiveId" clId="{F89A7927-A189-4256-9764-A98768DFB462}" dt="2026-01-04T15:59:40.976" v="5100" actId="1038"/>
          <ac:spMkLst>
            <pc:docMk/>
            <pc:sldMk cId="1184633420" sldId="266"/>
            <ac:spMk id="19" creationId="{CD460EB6-EA66-BCFB-AD41-458DD1C5EE11}"/>
          </ac:spMkLst>
        </pc:spChg>
        <pc:spChg chg="add del mod">
          <ac:chgData name="康佑 岸本" userId="cc71d766d9ae723a" providerId="LiveId" clId="{F89A7927-A189-4256-9764-A98768DFB462}" dt="2026-01-04T15:21:56.219" v="4800" actId="478"/>
          <ac:spMkLst>
            <pc:docMk/>
            <pc:sldMk cId="1184633420" sldId="266"/>
            <ac:spMk id="20" creationId="{EB090989-6B59-A542-FB21-DA0919711B3C}"/>
          </ac:spMkLst>
        </pc:spChg>
        <pc:spChg chg="add mod">
          <ac:chgData name="康佑 岸本" userId="cc71d766d9ae723a" providerId="LiveId" clId="{F89A7927-A189-4256-9764-A98768DFB462}" dt="2026-01-04T15:59:40.976" v="5100" actId="1038"/>
          <ac:spMkLst>
            <pc:docMk/>
            <pc:sldMk cId="1184633420" sldId="266"/>
            <ac:spMk id="21" creationId="{E2731B88-C908-6D7B-DD0D-3D60755F76DA}"/>
          </ac:spMkLst>
        </pc:spChg>
        <pc:spChg chg="add del mod">
          <ac:chgData name="康佑 岸本" userId="cc71d766d9ae723a" providerId="LiveId" clId="{F89A7927-A189-4256-9764-A98768DFB462}" dt="2026-01-04T15:23:39.877" v="4864"/>
          <ac:spMkLst>
            <pc:docMk/>
            <pc:sldMk cId="1184633420" sldId="266"/>
            <ac:spMk id="22" creationId="{3392E99E-2D5D-7EB2-4C9B-96C09826E97D}"/>
          </ac:spMkLst>
        </pc:spChg>
        <pc:spChg chg="add mod">
          <ac:chgData name="康佑 岸本" userId="cc71d766d9ae723a" providerId="LiveId" clId="{F89A7927-A189-4256-9764-A98768DFB462}" dt="2026-01-04T16:12:34.541" v="5662" actId="20577"/>
          <ac:spMkLst>
            <pc:docMk/>
            <pc:sldMk cId="1184633420" sldId="266"/>
            <ac:spMk id="23" creationId="{E7CB50EC-18A1-905F-CD63-337193CA1E74}"/>
          </ac:spMkLst>
        </pc:spChg>
        <pc:spChg chg="add del mod">
          <ac:chgData name="康佑 岸本" userId="cc71d766d9ae723a" providerId="LiveId" clId="{F89A7927-A189-4256-9764-A98768DFB462}" dt="2026-01-04T15:59:40.976" v="5100" actId="1038"/>
          <ac:spMkLst>
            <pc:docMk/>
            <pc:sldMk cId="1184633420" sldId="266"/>
            <ac:spMk id="27" creationId="{F5519118-705B-09F4-BC34-8641C9B66618}"/>
          </ac:spMkLst>
        </pc:spChg>
        <pc:spChg chg="add mod">
          <ac:chgData name="康佑 岸本" userId="cc71d766d9ae723a" providerId="LiveId" clId="{F89A7927-A189-4256-9764-A98768DFB462}" dt="2026-01-04T15:59:40.976" v="5100" actId="1038"/>
          <ac:spMkLst>
            <pc:docMk/>
            <pc:sldMk cId="1184633420" sldId="266"/>
            <ac:spMk id="28" creationId="{C1626E5C-A3DF-74D2-3150-884292F51330}"/>
          </ac:spMkLst>
        </pc:spChg>
        <pc:spChg chg="add del">
          <ac:chgData name="康佑 岸本" userId="cc71d766d9ae723a" providerId="LiveId" clId="{F89A7927-A189-4256-9764-A98768DFB462}" dt="2026-01-04T16:12:51.674" v="5664" actId="22"/>
          <ac:spMkLst>
            <pc:docMk/>
            <pc:sldMk cId="1184633420" sldId="266"/>
            <ac:spMk id="30" creationId="{43A50D27-4A12-CC51-D40D-58C79F14ED4D}"/>
          </ac:spMkLst>
        </pc:spChg>
        <pc:grpChg chg="del mod">
          <ac:chgData name="康佑 岸本" userId="cc71d766d9ae723a" providerId="LiveId" clId="{F89A7927-A189-4256-9764-A98768DFB462}" dt="2026-01-04T15:20:17.473" v="4726" actId="478"/>
          <ac:grpSpMkLst>
            <pc:docMk/>
            <pc:sldMk cId="1184633420" sldId="266"/>
            <ac:grpSpMk id="6" creationId="{5CAD950E-7CFB-FA11-0BEC-3F5CABE75DB1}"/>
          </ac:grpSpMkLst>
        </pc:grpChg>
        <pc:graphicFrameChg chg="add del modGraphic">
          <ac:chgData name="康佑 岸本" userId="cc71d766d9ae723a" providerId="LiveId" clId="{F89A7927-A189-4256-9764-A98768DFB462}" dt="2026-01-04T15:20:10.622" v="4725" actId="18245"/>
          <ac:graphicFrameMkLst>
            <pc:docMk/>
            <pc:sldMk cId="1184633420" sldId="266"/>
            <ac:graphicFrameMk id="5" creationId="{0B503D71-DA74-FA62-84F9-FCCA6859D255}"/>
          </ac:graphicFrameMkLst>
        </pc:graphicFrameChg>
        <pc:cxnChg chg="add del mod">
          <ac:chgData name="康佑 岸本" userId="cc71d766d9ae723a" providerId="LiveId" clId="{F89A7927-A189-4256-9764-A98768DFB462}" dt="2026-01-04T15:52:26.282" v="5033" actId="478"/>
          <ac:cxnSpMkLst>
            <pc:docMk/>
            <pc:sldMk cId="1184633420" sldId="266"/>
            <ac:cxnSpMk id="25" creationId="{F1E9BE21-D26C-2418-3AC6-FAB807CE8A82}"/>
          </ac:cxnSpMkLst>
        </pc:cxnChg>
      </pc:sldChg>
      <pc:sldChg chg="addSp delSp modSp add mod ord">
        <pc:chgData name="康佑 岸本" userId="cc71d766d9ae723a" providerId="LiveId" clId="{F89A7927-A189-4256-9764-A98768DFB462}" dt="2026-01-04T16:59:49.212" v="6623" actId="242"/>
        <pc:sldMkLst>
          <pc:docMk/>
          <pc:sldMk cId="2947833105" sldId="267"/>
        </pc:sldMkLst>
        <pc:spChg chg="del">
          <ac:chgData name="康佑 岸本" userId="cc71d766d9ae723a" providerId="LiveId" clId="{F89A7927-A189-4256-9764-A98768DFB462}" dt="2026-01-04T16:21:45.825" v="6120" actId="478"/>
          <ac:spMkLst>
            <pc:docMk/>
            <pc:sldMk cId="2947833105" sldId="267"/>
            <ac:spMk id="13" creationId="{A123E92D-FA9D-C67F-8208-EAF3ED948494}"/>
          </ac:spMkLst>
        </pc:spChg>
        <pc:spChg chg="del mod">
          <ac:chgData name="康佑 岸本" userId="cc71d766d9ae723a" providerId="LiveId" clId="{F89A7927-A189-4256-9764-A98768DFB462}" dt="2026-01-04T16:21:43.188" v="6118" actId="478"/>
          <ac:spMkLst>
            <pc:docMk/>
            <pc:sldMk cId="2947833105" sldId="267"/>
            <ac:spMk id="14" creationId="{690C9BD5-39C1-A08A-F4A7-0D79BE938050}"/>
          </ac:spMkLst>
        </pc:spChg>
        <pc:spChg chg="del">
          <ac:chgData name="康佑 岸本" userId="cc71d766d9ae723a" providerId="LiveId" clId="{F89A7927-A189-4256-9764-A98768DFB462}" dt="2026-01-04T16:21:38.416" v="6112" actId="478"/>
          <ac:spMkLst>
            <pc:docMk/>
            <pc:sldMk cId="2947833105" sldId="267"/>
            <ac:spMk id="15" creationId="{EBCFC06F-CDAB-AAD7-4B38-911B6B5F7D8D}"/>
          </ac:spMkLst>
        </pc:spChg>
        <pc:spChg chg="del">
          <ac:chgData name="康佑 岸本" userId="cc71d766d9ae723a" providerId="LiveId" clId="{F89A7927-A189-4256-9764-A98768DFB462}" dt="2026-01-04T16:21:37.599" v="6111" actId="478"/>
          <ac:spMkLst>
            <pc:docMk/>
            <pc:sldMk cId="2947833105" sldId="267"/>
            <ac:spMk id="16" creationId="{A99A2FFC-C374-8166-FC9F-9840DEA1A0E1}"/>
          </ac:spMkLst>
        </pc:spChg>
        <pc:spChg chg="del">
          <ac:chgData name="康佑 岸本" userId="cc71d766d9ae723a" providerId="LiveId" clId="{F89A7927-A189-4256-9764-A98768DFB462}" dt="2026-01-04T16:21:37.599" v="6111" actId="478"/>
          <ac:spMkLst>
            <pc:docMk/>
            <pc:sldMk cId="2947833105" sldId="267"/>
            <ac:spMk id="18" creationId="{42595A06-7B5B-5407-AED4-6A4F8C93EF45}"/>
          </ac:spMkLst>
        </pc:spChg>
        <pc:spChg chg="del mod">
          <ac:chgData name="康佑 岸本" userId="cc71d766d9ae723a" providerId="LiveId" clId="{F89A7927-A189-4256-9764-A98768DFB462}" dt="2026-01-04T16:21:41.205" v="6116" actId="478"/>
          <ac:spMkLst>
            <pc:docMk/>
            <pc:sldMk cId="2947833105" sldId="267"/>
            <ac:spMk id="19" creationId="{466704CB-2ECE-780C-02F8-B4C8D044FE31}"/>
          </ac:spMkLst>
        </pc:spChg>
        <pc:spChg chg="del mod">
          <ac:chgData name="康佑 岸本" userId="cc71d766d9ae723a" providerId="LiveId" clId="{F89A7927-A189-4256-9764-A98768DFB462}" dt="2026-01-04T16:21:44.775" v="6119" actId="478"/>
          <ac:spMkLst>
            <pc:docMk/>
            <pc:sldMk cId="2947833105" sldId="267"/>
            <ac:spMk id="21" creationId="{4CC3961E-DF03-618E-3237-C5C870992830}"/>
          </ac:spMkLst>
        </pc:spChg>
        <pc:spChg chg="mod">
          <ac:chgData name="康佑 岸本" userId="cc71d766d9ae723a" providerId="LiveId" clId="{F89A7927-A189-4256-9764-A98768DFB462}" dt="2026-01-04T16:59:49.212" v="6623" actId="242"/>
          <ac:spMkLst>
            <pc:docMk/>
            <pc:sldMk cId="2947833105" sldId="267"/>
            <ac:spMk id="23" creationId="{1CFC5B84-2B66-2627-C8ED-E0D413612AB2}"/>
          </ac:spMkLst>
        </pc:spChg>
        <pc:spChg chg="del">
          <ac:chgData name="康佑 岸本" userId="cc71d766d9ae723a" providerId="LiveId" clId="{F89A7927-A189-4256-9764-A98768DFB462}" dt="2026-01-04T16:21:39.669" v="6114" actId="478"/>
          <ac:spMkLst>
            <pc:docMk/>
            <pc:sldMk cId="2947833105" sldId="267"/>
            <ac:spMk id="27" creationId="{A4F14FE7-C636-2435-B55B-0598CF30C895}"/>
          </ac:spMkLst>
        </pc:spChg>
        <pc:spChg chg="del">
          <ac:chgData name="康佑 岸本" userId="cc71d766d9ae723a" providerId="LiveId" clId="{F89A7927-A189-4256-9764-A98768DFB462}" dt="2026-01-04T16:21:39.117" v="6113" actId="478"/>
          <ac:spMkLst>
            <pc:docMk/>
            <pc:sldMk cId="2947833105" sldId="267"/>
            <ac:spMk id="28" creationId="{B0E7C188-5278-7861-FB68-6176672A9362}"/>
          </ac:spMkLst>
        </pc:spChg>
        <pc:graphicFrameChg chg="add del mod modGraphic">
          <ac:chgData name="康佑 岸本" userId="cc71d766d9ae723a" providerId="LiveId" clId="{F89A7927-A189-4256-9764-A98768DFB462}" dt="2026-01-04T16:24:37.499" v="6199" actId="478"/>
          <ac:graphicFrameMkLst>
            <pc:docMk/>
            <pc:sldMk cId="2947833105" sldId="267"/>
            <ac:graphicFrameMk id="8" creationId="{3BBC4A3B-5F46-2A51-D84F-407F02CCC7AF}"/>
          </ac:graphicFrameMkLst>
        </pc:graphicFrameChg>
        <pc:picChg chg="add del mod">
          <ac:chgData name="康佑 岸本" userId="cc71d766d9ae723a" providerId="LiveId" clId="{F89A7927-A189-4256-9764-A98768DFB462}" dt="2026-01-04T16:20:13.022" v="6019" actId="478"/>
          <ac:picMkLst>
            <pc:docMk/>
            <pc:sldMk cId="2947833105" sldId="267"/>
            <ac:picMk id="5" creationId="{25E23820-AABF-0F09-F9BA-1AC9475FDD6A}"/>
          </ac:picMkLst>
        </pc:picChg>
        <pc:picChg chg="add del mod">
          <ac:chgData name="康佑 岸本" userId="cc71d766d9ae723a" providerId="LiveId" clId="{F89A7927-A189-4256-9764-A98768DFB462}" dt="2026-01-04T16:24:39.047" v="6200" actId="478"/>
          <ac:picMkLst>
            <pc:docMk/>
            <pc:sldMk cId="2947833105" sldId="267"/>
            <ac:picMk id="7" creationId="{3DCDF8A3-5055-3BD7-97B8-249ABE8A1CAB}"/>
          </ac:picMkLst>
        </pc:picChg>
      </pc:sldChg>
      <pc:sldChg chg="modSp add del mod">
        <pc:chgData name="康佑 岸本" userId="cc71d766d9ae723a" providerId="LiveId" clId="{F89A7927-A189-4256-9764-A98768DFB462}" dt="2026-01-04T16:33:03.070" v="6538" actId="47"/>
        <pc:sldMkLst>
          <pc:docMk/>
          <pc:sldMk cId="3035428196" sldId="268"/>
        </pc:sldMkLst>
        <pc:spChg chg="mod">
          <ac:chgData name="康佑 岸本" userId="cc71d766d9ae723a" providerId="LiveId" clId="{F89A7927-A189-4256-9764-A98768DFB462}" dt="2026-01-04T16:30:58.034" v="6410" actId="21"/>
          <ac:spMkLst>
            <pc:docMk/>
            <pc:sldMk cId="3035428196" sldId="268"/>
            <ac:spMk id="23" creationId="{60D2EDDF-C794-990C-FE52-6F0CE32290F0}"/>
          </ac:spMkLst>
        </pc:spChg>
      </pc:sldChg>
      <pc:sldChg chg="addSp delSp modSp add mod ord">
        <pc:chgData name="康佑 岸本" userId="cc71d766d9ae723a" providerId="LiveId" clId="{F89A7927-A189-4256-9764-A98768DFB462}" dt="2026-01-04T16:59:24.569" v="6622" actId="20577"/>
        <pc:sldMkLst>
          <pc:docMk/>
          <pc:sldMk cId="2538126176" sldId="269"/>
        </pc:sldMkLst>
        <pc:spChg chg="mod">
          <ac:chgData name="康佑 岸本" userId="cc71d766d9ae723a" providerId="LiveId" clId="{F89A7927-A189-4256-9764-A98768DFB462}" dt="2026-01-04T16:30:23.179" v="6396" actId="20577"/>
          <ac:spMkLst>
            <pc:docMk/>
            <pc:sldMk cId="2538126176" sldId="269"/>
            <ac:spMk id="2" creationId="{6C2DA95E-7F51-265E-BA55-CDACDB006EE4}"/>
          </ac:spMkLst>
        </pc:spChg>
        <pc:spChg chg="mod">
          <ac:chgData name="康佑 岸本" userId="cc71d766d9ae723a" providerId="LiveId" clId="{F89A7927-A189-4256-9764-A98768DFB462}" dt="2026-01-04T16:59:24.569" v="6622" actId="20577"/>
          <ac:spMkLst>
            <pc:docMk/>
            <pc:sldMk cId="2538126176" sldId="269"/>
            <ac:spMk id="3" creationId="{3E83BAA8-0653-F4F2-8062-C055D3998091}"/>
          </ac:spMkLst>
        </pc:spChg>
        <pc:spChg chg="del">
          <ac:chgData name="康佑 岸本" userId="cc71d766d9ae723a" providerId="LiveId" clId="{F89A7927-A189-4256-9764-A98768DFB462}" dt="2026-01-04T16:30:49.644" v="6407" actId="478"/>
          <ac:spMkLst>
            <pc:docMk/>
            <pc:sldMk cId="2538126176" sldId="269"/>
            <ac:spMk id="5" creationId="{B96DC9B9-8C91-3F04-E9B9-33AFEE2219A7}"/>
          </ac:spMkLst>
        </pc:spChg>
        <pc:spChg chg="del">
          <ac:chgData name="康佑 岸本" userId="cc71d766d9ae723a" providerId="LiveId" clId="{F89A7927-A189-4256-9764-A98768DFB462}" dt="2026-01-04T16:30:48.945" v="6406" actId="478"/>
          <ac:spMkLst>
            <pc:docMk/>
            <pc:sldMk cId="2538126176" sldId="269"/>
            <ac:spMk id="6" creationId="{EAD0BD8E-6053-362C-945C-99F549462923}"/>
          </ac:spMkLst>
        </pc:spChg>
        <pc:spChg chg="del">
          <ac:chgData name="康佑 岸本" userId="cc71d766d9ae723a" providerId="LiveId" clId="{F89A7927-A189-4256-9764-A98768DFB462}" dt="2026-01-04T16:30:47.839" v="6405" actId="478"/>
          <ac:spMkLst>
            <pc:docMk/>
            <pc:sldMk cId="2538126176" sldId="269"/>
            <ac:spMk id="7" creationId="{AC05C11E-C8CC-A0DF-E5E6-29975238FFBE}"/>
          </ac:spMkLst>
        </pc:spChg>
        <pc:spChg chg="add mod">
          <ac:chgData name="康佑 岸本" userId="cc71d766d9ae723a" providerId="LiveId" clId="{F89A7927-A189-4256-9764-A98768DFB462}" dt="2026-01-04T16:30:36.172" v="6400" actId="571"/>
          <ac:spMkLst>
            <pc:docMk/>
            <pc:sldMk cId="2538126176" sldId="269"/>
            <ac:spMk id="8" creationId="{D79E6695-11D7-E292-F1CE-CDA911A7D02F}"/>
          </ac:spMkLst>
        </pc:spChg>
        <pc:spChg chg="add mod">
          <ac:chgData name="康佑 岸本" userId="cc71d766d9ae723a" providerId="LiveId" clId="{F89A7927-A189-4256-9764-A98768DFB462}" dt="2026-01-04T16:30:36.172" v="6400" actId="571"/>
          <ac:spMkLst>
            <pc:docMk/>
            <pc:sldMk cId="2538126176" sldId="269"/>
            <ac:spMk id="9" creationId="{EA2C93C4-07AE-B9F9-F381-A92844C2437B}"/>
          </ac:spMkLst>
        </pc:spChg>
        <pc:spChg chg="del">
          <ac:chgData name="康佑 岸本" userId="cc71d766d9ae723a" providerId="LiveId" clId="{F89A7927-A189-4256-9764-A98768DFB462}" dt="2026-01-04T16:30:47.839" v="6405" actId="478"/>
          <ac:spMkLst>
            <pc:docMk/>
            <pc:sldMk cId="2538126176" sldId="269"/>
            <ac:spMk id="14" creationId="{602085F5-9EF8-3660-5FF9-843D9A13387A}"/>
          </ac:spMkLst>
        </pc:spChg>
        <pc:spChg chg="del">
          <ac:chgData name="康佑 岸本" userId="cc71d766d9ae723a" providerId="LiveId" clId="{F89A7927-A189-4256-9764-A98768DFB462}" dt="2026-01-04T16:30:47.839" v="6405" actId="478"/>
          <ac:spMkLst>
            <pc:docMk/>
            <pc:sldMk cId="2538126176" sldId="269"/>
            <ac:spMk id="15" creationId="{CDDDE2F9-EFCE-67E9-62A5-E82456CC9AD1}"/>
          </ac:spMkLst>
        </pc:spChg>
        <pc:spChg chg="del">
          <ac:chgData name="康佑 岸本" userId="cc71d766d9ae723a" providerId="LiveId" clId="{F89A7927-A189-4256-9764-A98768DFB462}" dt="2026-01-04T16:30:47.839" v="6405" actId="478"/>
          <ac:spMkLst>
            <pc:docMk/>
            <pc:sldMk cId="2538126176" sldId="269"/>
            <ac:spMk id="16" creationId="{E5DFB660-2014-44AB-86F7-D9EFDF0966B9}"/>
          </ac:spMkLst>
        </pc:spChg>
        <pc:spChg chg="del">
          <ac:chgData name="康佑 岸本" userId="cc71d766d9ae723a" providerId="LiveId" clId="{F89A7927-A189-4256-9764-A98768DFB462}" dt="2026-01-04T16:30:47.839" v="6405" actId="478"/>
          <ac:spMkLst>
            <pc:docMk/>
            <pc:sldMk cId="2538126176" sldId="269"/>
            <ac:spMk id="17" creationId="{376A7E79-0DB8-BCCF-647B-A0795EE2F5C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BEED89-069F-4969-9AA0-B76EDE4ECCB3}" type="datetimeFigureOut">
              <a:rPr kumimoji="1" lang="ja-JP" altLang="en-US" smtClean="0"/>
              <a:t>2026/1/5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DE03F-93A4-405D-98BF-19A22FE34A39}" type="slidenum">
              <a:rPr kumimoji="1" lang="ja-JP" altLang="en-US" smtClean="0"/>
              <a:t>‹#›</a:t>
            </a:fld>
            <a:endParaRPr kumimoji="1" lang="ja-JP" altLang="en-US"/>
          </a:p>
        </p:txBody>
      </p:sp>
    </p:spTree>
    <p:extLst>
      <p:ext uri="{BB962C8B-B14F-4D97-AF65-F5344CB8AC3E}">
        <p14:creationId xmlns:p14="http://schemas.microsoft.com/office/powerpoint/2010/main" val="30607811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三平ゼミの岸本です．</a:t>
            </a:r>
            <a:br>
              <a:rPr lang="ja-JP" altLang="en-US" dirty="0"/>
            </a:br>
            <a:r>
              <a:rPr lang="ja-JP" altLang="en-US" dirty="0"/>
              <a:t>本日は，</a:t>
            </a:r>
            <a:br>
              <a:rPr lang="ja-JP" altLang="en-US" dirty="0"/>
            </a:br>
            <a:r>
              <a:rPr lang="en-US" altLang="ja-JP" b="1" dirty="0"/>
              <a:t>『</a:t>
            </a:r>
            <a:r>
              <a:rPr lang="ja-JP" altLang="en-US" b="1" dirty="0"/>
              <a:t>サーチ理論に基づく日本の労働市場分析：マッチング関数による時期別検証</a:t>
            </a:r>
            <a:r>
              <a:rPr lang="en-US" altLang="ja-JP" b="1" dirty="0"/>
              <a:t>』</a:t>
            </a:r>
            <a:br>
              <a:rPr lang="ja-JP" altLang="en-US" dirty="0"/>
            </a:br>
            <a:r>
              <a:rPr lang="ja-JP" altLang="en-US" dirty="0"/>
              <a:t>というタイトルで報告いたします．</a:t>
            </a:r>
          </a:p>
          <a:p>
            <a:r>
              <a:rPr lang="ja-JP" altLang="en-US" dirty="0"/>
              <a:t>本報告では，日本の労働市場が高度経済成長期以降，</a:t>
            </a:r>
            <a:br>
              <a:rPr lang="ja-JP" altLang="en-US" dirty="0"/>
            </a:br>
            <a:r>
              <a:rPr lang="ja-JP" altLang="en-US" b="1" dirty="0"/>
              <a:t>どのように変化してきたのか，あるいは変化してこなかったのか</a:t>
            </a:r>
            <a:r>
              <a:rPr lang="ja-JP" altLang="en-US" dirty="0"/>
              <a:t>を，</a:t>
            </a:r>
            <a:br>
              <a:rPr lang="ja-JP" altLang="en-US" dirty="0"/>
            </a:br>
            <a:r>
              <a:rPr lang="ja-JP" altLang="en-US" dirty="0"/>
              <a:t>サーチ理論に基づくマッチング関数を用い，</a:t>
            </a:r>
            <a:r>
              <a:rPr lang="en-US" altLang="ja-JP" dirty="0"/>
              <a:t>OLS</a:t>
            </a:r>
            <a:r>
              <a:rPr lang="ja-JP" altLang="en-US" dirty="0"/>
              <a:t>推計によって検証します．</a:t>
            </a:r>
          </a:p>
          <a:p>
            <a:r>
              <a:rPr lang="ja-JP" altLang="en-US" dirty="0"/>
              <a:t>特に，バブル経済やリーマン・ショック，コロナショックといった</a:t>
            </a:r>
            <a:br>
              <a:rPr lang="ja-JP" altLang="en-US" dirty="0"/>
            </a:br>
            <a:r>
              <a:rPr lang="ja-JP" altLang="en-US" b="1" dirty="0"/>
              <a:t>大きな経済的出来事が，労働市場の構造に変化をもたらしたのか</a:t>
            </a:r>
            <a:br>
              <a:rPr lang="ja-JP" altLang="en-US" dirty="0"/>
            </a:br>
            <a:r>
              <a:rPr lang="ja-JP" altLang="en-US" dirty="0"/>
              <a:t>という点に注目しています．</a:t>
            </a:r>
          </a:p>
        </p:txBody>
      </p:sp>
      <p:sp>
        <p:nvSpPr>
          <p:cNvPr id="4" name="スライド番号プレースホルダー 3"/>
          <p:cNvSpPr>
            <a:spLocks noGrp="1"/>
          </p:cNvSpPr>
          <p:nvPr>
            <p:ph type="sldNum" sz="quarter" idx="5"/>
          </p:nvPr>
        </p:nvSpPr>
        <p:spPr/>
        <p:txBody>
          <a:bodyPr/>
          <a:lstStyle/>
          <a:p>
            <a:fld id="{DDBDE03F-93A4-405D-98BF-19A22FE34A39}" type="slidenum">
              <a:rPr kumimoji="1" lang="ja-JP" altLang="en-US" smtClean="0"/>
              <a:t>1</a:t>
            </a:fld>
            <a:endParaRPr kumimoji="1" lang="ja-JP" altLang="en-US"/>
          </a:p>
        </p:txBody>
      </p:sp>
    </p:spTree>
    <p:extLst>
      <p:ext uri="{BB962C8B-B14F-4D97-AF65-F5344CB8AC3E}">
        <p14:creationId xmlns:p14="http://schemas.microsoft.com/office/powerpoint/2010/main" val="871509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まず，タイトルにもある「サーチ理論」について簡単に説明します．</a:t>
            </a:r>
          </a:p>
          <a:p>
            <a:r>
              <a:rPr lang="ja-JP" altLang="en-US" dirty="0"/>
              <a:t>従来の古典派的な経済学では，労働市場は完全市場であり，</a:t>
            </a:r>
            <a:br>
              <a:rPr lang="ja-JP" altLang="en-US" dirty="0"/>
            </a:br>
            <a:r>
              <a:rPr lang="ja-JP" altLang="en-US" dirty="0"/>
              <a:t>求人と求職者は需要と供給の曲線によって即座にマッチングすると考えられてきました．</a:t>
            </a:r>
          </a:p>
          <a:p>
            <a:r>
              <a:rPr lang="ja-JP" altLang="en-US" dirty="0"/>
              <a:t>しかし，現実の労働市場には，</a:t>
            </a:r>
            <a:br>
              <a:rPr lang="ja-JP" altLang="en-US" dirty="0"/>
            </a:br>
            <a:r>
              <a:rPr lang="ja-JP" altLang="en-US" dirty="0"/>
              <a:t>情報の非対称性やスキルの不一致，賃金の硬直性といった摩擦が存在します．</a:t>
            </a:r>
            <a:br>
              <a:rPr lang="ja-JP" altLang="en-US" dirty="0"/>
            </a:br>
            <a:r>
              <a:rPr lang="ja-JP" altLang="en-US" dirty="0"/>
              <a:t>その結果，「失業者がいるのに人手不足である」という現象が生じます．</a:t>
            </a:r>
          </a:p>
          <a:p>
            <a:r>
              <a:rPr lang="ja-JP" altLang="en-US" dirty="0"/>
              <a:t>こうした不完全な労働市場を分析する枠組みが，サーチ理論です．</a:t>
            </a:r>
            <a:br>
              <a:rPr lang="ja-JP" altLang="en-US" dirty="0"/>
            </a:br>
            <a:r>
              <a:rPr lang="ja-JP" altLang="en-US" dirty="0"/>
              <a:t>本報告では，サーチ理論を用いることで，</a:t>
            </a:r>
            <a:br>
              <a:rPr lang="ja-JP" altLang="en-US" dirty="0"/>
            </a:br>
            <a:r>
              <a:rPr lang="ja-JP" altLang="en-US" dirty="0"/>
              <a:t>求人と求職者のミスマッチを明示的に捉えることが可能になります．</a:t>
            </a:r>
          </a:p>
          <a:p>
            <a:r>
              <a:rPr lang="ja-JP" altLang="en-US" dirty="0"/>
              <a:t>次に，</a:t>
            </a:r>
            <a:r>
              <a:rPr lang="en-US" altLang="ja-JP" dirty="0"/>
              <a:t>UV</a:t>
            </a:r>
            <a:r>
              <a:rPr lang="ja-JP" altLang="en-US" dirty="0"/>
              <a:t>曲線です．</a:t>
            </a:r>
            <a:br>
              <a:rPr lang="ja-JP" altLang="en-US" dirty="0"/>
            </a:br>
            <a:r>
              <a:rPr lang="ja-JP" altLang="en-US" dirty="0"/>
              <a:t>縦軸に求人倍率，横軸に失業率をとったものが</a:t>
            </a:r>
            <a:r>
              <a:rPr lang="en-US" altLang="ja-JP" dirty="0"/>
              <a:t>UV</a:t>
            </a:r>
            <a:r>
              <a:rPr lang="ja-JP" altLang="en-US" dirty="0"/>
              <a:t>曲線です．</a:t>
            </a:r>
          </a:p>
          <a:p>
            <a:r>
              <a:rPr lang="ja-JP" altLang="en-US" dirty="0"/>
              <a:t>右上に位置するほど，</a:t>
            </a:r>
            <a:br>
              <a:rPr lang="ja-JP" altLang="en-US" dirty="0"/>
            </a:br>
            <a:r>
              <a:rPr lang="ja-JP" altLang="en-US" dirty="0"/>
              <a:t>「失業者が多いにもかかわらず，求人も多い」</a:t>
            </a:r>
            <a:br>
              <a:rPr lang="ja-JP" altLang="en-US" dirty="0"/>
            </a:br>
            <a:r>
              <a:rPr lang="ja-JP" altLang="en-US" dirty="0"/>
              <a:t>つまり，労働市場のマッチングが非効率な状態を意味します．</a:t>
            </a:r>
          </a:p>
          <a:p>
            <a:r>
              <a:rPr lang="ja-JP" altLang="en-US" dirty="0"/>
              <a:t>日本の</a:t>
            </a:r>
            <a:r>
              <a:rPr lang="en-US" altLang="ja-JP" dirty="0"/>
              <a:t>UV</a:t>
            </a:r>
            <a:r>
              <a:rPr lang="ja-JP" altLang="en-US" dirty="0"/>
              <a:t>曲線を見ると，高度経済成長期が最も左下にあり，</a:t>
            </a:r>
            <a:br>
              <a:rPr lang="ja-JP" altLang="en-US" dirty="0"/>
            </a:br>
            <a:r>
              <a:rPr lang="ja-JP" altLang="en-US" dirty="0"/>
              <a:t>時代が進むにつれて右上へとシフトしています．</a:t>
            </a:r>
            <a:br>
              <a:rPr lang="ja-JP" altLang="en-US" dirty="0"/>
            </a:br>
            <a:r>
              <a:rPr lang="ja-JP" altLang="en-US" dirty="0"/>
              <a:t>これは，日本の労働市場のマッチング効率性が</a:t>
            </a:r>
            <a:br>
              <a:rPr lang="ja-JP" altLang="en-US" dirty="0"/>
            </a:br>
            <a:r>
              <a:rPr lang="ja-JP" altLang="en-US" dirty="0"/>
              <a:t>長期的に低下してきた可能性を示唆しています．</a:t>
            </a:r>
          </a:p>
        </p:txBody>
      </p:sp>
      <p:sp>
        <p:nvSpPr>
          <p:cNvPr id="4" name="スライド番号プレースホルダー 3"/>
          <p:cNvSpPr>
            <a:spLocks noGrp="1"/>
          </p:cNvSpPr>
          <p:nvPr>
            <p:ph type="sldNum" sz="quarter" idx="5"/>
          </p:nvPr>
        </p:nvSpPr>
        <p:spPr/>
        <p:txBody>
          <a:bodyPr/>
          <a:lstStyle/>
          <a:p>
            <a:fld id="{DDBDE03F-93A4-405D-98BF-19A22FE34A39}" type="slidenum">
              <a:rPr kumimoji="1" lang="ja-JP" altLang="en-US" smtClean="0"/>
              <a:t>2</a:t>
            </a:fld>
            <a:endParaRPr kumimoji="1" lang="ja-JP" altLang="en-US"/>
          </a:p>
        </p:txBody>
      </p:sp>
    </p:spTree>
    <p:extLst>
      <p:ext uri="{BB962C8B-B14F-4D97-AF65-F5344CB8AC3E}">
        <p14:creationId xmlns:p14="http://schemas.microsoft.com/office/powerpoint/2010/main" val="4241654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次に，先行研究についてです．</a:t>
            </a:r>
            <a:br>
              <a:rPr lang="ja-JP" altLang="en-US" dirty="0"/>
            </a:br>
            <a:r>
              <a:rPr lang="ja-JP" altLang="en-US" dirty="0"/>
              <a:t>本報告では，石崎・加藤（</a:t>
            </a:r>
            <a:r>
              <a:rPr lang="en-US" altLang="ja-JP" dirty="0"/>
              <a:t>2003</a:t>
            </a:r>
            <a:r>
              <a:rPr lang="ja-JP" altLang="en-US" dirty="0"/>
              <a:t>）の日銀ワーキングペーパーを参照しています．</a:t>
            </a:r>
          </a:p>
          <a:p>
            <a:r>
              <a:rPr lang="ja-JP" altLang="en-US" dirty="0"/>
              <a:t>この研究では，規模に関して収穫一定の仮定を置いた</a:t>
            </a:r>
            <a:br>
              <a:rPr lang="ja-JP" altLang="en-US" dirty="0"/>
            </a:br>
            <a:r>
              <a:rPr lang="ja-JP" altLang="en-US" dirty="0"/>
              <a:t>コブ・ダグラス型のマッチング関数を用いて，</a:t>
            </a:r>
            <a:br>
              <a:rPr lang="ja-JP" altLang="en-US" dirty="0"/>
            </a:br>
            <a:r>
              <a:rPr lang="ja-JP" altLang="en-US" dirty="0"/>
              <a:t>日米比較を通じて日本の労働市場のマッチング効率性を分析しています．</a:t>
            </a:r>
          </a:p>
          <a:p>
            <a:r>
              <a:rPr lang="ja-JP" altLang="en-US" dirty="0"/>
              <a:t>本報告の特徴は，</a:t>
            </a:r>
            <a:br>
              <a:rPr lang="ja-JP" altLang="en-US" dirty="0"/>
            </a:br>
            <a:r>
              <a:rPr lang="ja-JP" altLang="en-US" dirty="0"/>
              <a:t>分析対象を日本に限定する代わりに，</a:t>
            </a:r>
            <a:br>
              <a:rPr lang="ja-JP" altLang="en-US" dirty="0"/>
            </a:br>
            <a:r>
              <a:rPr lang="ja-JP" altLang="en-US" dirty="0"/>
              <a:t>推計期間を</a:t>
            </a:r>
            <a:r>
              <a:rPr lang="en-US" altLang="ja-JP" dirty="0"/>
              <a:t>1964</a:t>
            </a:r>
            <a:r>
              <a:rPr lang="ja-JP" altLang="en-US" dirty="0"/>
              <a:t>年から</a:t>
            </a:r>
            <a:r>
              <a:rPr lang="en-US" altLang="ja-JP" dirty="0"/>
              <a:t>2024</a:t>
            </a:r>
            <a:r>
              <a:rPr lang="ja-JP" altLang="en-US" dirty="0"/>
              <a:t>年までと大幅に拡張した点です．</a:t>
            </a:r>
          </a:p>
          <a:p>
            <a:r>
              <a:rPr lang="ja-JP" altLang="en-US" dirty="0"/>
              <a:t>これにより，バブル経済やリーマン・ショックなど，</a:t>
            </a:r>
            <a:br>
              <a:rPr lang="ja-JP" altLang="en-US" dirty="0"/>
            </a:br>
            <a:r>
              <a:rPr lang="ja-JP" altLang="en-US" dirty="0"/>
              <a:t>出来事ごとに労働市場の変化を検証することが可能になります．</a:t>
            </a:r>
          </a:p>
          <a:p>
            <a:r>
              <a:rPr lang="ja-JP" altLang="en-US" dirty="0"/>
              <a:t>なお，ここでいう「マッチング効率性」とは，</a:t>
            </a:r>
            <a:br>
              <a:rPr lang="ja-JP" altLang="en-US" dirty="0"/>
            </a:br>
            <a:r>
              <a:rPr lang="ja-JP" altLang="en-US" dirty="0"/>
              <a:t>求人と求職者が無駄なく結びつく度合い，</a:t>
            </a:r>
            <a:br>
              <a:rPr lang="ja-JP" altLang="en-US" dirty="0"/>
            </a:br>
            <a:r>
              <a:rPr lang="ja-JP" altLang="en-US" dirty="0"/>
              <a:t>言い換えれば労働市場の効率性を意味します．</a:t>
            </a:r>
          </a:p>
        </p:txBody>
      </p:sp>
      <p:sp>
        <p:nvSpPr>
          <p:cNvPr id="4" name="スライド番号プレースホルダー 3"/>
          <p:cNvSpPr>
            <a:spLocks noGrp="1"/>
          </p:cNvSpPr>
          <p:nvPr>
            <p:ph type="sldNum" sz="quarter" idx="5"/>
          </p:nvPr>
        </p:nvSpPr>
        <p:spPr/>
        <p:txBody>
          <a:bodyPr/>
          <a:lstStyle/>
          <a:p>
            <a:fld id="{DDBDE03F-93A4-405D-98BF-19A22FE34A39}" type="slidenum">
              <a:rPr kumimoji="1" lang="ja-JP" altLang="en-US" smtClean="0"/>
              <a:t>3</a:t>
            </a:fld>
            <a:endParaRPr kumimoji="1" lang="ja-JP" altLang="en-US"/>
          </a:p>
        </p:txBody>
      </p:sp>
    </p:spTree>
    <p:extLst>
      <p:ext uri="{BB962C8B-B14F-4D97-AF65-F5344CB8AC3E}">
        <p14:creationId xmlns:p14="http://schemas.microsoft.com/office/powerpoint/2010/main" val="432854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続いて，推計モデルの説明に入ります．</a:t>
            </a:r>
          </a:p>
          <a:p>
            <a:r>
              <a:rPr lang="ja-JP" altLang="en-US" dirty="0"/>
              <a:t>本報告では，先行研究に倣い，</a:t>
            </a:r>
            <a:br>
              <a:rPr lang="ja-JP" altLang="en-US" dirty="0"/>
            </a:br>
            <a:r>
              <a:rPr lang="ja-JP" altLang="en-US" dirty="0"/>
              <a:t>新規雇用者数を求人数と失業者数の</a:t>
            </a:r>
            <a:br>
              <a:rPr lang="ja-JP" altLang="en-US" dirty="0"/>
            </a:br>
            <a:r>
              <a:rPr lang="ja-JP" altLang="en-US" dirty="0"/>
              <a:t>コブ・ダグラス型のマッチング関数で表します．</a:t>
            </a:r>
          </a:p>
          <a:p>
            <a:r>
              <a:rPr lang="ja-JP" altLang="en-US" dirty="0"/>
              <a:t>また，規模に関して収穫一定の仮定を置くことで，</a:t>
            </a:r>
            <a:br>
              <a:rPr lang="ja-JP" altLang="en-US" dirty="0"/>
            </a:br>
            <a:r>
              <a:rPr lang="ja-JP" altLang="en-US" dirty="0"/>
              <a:t>一次同次型の関数としています．</a:t>
            </a:r>
          </a:p>
          <a:p>
            <a:r>
              <a:rPr lang="ja-JP" altLang="en-US" dirty="0"/>
              <a:t>この式を対数化することで</a:t>
            </a:r>
            <a:r>
              <a:rPr lang="en-US" altLang="ja-JP" dirty="0"/>
              <a:t>OLS</a:t>
            </a:r>
            <a:r>
              <a:rPr lang="ja-JP" altLang="en-US" dirty="0"/>
              <a:t>推計が可能となり，</a:t>
            </a:r>
            <a:br>
              <a:rPr lang="ja-JP" altLang="en-US" dirty="0"/>
            </a:br>
            <a:r>
              <a:rPr lang="ja-JP" altLang="en-US" dirty="0"/>
              <a:t>さらに期間ごとの変化を捉えるために</a:t>
            </a:r>
            <a:br>
              <a:rPr lang="ja-JP" altLang="en-US" dirty="0"/>
            </a:br>
            <a:r>
              <a:rPr lang="ja-JP" altLang="en-US" dirty="0"/>
              <a:t>各時期のダミー変数を導入しています．</a:t>
            </a:r>
          </a:p>
          <a:p>
            <a:r>
              <a:rPr lang="ja-JP" altLang="en-US" dirty="0"/>
              <a:t>具体的には，</a:t>
            </a:r>
            <a:br>
              <a:rPr lang="ja-JP" altLang="en-US" dirty="0"/>
            </a:br>
            <a:r>
              <a:rPr lang="ja-JP" altLang="en-US" dirty="0"/>
              <a:t>安定成長期とバブル期を含むモデルと，</a:t>
            </a:r>
            <a:br>
              <a:rPr lang="ja-JP" altLang="en-US" dirty="0"/>
            </a:br>
            <a:r>
              <a:rPr lang="ja-JP" altLang="en-US" dirty="0"/>
              <a:t>バブル崩壊以後，リーマン・ショック期，コロナショック期を含むモデルを推計しました．</a:t>
            </a:r>
          </a:p>
        </p:txBody>
      </p:sp>
      <p:sp>
        <p:nvSpPr>
          <p:cNvPr id="4" name="スライド番号プレースホルダー 3"/>
          <p:cNvSpPr>
            <a:spLocks noGrp="1"/>
          </p:cNvSpPr>
          <p:nvPr>
            <p:ph type="sldNum" sz="quarter" idx="5"/>
          </p:nvPr>
        </p:nvSpPr>
        <p:spPr/>
        <p:txBody>
          <a:bodyPr/>
          <a:lstStyle/>
          <a:p>
            <a:fld id="{DDBDE03F-93A4-405D-98BF-19A22FE34A39}" type="slidenum">
              <a:rPr kumimoji="1" lang="ja-JP" altLang="en-US" smtClean="0"/>
              <a:t>4</a:t>
            </a:fld>
            <a:endParaRPr kumimoji="1" lang="ja-JP" altLang="en-US"/>
          </a:p>
        </p:txBody>
      </p:sp>
    </p:spTree>
    <p:extLst>
      <p:ext uri="{BB962C8B-B14F-4D97-AF65-F5344CB8AC3E}">
        <p14:creationId xmlns:p14="http://schemas.microsoft.com/office/powerpoint/2010/main" val="2510393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ここで，時系列分析において注意すべき点を説明します．</a:t>
            </a:r>
          </a:p>
          <a:p>
            <a:r>
              <a:rPr lang="ja-JP" altLang="en-US" dirty="0"/>
              <a:t>時系列データでは，非定常性，いわゆる単位根の問題が生じることがあります．</a:t>
            </a:r>
            <a:br>
              <a:rPr lang="ja-JP" altLang="en-US" dirty="0"/>
            </a:br>
            <a:r>
              <a:rPr lang="ja-JP" altLang="en-US" dirty="0"/>
              <a:t>これを無視すると，「見せかけの回帰」などの問題が発生します．</a:t>
            </a:r>
          </a:p>
          <a:p>
            <a:r>
              <a:rPr lang="ja-JP" altLang="en-US" dirty="0"/>
              <a:t>そこで，本報告では</a:t>
            </a:r>
            <a:r>
              <a:rPr lang="en-US" altLang="ja-JP" dirty="0"/>
              <a:t>ADF</a:t>
            </a:r>
            <a:r>
              <a:rPr lang="ja-JP" altLang="en-US" dirty="0"/>
              <a:t>検定を用いて非定常性を検定しました．</a:t>
            </a:r>
            <a:br>
              <a:rPr lang="ja-JP" altLang="en-US" dirty="0"/>
            </a:br>
            <a:r>
              <a:rPr lang="ja-JP" altLang="en-US" dirty="0"/>
              <a:t>結果は右側の表の通りで，</a:t>
            </a:r>
            <a:br>
              <a:rPr lang="ja-JP" altLang="en-US" dirty="0"/>
            </a:br>
            <a:r>
              <a:rPr lang="ja-JP" altLang="en-US" dirty="0"/>
              <a:t>推計に用いる変数はいずれも非定常系列であることが確認されました．</a:t>
            </a:r>
          </a:p>
          <a:p>
            <a:r>
              <a:rPr lang="ja-JP" altLang="en-US" dirty="0"/>
              <a:t>そのため，すべての変数について</a:t>
            </a:r>
            <a:r>
              <a:rPr lang="en-US" altLang="ja-JP" dirty="0"/>
              <a:t>1</a:t>
            </a:r>
            <a:r>
              <a:rPr lang="ja-JP" altLang="en-US" dirty="0"/>
              <a:t>階の階差を取り，</a:t>
            </a:r>
            <a:br>
              <a:rPr lang="ja-JP" altLang="en-US" dirty="0"/>
            </a:br>
            <a:r>
              <a:rPr lang="ja-JP" altLang="en-US" dirty="0"/>
              <a:t>修正したモデルで推計を行っています．</a:t>
            </a:r>
          </a:p>
          <a:p>
            <a:r>
              <a:rPr lang="ja-JP" altLang="en-US" dirty="0"/>
              <a:t>また，本文では，不均一分散性への対応や，</a:t>
            </a:r>
            <a:br>
              <a:rPr lang="ja-JP" altLang="en-US" dirty="0"/>
            </a:br>
            <a:r>
              <a:rPr lang="ja-JP" altLang="en-US" dirty="0"/>
              <a:t>内生性バイアスを考慮した操作変数法も用いています．</a:t>
            </a:r>
          </a:p>
        </p:txBody>
      </p:sp>
      <p:sp>
        <p:nvSpPr>
          <p:cNvPr id="4" name="スライド番号プレースホルダー 3"/>
          <p:cNvSpPr>
            <a:spLocks noGrp="1"/>
          </p:cNvSpPr>
          <p:nvPr>
            <p:ph type="sldNum" sz="quarter" idx="5"/>
          </p:nvPr>
        </p:nvSpPr>
        <p:spPr/>
        <p:txBody>
          <a:bodyPr/>
          <a:lstStyle/>
          <a:p>
            <a:fld id="{DDBDE03F-93A4-405D-98BF-19A22FE34A39}" type="slidenum">
              <a:rPr kumimoji="1" lang="ja-JP" altLang="en-US" smtClean="0"/>
              <a:t>5</a:t>
            </a:fld>
            <a:endParaRPr kumimoji="1" lang="ja-JP" altLang="en-US"/>
          </a:p>
        </p:txBody>
      </p:sp>
    </p:spTree>
    <p:extLst>
      <p:ext uri="{BB962C8B-B14F-4D97-AF65-F5344CB8AC3E}">
        <p14:creationId xmlns:p14="http://schemas.microsoft.com/office/powerpoint/2010/main" val="2783431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kern="1200" dirty="0">
                <a:solidFill>
                  <a:schemeClr val="tx1"/>
                </a:solidFill>
                <a:effectLst/>
                <a:latin typeface="+mn-lt"/>
                <a:ea typeface="+mn-ea"/>
                <a:cs typeface="+mn-cs"/>
              </a:rPr>
              <a:t>まず，全期間を通じた結果からです．</a:t>
            </a:r>
          </a:p>
          <a:p>
            <a:r>
              <a:rPr kumimoji="1" lang="ja-JP" altLang="ja-JP" sz="1200" kern="1200" dirty="0">
                <a:solidFill>
                  <a:schemeClr val="tx1"/>
                </a:solidFill>
                <a:effectLst/>
                <a:latin typeface="+mn-lt"/>
                <a:ea typeface="+mn-ea"/>
                <a:cs typeface="+mn-cs"/>
              </a:rPr>
              <a:t>日本の労働市場のマッチング効率性は，</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高度経済成長期から現在に至るまで，</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一貫して低下傾向にあることが明らかになりました．</a:t>
            </a:r>
          </a:p>
          <a:p>
            <a:r>
              <a:rPr kumimoji="1" lang="ja-JP" altLang="ja-JP" sz="1200" kern="1200" dirty="0">
                <a:solidFill>
                  <a:schemeClr val="tx1"/>
                </a:solidFill>
                <a:effectLst/>
                <a:latin typeface="+mn-lt"/>
                <a:ea typeface="+mn-ea"/>
                <a:cs typeface="+mn-cs"/>
              </a:rPr>
              <a:t>これは，先ほどお示しした</a:t>
            </a:r>
            <a:r>
              <a:rPr kumimoji="1" lang="en-US" altLang="ja-JP" sz="1200" kern="1200" dirty="0">
                <a:solidFill>
                  <a:schemeClr val="tx1"/>
                </a:solidFill>
                <a:effectLst/>
                <a:latin typeface="+mn-lt"/>
                <a:ea typeface="+mn-ea"/>
                <a:cs typeface="+mn-cs"/>
              </a:rPr>
              <a:t>UV</a:t>
            </a:r>
            <a:r>
              <a:rPr kumimoji="1" lang="ja-JP" altLang="ja-JP" sz="1200" kern="1200" dirty="0">
                <a:solidFill>
                  <a:schemeClr val="tx1"/>
                </a:solidFill>
                <a:effectLst/>
                <a:latin typeface="+mn-lt"/>
                <a:ea typeface="+mn-ea"/>
                <a:cs typeface="+mn-cs"/>
              </a:rPr>
              <a:t>曲線の動きと整合的な結果です．</a:t>
            </a:r>
          </a:p>
          <a:p>
            <a:r>
              <a:rPr kumimoji="1" lang="ja-JP" altLang="ja-JP" sz="1200" kern="1200" dirty="0">
                <a:solidFill>
                  <a:schemeClr val="tx1"/>
                </a:solidFill>
                <a:effectLst/>
                <a:latin typeface="+mn-lt"/>
                <a:ea typeface="+mn-ea"/>
                <a:cs typeface="+mn-cs"/>
              </a:rPr>
              <a:t>また，新規雇用の創出においては，</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失業者数よりも求人数の影響が大きいことが分かりました．</a:t>
            </a:r>
          </a:p>
          <a:p>
            <a:r>
              <a:rPr kumimoji="1" lang="ja-JP" altLang="ja-JP" sz="1200" kern="1200" dirty="0">
                <a:solidFill>
                  <a:schemeClr val="tx1"/>
                </a:solidFill>
                <a:effectLst/>
                <a:latin typeface="+mn-lt"/>
                <a:ea typeface="+mn-ea"/>
                <a:cs typeface="+mn-cs"/>
              </a:rPr>
              <a:t>この結果は，企業が単に労働者の数ではなく，</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スキルや資質といった「質」を重視して採用を行っていることを示唆しています．</a:t>
            </a:r>
          </a:p>
          <a:p>
            <a:r>
              <a:rPr kumimoji="1" lang="ja-JP" altLang="ja-JP" sz="1200" kern="1200" dirty="0">
                <a:solidFill>
                  <a:schemeClr val="tx1"/>
                </a:solidFill>
                <a:effectLst/>
                <a:latin typeface="+mn-lt"/>
                <a:ea typeface="+mn-ea"/>
                <a:cs typeface="+mn-cs"/>
              </a:rPr>
              <a:t>長期的には高度成長期から現在に至るまで</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労働市場の効率性は低下し続けているわけですが，</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それは，何かの経済ショックによって効率性が低下したわけではありません．</a:t>
            </a:r>
          </a:p>
          <a:p>
            <a:r>
              <a:rPr kumimoji="1" lang="ja-JP" altLang="ja-JP" sz="1200" kern="1200" dirty="0">
                <a:solidFill>
                  <a:schemeClr val="tx1"/>
                </a:solidFill>
                <a:effectLst/>
                <a:latin typeface="+mn-lt"/>
                <a:ea typeface="+mn-ea"/>
                <a:cs typeface="+mn-cs"/>
              </a:rPr>
              <a:t>そうではなく，時代に合わない労働市場が固定されていることにより，</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時代の変化に労働市場がついていけなくなり，</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効率性が低下したと考えられます． </a:t>
            </a:r>
          </a:p>
          <a:p>
            <a:r>
              <a:rPr kumimoji="1" lang="ja-JP" altLang="ja-JP" sz="1200" kern="1200" dirty="0">
                <a:solidFill>
                  <a:schemeClr val="tx1"/>
                </a:solidFill>
                <a:effectLst/>
                <a:latin typeface="+mn-lt"/>
                <a:ea typeface="+mn-ea"/>
                <a:cs typeface="+mn-cs"/>
              </a:rPr>
              <a:t>そう考えられる理由が期間ダミーによる分析結果です．</a:t>
            </a:r>
          </a:p>
        </p:txBody>
      </p:sp>
      <p:sp>
        <p:nvSpPr>
          <p:cNvPr id="4" name="スライド番号プレースホルダー 3"/>
          <p:cNvSpPr>
            <a:spLocks noGrp="1"/>
          </p:cNvSpPr>
          <p:nvPr>
            <p:ph type="sldNum" sz="quarter" idx="5"/>
          </p:nvPr>
        </p:nvSpPr>
        <p:spPr/>
        <p:txBody>
          <a:bodyPr/>
          <a:lstStyle/>
          <a:p>
            <a:fld id="{DDBDE03F-93A4-405D-98BF-19A22FE34A39}" type="slidenum">
              <a:rPr kumimoji="1" lang="ja-JP" altLang="en-US" smtClean="0"/>
              <a:t>6</a:t>
            </a:fld>
            <a:endParaRPr kumimoji="1" lang="ja-JP" altLang="en-US"/>
          </a:p>
        </p:txBody>
      </p:sp>
    </p:spTree>
    <p:extLst>
      <p:ext uri="{BB962C8B-B14F-4D97-AF65-F5344CB8AC3E}">
        <p14:creationId xmlns:p14="http://schemas.microsoft.com/office/powerpoint/2010/main" val="4040816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kern="1200" dirty="0">
                <a:solidFill>
                  <a:schemeClr val="tx1"/>
                </a:solidFill>
                <a:effectLst/>
                <a:latin typeface="+mn-lt"/>
                <a:ea typeface="+mn-ea"/>
                <a:cs typeface="+mn-cs"/>
              </a:rPr>
              <a:t>次に，期間ダミーによる分析結果です．</a:t>
            </a:r>
          </a:p>
          <a:p>
            <a:r>
              <a:rPr kumimoji="1" lang="ja-JP" altLang="ja-JP" sz="1200" kern="1200" dirty="0">
                <a:solidFill>
                  <a:schemeClr val="tx1"/>
                </a:solidFill>
                <a:effectLst/>
                <a:latin typeface="+mn-lt"/>
                <a:ea typeface="+mn-ea"/>
                <a:cs typeface="+mn-cs"/>
              </a:rPr>
              <a:t>バブル経済やその崩壊，小泉構造改革，</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リーマン・ショック，コロナショックといった</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大きな経済ショックは，日本の労働市場に</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恒常的な構造変化をもたらしていませんでした．</a:t>
            </a:r>
          </a:p>
          <a:p>
            <a:r>
              <a:rPr kumimoji="1" lang="ja-JP" altLang="ja-JP" sz="1200" kern="1200" dirty="0">
                <a:solidFill>
                  <a:schemeClr val="tx1"/>
                </a:solidFill>
                <a:effectLst/>
                <a:latin typeface="+mn-lt"/>
                <a:ea typeface="+mn-ea"/>
                <a:cs typeface="+mn-cs"/>
              </a:rPr>
              <a:t>特に，バブル崩壊については，</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「失われた</a:t>
            </a:r>
            <a:r>
              <a:rPr kumimoji="1" lang="en-US" altLang="ja-JP" sz="1200" kern="1200" dirty="0">
                <a:solidFill>
                  <a:schemeClr val="tx1"/>
                </a:solidFill>
                <a:effectLst/>
                <a:latin typeface="+mn-lt"/>
                <a:ea typeface="+mn-ea"/>
                <a:cs typeface="+mn-cs"/>
              </a:rPr>
              <a:t>30</a:t>
            </a:r>
            <a:r>
              <a:rPr kumimoji="1" lang="ja-JP" altLang="ja-JP" sz="1200" kern="1200" dirty="0">
                <a:solidFill>
                  <a:schemeClr val="tx1"/>
                </a:solidFill>
                <a:effectLst/>
                <a:latin typeface="+mn-lt"/>
                <a:ea typeface="+mn-ea"/>
                <a:cs typeface="+mn-cs"/>
              </a:rPr>
              <a:t>年の始まり」と言われることが多いものの，</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労働市場が非効率な方向へ歪んだという結果は得られませんでした．</a:t>
            </a:r>
          </a:p>
          <a:p>
            <a:r>
              <a:rPr kumimoji="1" lang="ja-JP" altLang="ja-JP" sz="1200" kern="1200" dirty="0">
                <a:solidFill>
                  <a:schemeClr val="tx1"/>
                </a:solidFill>
                <a:effectLst/>
                <a:latin typeface="+mn-lt"/>
                <a:ea typeface="+mn-ea"/>
                <a:cs typeface="+mn-cs"/>
              </a:rPr>
              <a:t>ただし，リーマン・ショック期では，</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統計的に有意ではないものの，</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一時的な採用抑制を示唆する係数変化が見られました．</a:t>
            </a:r>
          </a:p>
          <a:p>
            <a:r>
              <a:rPr kumimoji="1" lang="ja-JP" altLang="ja-JP" sz="1200" kern="1200" dirty="0">
                <a:solidFill>
                  <a:schemeClr val="tx1"/>
                </a:solidFill>
                <a:effectLst/>
                <a:latin typeface="+mn-lt"/>
                <a:ea typeface="+mn-ea"/>
                <a:cs typeface="+mn-cs"/>
              </a:rPr>
              <a:t>一方，コロナショック期では同様の傾向は確認されませんでした．</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これは，テレワークの導入などにより，</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労働市場が特殊な不況に柔軟に対応した可能性を示しています．</a:t>
            </a:r>
          </a:p>
          <a:p>
            <a:r>
              <a:rPr kumimoji="1" lang="ja-JP" altLang="ja-JP" sz="1200" kern="1200" dirty="0">
                <a:solidFill>
                  <a:schemeClr val="tx1"/>
                </a:solidFill>
                <a:effectLst/>
                <a:latin typeface="+mn-lt"/>
                <a:ea typeface="+mn-ea"/>
                <a:cs typeface="+mn-cs"/>
              </a:rPr>
              <a:t>以上の結果から，</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仮に今後労働市場改革を行うのであれば，</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小泉構造改革を上回るほどの，</a:t>
            </a:r>
            <a:br>
              <a:rPr kumimoji="1" lang="en-US" altLang="ja-JP" sz="1200" kern="1200" dirty="0">
                <a:solidFill>
                  <a:schemeClr val="tx1"/>
                </a:solidFill>
                <a:effectLst/>
                <a:latin typeface="+mn-lt"/>
                <a:ea typeface="+mn-ea"/>
                <a:cs typeface="+mn-cs"/>
              </a:rPr>
            </a:br>
            <a:r>
              <a:rPr kumimoji="1" lang="ja-JP" altLang="ja-JP" sz="1200" kern="1200" dirty="0">
                <a:solidFill>
                  <a:schemeClr val="tx1"/>
                </a:solidFill>
                <a:effectLst/>
                <a:latin typeface="+mn-lt"/>
                <a:ea typeface="+mn-ea"/>
                <a:cs typeface="+mn-cs"/>
              </a:rPr>
              <a:t>より強力な制度改革が必要であると考えられます．</a:t>
            </a:r>
          </a:p>
          <a:p>
            <a:endParaRPr kumimoji="1" lang="en-US" altLang="ja-JP"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5"/>
          </p:nvPr>
        </p:nvSpPr>
        <p:spPr/>
        <p:txBody>
          <a:bodyPr/>
          <a:lstStyle/>
          <a:p>
            <a:fld id="{DDBDE03F-93A4-405D-98BF-19A22FE34A39}" type="slidenum">
              <a:rPr kumimoji="1" lang="ja-JP" altLang="en-US" smtClean="0"/>
              <a:t>7</a:t>
            </a:fld>
            <a:endParaRPr kumimoji="1" lang="ja-JP" altLang="en-US"/>
          </a:p>
        </p:txBody>
      </p:sp>
    </p:spTree>
    <p:extLst>
      <p:ext uri="{BB962C8B-B14F-4D97-AF65-F5344CB8AC3E}">
        <p14:creationId xmlns:p14="http://schemas.microsoft.com/office/powerpoint/2010/main" val="2718711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しかし，本研究で行った</a:t>
            </a:r>
            <a:r>
              <a:rPr lang="en-US" altLang="ja-JP" dirty="0"/>
              <a:t>OLS</a:t>
            </a:r>
            <a:r>
              <a:rPr lang="ja-JP" altLang="en-US" dirty="0"/>
              <a:t>推計には，分析上の問題点が存在します。</a:t>
            </a:r>
            <a:br>
              <a:rPr lang="ja-JP" altLang="en-US" dirty="0"/>
            </a:br>
            <a:r>
              <a:rPr lang="ja-JP" altLang="en-US" dirty="0"/>
              <a:t>それは</a:t>
            </a:r>
            <a:r>
              <a:rPr lang="ja-JP" altLang="en-US" b="1" dirty="0"/>
              <a:t>内生性バイアスの問題</a:t>
            </a:r>
            <a:r>
              <a:rPr lang="ja-JP" altLang="en-US" dirty="0"/>
              <a:t>です。</a:t>
            </a:r>
          </a:p>
          <a:p>
            <a:r>
              <a:rPr lang="en-US" altLang="ja-JP" dirty="0"/>
              <a:t>OLS</a:t>
            </a:r>
            <a:r>
              <a:rPr lang="ja-JP" altLang="en-US" dirty="0"/>
              <a:t>推計では，求人と失業のみが雇用創出に影響を与えるという前提のもとで分析を行っていました。</a:t>
            </a:r>
            <a:br>
              <a:rPr lang="ja-JP" altLang="en-US" dirty="0"/>
            </a:br>
            <a:r>
              <a:rPr lang="ja-JP" altLang="en-US" dirty="0"/>
              <a:t>しかし，現実の経済では，</a:t>
            </a:r>
            <a:r>
              <a:rPr lang="ja-JP" altLang="en-US" b="1" dirty="0"/>
              <a:t>景気変動という第三の要因</a:t>
            </a:r>
            <a:r>
              <a:rPr lang="ja-JP" altLang="en-US" dirty="0"/>
              <a:t>によって，求人と雇用が同時に変動する可能性があります。</a:t>
            </a:r>
            <a:br>
              <a:rPr lang="ja-JP" altLang="en-US" dirty="0"/>
            </a:br>
            <a:r>
              <a:rPr lang="ja-JP" altLang="en-US" dirty="0"/>
              <a:t>すなわち，「景気が良くなることで，雇用と求人がともに増加する」という因果関係です。</a:t>
            </a:r>
          </a:p>
          <a:p>
            <a:r>
              <a:rPr lang="ja-JP" altLang="en-US" dirty="0"/>
              <a:t>もしこのような因果関係が存在する場合，説明変数である求人は誤差項と相関を持つことになり，</a:t>
            </a:r>
            <a:r>
              <a:rPr lang="en-US" altLang="ja-JP" dirty="0"/>
              <a:t>OLS</a:t>
            </a:r>
            <a:r>
              <a:rPr lang="ja-JP" altLang="en-US" dirty="0"/>
              <a:t>推計は一致性を失います。</a:t>
            </a:r>
            <a:br>
              <a:rPr lang="ja-JP" altLang="en-US" dirty="0"/>
            </a:br>
            <a:r>
              <a:rPr lang="ja-JP" altLang="en-US" dirty="0"/>
              <a:t>この問題を</a:t>
            </a:r>
            <a:r>
              <a:rPr lang="ja-JP" altLang="en-US" b="1" dirty="0"/>
              <a:t>内生性バイアス</a:t>
            </a:r>
            <a:r>
              <a:rPr lang="ja-JP" altLang="en-US" dirty="0"/>
              <a:t>と呼びます。</a:t>
            </a:r>
          </a:p>
          <a:p>
            <a:r>
              <a:rPr lang="ja-JP" altLang="en-US" dirty="0"/>
              <a:t>そこで，本研究では内生性バイアスの有無を検証するため，</a:t>
            </a:r>
            <a:r>
              <a:rPr lang="en-US" altLang="ja-JP" b="1" dirty="0"/>
              <a:t>DWH</a:t>
            </a:r>
            <a:r>
              <a:rPr lang="ja-JP" altLang="en-US" b="1" dirty="0"/>
              <a:t>検定</a:t>
            </a:r>
            <a:r>
              <a:rPr lang="ja-JP" altLang="en-US" dirty="0"/>
              <a:t>を行いました。</a:t>
            </a:r>
            <a:br>
              <a:rPr lang="ja-JP" altLang="en-US" dirty="0"/>
            </a:br>
            <a:r>
              <a:rPr lang="ja-JP" altLang="en-US" dirty="0"/>
              <a:t>その結果，内生性バイアスの存在が示唆されました。</a:t>
            </a:r>
            <a:br>
              <a:rPr lang="ja-JP" altLang="en-US" dirty="0"/>
            </a:br>
            <a:r>
              <a:rPr lang="ja-JP" altLang="en-US" dirty="0"/>
              <a:t>この結果を踏まえ，本稿では</a:t>
            </a:r>
            <a:r>
              <a:rPr lang="en-US" altLang="ja-JP" dirty="0"/>
              <a:t>OLS</a:t>
            </a:r>
            <a:r>
              <a:rPr lang="ja-JP" altLang="en-US" dirty="0"/>
              <a:t>推計に加えて，</a:t>
            </a:r>
            <a:r>
              <a:rPr lang="ja-JP" altLang="en-US" b="1" dirty="0"/>
              <a:t>操作変数法による分析</a:t>
            </a:r>
            <a:r>
              <a:rPr lang="ja-JP" altLang="en-US" dirty="0"/>
              <a:t>も行いました。</a:t>
            </a:r>
          </a:p>
        </p:txBody>
      </p:sp>
      <p:sp>
        <p:nvSpPr>
          <p:cNvPr id="4" name="スライド番号プレースホルダー 3"/>
          <p:cNvSpPr>
            <a:spLocks noGrp="1"/>
          </p:cNvSpPr>
          <p:nvPr>
            <p:ph type="sldNum" sz="quarter" idx="5"/>
          </p:nvPr>
        </p:nvSpPr>
        <p:spPr/>
        <p:txBody>
          <a:bodyPr/>
          <a:lstStyle/>
          <a:p>
            <a:fld id="{DDBDE03F-93A4-405D-98BF-19A22FE34A39}" type="slidenum">
              <a:rPr kumimoji="1" lang="ja-JP" altLang="en-US" smtClean="0"/>
              <a:t>8</a:t>
            </a:fld>
            <a:endParaRPr kumimoji="1" lang="ja-JP" altLang="en-US"/>
          </a:p>
        </p:txBody>
      </p:sp>
    </p:spTree>
    <p:extLst>
      <p:ext uri="{BB962C8B-B14F-4D97-AF65-F5344CB8AC3E}">
        <p14:creationId xmlns:p14="http://schemas.microsoft.com/office/powerpoint/2010/main" val="1215435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ここで，「景気が良くなると雇用が増加し，求人が増加する」という因果関係とは逆に，</a:t>
            </a:r>
            <a:br>
              <a:rPr lang="ja-JP" altLang="en-US" dirty="0"/>
            </a:br>
            <a:r>
              <a:rPr lang="ja-JP" altLang="en-US" dirty="0"/>
              <a:t>「景気が悪化すると雇用が減少し，失業が増加する」という因果関係も考えられます。</a:t>
            </a:r>
          </a:p>
          <a:p>
            <a:r>
              <a:rPr lang="ja-JP" altLang="en-US" dirty="0"/>
              <a:t>しかし，</a:t>
            </a:r>
            <a:r>
              <a:rPr lang="ja-JP" altLang="en-US" b="1" dirty="0"/>
              <a:t>サーチ理論</a:t>
            </a:r>
            <a:r>
              <a:rPr lang="ja-JP" altLang="en-US" dirty="0"/>
              <a:t>においては，失業と雇用の変動は即時的に調整されるものではなく，</a:t>
            </a:r>
            <a:br>
              <a:rPr lang="ja-JP" altLang="en-US" dirty="0"/>
            </a:br>
            <a:r>
              <a:rPr lang="ja-JP" altLang="en-US" dirty="0"/>
              <a:t>マッチング過程を通じて</a:t>
            </a:r>
            <a:r>
              <a:rPr lang="ja-JP" altLang="en-US" b="1" dirty="0"/>
              <a:t>内生的な時間差を伴って調整される</a:t>
            </a:r>
            <a:r>
              <a:rPr lang="ja-JP" altLang="en-US" dirty="0"/>
              <a:t>と考えられています。</a:t>
            </a:r>
          </a:p>
          <a:p>
            <a:r>
              <a:rPr lang="ja-JP" altLang="en-US" dirty="0"/>
              <a:t>そのため，仮に景気という第三の変数の影響が存在したとしても，</a:t>
            </a:r>
            <a:br>
              <a:rPr lang="ja-JP" altLang="en-US" dirty="0"/>
            </a:br>
            <a:r>
              <a:rPr lang="ja-JP" altLang="en-US" dirty="0"/>
              <a:t>失業と雇用の間に同時的な因果関係が生じる可能性は低いと考えられます。</a:t>
            </a:r>
            <a:br>
              <a:rPr lang="ja-JP" altLang="en-US" dirty="0"/>
            </a:br>
            <a:r>
              <a:rPr lang="ja-JP" altLang="en-US" dirty="0"/>
              <a:t>以上の理由から，本研究ではこの逆方向の因果関係については分析の対象外としました。</a:t>
            </a:r>
          </a:p>
        </p:txBody>
      </p:sp>
      <p:sp>
        <p:nvSpPr>
          <p:cNvPr id="4" name="スライド番号プレースホルダー 3"/>
          <p:cNvSpPr>
            <a:spLocks noGrp="1"/>
          </p:cNvSpPr>
          <p:nvPr>
            <p:ph type="sldNum" sz="quarter" idx="5"/>
          </p:nvPr>
        </p:nvSpPr>
        <p:spPr/>
        <p:txBody>
          <a:bodyPr/>
          <a:lstStyle/>
          <a:p>
            <a:fld id="{DDBDE03F-93A4-405D-98BF-19A22FE34A39}" type="slidenum">
              <a:rPr kumimoji="1" lang="ja-JP" altLang="en-US" smtClean="0"/>
              <a:t>9</a:t>
            </a:fld>
            <a:endParaRPr kumimoji="1" lang="ja-JP" altLang="en-US"/>
          </a:p>
        </p:txBody>
      </p:sp>
    </p:spTree>
    <p:extLst>
      <p:ext uri="{BB962C8B-B14F-4D97-AF65-F5344CB8AC3E}">
        <p14:creationId xmlns:p14="http://schemas.microsoft.com/office/powerpoint/2010/main" val="160547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ここで，操作変数法について簡単に説明します。</a:t>
            </a:r>
            <a:br>
              <a:rPr lang="ja-JP" altLang="en-US" dirty="0"/>
            </a:br>
            <a:r>
              <a:rPr lang="ja-JP" altLang="en-US" dirty="0"/>
              <a:t>操作変数とは，</a:t>
            </a:r>
            <a:r>
              <a:rPr lang="ja-JP" altLang="en-US" b="1" dirty="0"/>
              <a:t>説明変数には影響を与えるが，被説明変数には直接影響を与えない変数</a:t>
            </a:r>
            <a:r>
              <a:rPr lang="ja-JP" altLang="en-US" dirty="0"/>
              <a:t>のことを指します。</a:t>
            </a:r>
          </a:p>
          <a:p>
            <a:r>
              <a:rPr lang="ja-JP" altLang="en-US" dirty="0"/>
              <a:t>本研究の文脈では，「求人には影響を与えるが，雇用には直接影響を与えない変数」が操作変数に該当します。</a:t>
            </a:r>
          </a:p>
          <a:p>
            <a:r>
              <a:rPr lang="ja-JP" altLang="en-US" dirty="0"/>
              <a:t>操作変数法では，まず操作変数を用いて説明変数を推計し，</a:t>
            </a:r>
            <a:br>
              <a:rPr lang="ja-JP" altLang="en-US" dirty="0"/>
            </a:br>
            <a:r>
              <a:rPr lang="ja-JP" altLang="en-US" dirty="0"/>
              <a:t>次にその推計された説明変数を用いて被説明変数を推計します。</a:t>
            </a:r>
            <a:br>
              <a:rPr lang="ja-JP" altLang="en-US" dirty="0"/>
            </a:br>
            <a:r>
              <a:rPr lang="ja-JP" altLang="en-US" dirty="0"/>
              <a:t>これにより，説明変数が被説明変数に与える</a:t>
            </a:r>
            <a:r>
              <a:rPr lang="ja-JP" altLang="en-US" b="1" dirty="0"/>
              <a:t>因果的な影響</a:t>
            </a:r>
            <a:r>
              <a:rPr lang="ja-JP" altLang="en-US" dirty="0"/>
              <a:t>を識別することが可能となります。</a:t>
            </a:r>
          </a:p>
          <a:p>
            <a:r>
              <a:rPr lang="ja-JP" altLang="en-US" dirty="0"/>
              <a:t>操作変数法において最も重要かつ困難なのは，</a:t>
            </a:r>
            <a:br>
              <a:rPr lang="ja-JP" altLang="en-US" dirty="0"/>
            </a:br>
            <a:r>
              <a:rPr lang="ja-JP" altLang="en-US" dirty="0"/>
              <a:t>このような条件を満たす操作変数を選択することです。</a:t>
            </a:r>
            <a:br>
              <a:rPr lang="ja-JP" altLang="en-US" dirty="0"/>
            </a:br>
            <a:r>
              <a:rPr lang="ja-JP" altLang="en-US" dirty="0"/>
              <a:t>本研究では，</a:t>
            </a:r>
            <a:r>
              <a:rPr lang="en-US" altLang="ja-JP" b="1" dirty="0"/>
              <a:t>1</a:t>
            </a:r>
            <a:r>
              <a:rPr lang="ja-JP" altLang="en-US" b="1" dirty="0"/>
              <a:t>期前および</a:t>
            </a:r>
            <a:r>
              <a:rPr lang="en-US" altLang="ja-JP" b="1" dirty="0"/>
              <a:t>2</a:t>
            </a:r>
            <a:r>
              <a:rPr lang="ja-JP" altLang="en-US" b="1" dirty="0"/>
              <a:t>期前の求人数</a:t>
            </a:r>
            <a:r>
              <a:rPr lang="ja-JP" altLang="en-US" dirty="0"/>
              <a:t>を操作変数として用いました。</a:t>
            </a:r>
          </a:p>
        </p:txBody>
      </p:sp>
      <p:sp>
        <p:nvSpPr>
          <p:cNvPr id="4" name="スライド番号プレースホルダー 3"/>
          <p:cNvSpPr>
            <a:spLocks noGrp="1"/>
          </p:cNvSpPr>
          <p:nvPr>
            <p:ph type="sldNum" sz="quarter" idx="5"/>
          </p:nvPr>
        </p:nvSpPr>
        <p:spPr/>
        <p:txBody>
          <a:bodyPr/>
          <a:lstStyle/>
          <a:p>
            <a:fld id="{DDBDE03F-93A4-405D-98BF-19A22FE34A39}" type="slidenum">
              <a:rPr kumimoji="1" lang="ja-JP" altLang="en-US" smtClean="0"/>
              <a:t>10</a:t>
            </a:fld>
            <a:endParaRPr kumimoji="1" lang="ja-JP" altLang="en-US"/>
          </a:p>
        </p:txBody>
      </p:sp>
    </p:spTree>
    <p:extLst>
      <p:ext uri="{BB962C8B-B14F-4D97-AF65-F5344CB8AC3E}">
        <p14:creationId xmlns:p14="http://schemas.microsoft.com/office/powerpoint/2010/main" val="4285984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操作変数の妥当性については，第一段階の</a:t>
            </a:r>
            <a:r>
              <a:rPr lang="en-US" altLang="ja-JP" dirty="0"/>
              <a:t>F</a:t>
            </a:r>
            <a:r>
              <a:rPr lang="ja-JP" altLang="en-US" dirty="0"/>
              <a:t>値によって評価されます。</a:t>
            </a:r>
            <a:br>
              <a:rPr lang="ja-JP" altLang="en-US" dirty="0"/>
            </a:br>
            <a:r>
              <a:rPr lang="ja-JP" altLang="en-US" dirty="0"/>
              <a:t>本研究では</a:t>
            </a:r>
            <a:r>
              <a:rPr lang="en-US" altLang="ja-JP" dirty="0"/>
              <a:t>F</a:t>
            </a:r>
            <a:r>
              <a:rPr lang="ja-JP" altLang="en-US" dirty="0"/>
              <a:t>値が</a:t>
            </a:r>
            <a:r>
              <a:rPr lang="en-US" altLang="ja-JP" dirty="0"/>
              <a:t>6.57</a:t>
            </a:r>
            <a:r>
              <a:rPr lang="ja-JP" altLang="en-US" dirty="0"/>
              <a:t>と，やや小さい値となりました。</a:t>
            </a:r>
            <a:br>
              <a:rPr lang="ja-JP" altLang="en-US" dirty="0"/>
            </a:br>
            <a:r>
              <a:rPr lang="ja-JP" altLang="en-US" dirty="0"/>
              <a:t>ただし，対応する</a:t>
            </a:r>
            <a:r>
              <a:rPr lang="en-US" altLang="ja-JP" dirty="0"/>
              <a:t>P</a:t>
            </a:r>
            <a:r>
              <a:rPr lang="ja-JP" altLang="en-US" dirty="0"/>
              <a:t>値は</a:t>
            </a:r>
            <a:r>
              <a:rPr lang="en-US" altLang="ja-JP" dirty="0"/>
              <a:t>0.0375</a:t>
            </a:r>
            <a:r>
              <a:rPr lang="ja-JP" altLang="en-US" dirty="0"/>
              <a:t>であり，</a:t>
            </a:r>
            <a:r>
              <a:rPr lang="en-US" altLang="ja-JP" dirty="0"/>
              <a:t>5</a:t>
            </a:r>
            <a:r>
              <a:rPr lang="ja-JP" altLang="en-US" dirty="0"/>
              <a:t>％有意水準では帰無仮説を棄却できます。</a:t>
            </a:r>
          </a:p>
          <a:p>
            <a:r>
              <a:rPr lang="ja-JP" altLang="en-US" dirty="0"/>
              <a:t>このため，</a:t>
            </a:r>
            <a:r>
              <a:rPr lang="ja-JP" altLang="en-US" b="1" dirty="0"/>
              <a:t>弱操作変数である可能性は完全には排除できないものの</a:t>
            </a:r>
            <a:r>
              <a:rPr lang="ja-JP" altLang="en-US" dirty="0"/>
              <a:t>，</a:t>
            </a:r>
            <a:br>
              <a:rPr lang="ja-JP" altLang="en-US" dirty="0"/>
            </a:br>
            <a:r>
              <a:rPr lang="ja-JP" altLang="en-US" dirty="0"/>
              <a:t>本稿では当該操作変数を用いた分析を行いました。</a:t>
            </a:r>
          </a:p>
          <a:p>
            <a:r>
              <a:rPr lang="ja-JP" altLang="en-US" dirty="0"/>
              <a:t>その推計結果が，論文の表</a:t>
            </a:r>
            <a:r>
              <a:rPr lang="en-US" altLang="ja-JP" dirty="0"/>
              <a:t>3</a:t>
            </a:r>
            <a:r>
              <a:rPr lang="ja-JP" altLang="en-US" dirty="0"/>
              <a:t>に示されています。</a:t>
            </a:r>
            <a:br>
              <a:rPr lang="ja-JP" altLang="en-US" dirty="0"/>
            </a:br>
            <a:r>
              <a:rPr lang="ja-JP" altLang="en-US" dirty="0"/>
              <a:t>表</a:t>
            </a:r>
            <a:r>
              <a:rPr lang="en-US" altLang="ja-JP" dirty="0"/>
              <a:t>3</a:t>
            </a:r>
            <a:r>
              <a:rPr lang="ja-JP" altLang="en-US" dirty="0"/>
              <a:t>から分かるように，操作変数法による推計結果と</a:t>
            </a:r>
            <a:r>
              <a:rPr lang="en-US" altLang="ja-JP" dirty="0"/>
              <a:t>OLS</a:t>
            </a:r>
            <a:r>
              <a:rPr lang="ja-JP" altLang="en-US" dirty="0"/>
              <a:t>推計の結果は，</a:t>
            </a:r>
            <a:br>
              <a:rPr lang="ja-JP" altLang="en-US" dirty="0"/>
            </a:br>
            <a:r>
              <a:rPr lang="ja-JP" altLang="en-US" dirty="0"/>
              <a:t>全体として類似した傾向を示しています。</a:t>
            </a:r>
          </a:p>
          <a:p>
            <a:r>
              <a:rPr lang="ja-JP" altLang="en-US" dirty="0"/>
              <a:t>したがって，本研究の結論は，</a:t>
            </a:r>
            <a:r>
              <a:rPr lang="en-US" altLang="ja-JP" dirty="0"/>
              <a:t>OLS</a:t>
            </a:r>
            <a:r>
              <a:rPr lang="ja-JP" altLang="en-US" dirty="0"/>
              <a:t>推計による結果と大きくは変わりません。</a:t>
            </a:r>
            <a:br>
              <a:rPr lang="ja-JP" altLang="en-US" dirty="0"/>
            </a:br>
            <a:r>
              <a:rPr lang="ja-JP" altLang="en-US" dirty="0"/>
              <a:t>ただし，係数</a:t>
            </a:r>
            <a:r>
              <a:rPr lang="en-US" altLang="ja-JP" dirty="0"/>
              <a:t>Φ</a:t>
            </a:r>
            <a:r>
              <a:rPr lang="ja-JP" altLang="en-US" dirty="0"/>
              <a:t>が</a:t>
            </a:r>
            <a:r>
              <a:rPr lang="en-US" altLang="ja-JP" dirty="0"/>
              <a:t>OLS</a:t>
            </a:r>
            <a:r>
              <a:rPr lang="ja-JP" altLang="en-US" dirty="0"/>
              <a:t>推計と比較して約</a:t>
            </a:r>
            <a:r>
              <a:rPr lang="en-US" altLang="ja-JP" dirty="0"/>
              <a:t>2</a:t>
            </a:r>
            <a:r>
              <a:rPr lang="ja-JP" altLang="en-US" dirty="0"/>
              <a:t>倍程度大きくなっている点から，</a:t>
            </a:r>
            <a:br>
              <a:rPr lang="ja-JP" altLang="en-US" dirty="0"/>
            </a:br>
            <a:r>
              <a:rPr lang="ja-JP" altLang="en-US" dirty="0"/>
              <a:t>雇用創出に対する求人の影響は，</a:t>
            </a:r>
            <a:r>
              <a:rPr lang="en-US" altLang="ja-JP" dirty="0"/>
              <a:t>OLS</a:t>
            </a:r>
            <a:r>
              <a:rPr lang="ja-JP" altLang="en-US" dirty="0"/>
              <a:t>推計が示す以上に強い可能性があることが示唆されます。</a:t>
            </a:r>
          </a:p>
        </p:txBody>
      </p:sp>
      <p:sp>
        <p:nvSpPr>
          <p:cNvPr id="4" name="スライド番号プレースホルダー 3"/>
          <p:cNvSpPr>
            <a:spLocks noGrp="1"/>
          </p:cNvSpPr>
          <p:nvPr>
            <p:ph type="sldNum" sz="quarter" idx="5"/>
          </p:nvPr>
        </p:nvSpPr>
        <p:spPr/>
        <p:txBody>
          <a:bodyPr/>
          <a:lstStyle/>
          <a:p>
            <a:fld id="{DDBDE03F-93A4-405D-98BF-19A22FE34A39}" type="slidenum">
              <a:rPr kumimoji="1" lang="ja-JP" altLang="en-US" smtClean="0"/>
              <a:t>11</a:t>
            </a:fld>
            <a:endParaRPr kumimoji="1" lang="ja-JP" altLang="en-US"/>
          </a:p>
        </p:txBody>
      </p:sp>
    </p:spTree>
    <p:extLst>
      <p:ext uri="{BB962C8B-B14F-4D97-AF65-F5344CB8AC3E}">
        <p14:creationId xmlns:p14="http://schemas.microsoft.com/office/powerpoint/2010/main" val="3782796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BF6061-3351-73A7-3EB7-4BEDDC28A907}"/>
              </a:ext>
            </a:extLst>
          </p:cNvPr>
          <p:cNvSpPr>
            <a:spLocks noGrp="1"/>
          </p:cNvSpPr>
          <p:nvPr>
            <p:ph type="ctrTitle"/>
          </p:nvPr>
        </p:nvSpPr>
        <p:spPr>
          <a:xfrm>
            <a:off x="1524000" y="1782618"/>
            <a:ext cx="9144000" cy="1403927"/>
          </a:xfrm>
        </p:spPr>
        <p:txBody>
          <a:bodyPr anchor="b">
            <a:normAutofit/>
          </a:bodyPr>
          <a:lstStyle>
            <a:lvl1pPr algn="ctr">
              <a:defRPr sz="4000"/>
            </a:lvl1pPr>
          </a:lstStyle>
          <a:p>
            <a:r>
              <a:rPr kumimoji="1" lang="ja-JP" altLang="en-US" dirty="0"/>
              <a:t>マスター タイトルの書式設定</a:t>
            </a:r>
          </a:p>
        </p:txBody>
      </p:sp>
      <p:sp>
        <p:nvSpPr>
          <p:cNvPr id="3" name="字幕 2">
            <a:extLst>
              <a:ext uri="{FF2B5EF4-FFF2-40B4-BE49-F238E27FC236}">
                <a16:creationId xmlns:a16="http://schemas.microsoft.com/office/drawing/2014/main" id="{33363346-A5C9-CD81-2F9E-233086ED87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sp>
        <p:nvSpPr>
          <p:cNvPr id="4" name="日付プレースホルダー 3">
            <a:extLst>
              <a:ext uri="{FF2B5EF4-FFF2-40B4-BE49-F238E27FC236}">
                <a16:creationId xmlns:a16="http://schemas.microsoft.com/office/drawing/2014/main" id="{C05A4E04-634C-B888-CAD2-69A6603FABE9}"/>
              </a:ext>
            </a:extLst>
          </p:cNvPr>
          <p:cNvSpPr>
            <a:spLocks noGrp="1"/>
          </p:cNvSpPr>
          <p:nvPr>
            <p:ph type="dt" sz="half" idx="10"/>
          </p:nvPr>
        </p:nvSpPr>
        <p:spPr/>
        <p:txBody>
          <a:bodyPr/>
          <a:lstStyle/>
          <a:p>
            <a:fld id="{7388EC5F-C03C-4D5D-AE8C-B89CF1087EBD}" type="datetime1">
              <a:rPr kumimoji="1" lang="ja-JP" altLang="en-US" smtClean="0"/>
              <a:t>2026/1/5</a:t>
            </a:fld>
            <a:endParaRPr kumimoji="1" lang="ja-JP" altLang="en-US"/>
          </a:p>
        </p:txBody>
      </p:sp>
      <p:sp>
        <p:nvSpPr>
          <p:cNvPr id="5" name="フッター プレースホルダー 4">
            <a:extLst>
              <a:ext uri="{FF2B5EF4-FFF2-40B4-BE49-F238E27FC236}">
                <a16:creationId xmlns:a16="http://schemas.microsoft.com/office/drawing/2014/main" id="{607D3033-0D1E-FA8F-701D-7866864E328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BB8C969-488B-326D-A4ED-0079FCF5A903}"/>
              </a:ext>
            </a:extLst>
          </p:cNvPr>
          <p:cNvSpPr>
            <a:spLocks noGrp="1"/>
          </p:cNvSpPr>
          <p:nvPr>
            <p:ph type="sldNum" sz="quarter" idx="12"/>
          </p:nvPr>
        </p:nvSpPr>
        <p:spPr/>
        <p:txBody>
          <a:bodyPr/>
          <a:lstStyle/>
          <a:p>
            <a:fld id="{D015B3C7-C04D-468F-B3C4-7E2FB8E54005}" type="slidenum">
              <a:rPr kumimoji="1" lang="ja-JP" altLang="en-US" smtClean="0"/>
              <a:t>‹#›</a:t>
            </a:fld>
            <a:endParaRPr kumimoji="1" lang="ja-JP" altLang="en-US" dirty="0"/>
          </a:p>
        </p:txBody>
      </p:sp>
    </p:spTree>
    <p:extLst>
      <p:ext uri="{BB962C8B-B14F-4D97-AF65-F5344CB8AC3E}">
        <p14:creationId xmlns:p14="http://schemas.microsoft.com/office/powerpoint/2010/main" val="279750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CEAAD6-9B6B-8E89-6079-F6D834CAB900}"/>
              </a:ext>
            </a:extLst>
          </p:cNvPr>
          <p:cNvSpPr>
            <a:spLocks noGrp="1"/>
          </p:cNvSpPr>
          <p:nvPr>
            <p:ph type="title"/>
          </p:nvPr>
        </p:nvSpPr>
        <p:spPr>
          <a:xfrm>
            <a:off x="838200" y="136526"/>
            <a:ext cx="10515600" cy="713220"/>
          </a:xfrm>
        </p:spPr>
        <p:txBody>
          <a:body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D6A24C1A-28FF-0EE5-4876-E38D2A9198A4}"/>
              </a:ext>
            </a:extLst>
          </p:cNvPr>
          <p:cNvSpPr>
            <a:spLocks noGrp="1"/>
          </p:cNvSpPr>
          <p:nvPr>
            <p:ph idx="1"/>
          </p:nvPr>
        </p:nvSpPr>
        <p:spPr>
          <a:xfrm>
            <a:off x="838200" y="1163782"/>
            <a:ext cx="10515600" cy="5013181"/>
          </a:xfrm>
        </p:spPr>
        <p:txBody>
          <a:bodyPr anchor="ct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FB04A29D-14E9-DBBD-224B-BEFDC5C89610}"/>
              </a:ext>
            </a:extLst>
          </p:cNvPr>
          <p:cNvSpPr>
            <a:spLocks noGrp="1"/>
          </p:cNvSpPr>
          <p:nvPr>
            <p:ph type="dt" sz="half" idx="10"/>
          </p:nvPr>
        </p:nvSpPr>
        <p:spPr/>
        <p:txBody>
          <a:bodyPr/>
          <a:lstStyle/>
          <a:p>
            <a:fld id="{13E5477E-9FD9-49CC-A44E-1C55BFC24DF5}" type="datetime1">
              <a:rPr kumimoji="1" lang="ja-JP" altLang="en-US" smtClean="0"/>
              <a:t>2026/1/5</a:t>
            </a:fld>
            <a:endParaRPr kumimoji="1" lang="ja-JP" altLang="en-US"/>
          </a:p>
        </p:txBody>
      </p:sp>
      <p:sp>
        <p:nvSpPr>
          <p:cNvPr id="5" name="フッター プレースホルダー 4">
            <a:extLst>
              <a:ext uri="{FF2B5EF4-FFF2-40B4-BE49-F238E27FC236}">
                <a16:creationId xmlns:a16="http://schemas.microsoft.com/office/drawing/2014/main" id="{8E3510EE-5891-888B-D154-8124240BFB3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81C078D-0587-5774-9310-9EBC9AF7EBF3}"/>
              </a:ext>
            </a:extLst>
          </p:cNvPr>
          <p:cNvSpPr>
            <a:spLocks noGrp="1"/>
          </p:cNvSpPr>
          <p:nvPr>
            <p:ph type="sldNum" sz="quarter" idx="12"/>
          </p:nvPr>
        </p:nvSpPr>
        <p:spPr/>
        <p:txBody>
          <a:bodyPr/>
          <a:lstStyle/>
          <a:p>
            <a:fld id="{D015B3C7-C04D-468F-B3C4-7E2FB8E54005}"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FDB9181E-D878-8530-0253-C5C7D7C196F8}"/>
              </a:ext>
            </a:extLst>
          </p:cNvPr>
          <p:cNvCxnSpPr>
            <a:cxnSpLocks/>
          </p:cNvCxnSpPr>
          <p:nvPr userDrawn="1"/>
        </p:nvCxnSpPr>
        <p:spPr>
          <a:xfrm flipV="1">
            <a:off x="0" y="932869"/>
            <a:ext cx="12192000" cy="9237"/>
          </a:xfrm>
          <a:prstGeom prst="line">
            <a:avLst/>
          </a:prstGeom>
        </p:spPr>
        <p:style>
          <a:lnRef idx="3">
            <a:schemeClr val="dk1"/>
          </a:lnRef>
          <a:fillRef idx="0">
            <a:schemeClr val="dk1"/>
          </a:fillRef>
          <a:effectRef idx="2">
            <a:schemeClr val="dk1"/>
          </a:effectRef>
          <a:fontRef idx="minor">
            <a:schemeClr val="tx1"/>
          </a:fontRef>
        </p:style>
      </p:cxnSp>
      <p:sp>
        <p:nvSpPr>
          <p:cNvPr id="7" name="正方形/長方形 6">
            <a:extLst>
              <a:ext uri="{FF2B5EF4-FFF2-40B4-BE49-F238E27FC236}">
                <a16:creationId xmlns:a16="http://schemas.microsoft.com/office/drawing/2014/main" id="{A6518B9E-B679-7B3D-0B82-D4B5F1791955}"/>
              </a:ext>
            </a:extLst>
          </p:cNvPr>
          <p:cNvSpPr/>
          <p:nvPr userDrawn="1"/>
        </p:nvSpPr>
        <p:spPr>
          <a:xfrm rot="16200000">
            <a:off x="162796" y="202329"/>
            <a:ext cx="253181" cy="57877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74252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B43501-FB0F-FFF4-DA18-0B946E919C1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2BD6F60-A5B2-2FB7-4172-3CAF8635ED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3EDD40A-0126-9610-C692-37727661C40C}"/>
              </a:ext>
            </a:extLst>
          </p:cNvPr>
          <p:cNvSpPr>
            <a:spLocks noGrp="1"/>
          </p:cNvSpPr>
          <p:nvPr>
            <p:ph type="dt" sz="half" idx="10"/>
          </p:nvPr>
        </p:nvSpPr>
        <p:spPr/>
        <p:txBody>
          <a:bodyPr/>
          <a:lstStyle/>
          <a:p>
            <a:fld id="{6671569B-AE8E-464A-B209-0574F71DC32D}" type="datetime1">
              <a:rPr kumimoji="1" lang="ja-JP" altLang="en-US" smtClean="0"/>
              <a:t>2026/1/5</a:t>
            </a:fld>
            <a:endParaRPr kumimoji="1" lang="ja-JP" altLang="en-US"/>
          </a:p>
        </p:txBody>
      </p:sp>
      <p:sp>
        <p:nvSpPr>
          <p:cNvPr id="5" name="フッター プレースホルダー 4">
            <a:extLst>
              <a:ext uri="{FF2B5EF4-FFF2-40B4-BE49-F238E27FC236}">
                <a16:creationId xmlns:a16="http://schemas.microsoft.com/office/drawing/2014/main" id="{6C75EC0C-C191-0BF0-3B96-E37D41E8D42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9B01C6F-ED94-B2F8-8168-7DC653D60C18}"/>
              </a:ext>
            </a:extLst>
          </p:cNvPr>
          <p:cNvSpPr>
            <a:spLocks noGrp="1"/>
          </p:cNvSpPr>
          <p:nvPr>
            <p:ph type="sldNum" sz="quarter" idx="12"/>
          </p:nvPr>
        </p:nvSpPr>
        <p:spPr/>
        <p:txBody>
          <a:bodyPr/>
          <a:lstStyle/>
          <a:p>
            <a:fld id="{D015B3C7-C04D-468F-B3C4-7E2FB8E54005}" type="slidenum">
              <a:rPr kumimoji="1" lang="ja-JP" altLang="en-US" smtClean="0"/>
              <a:t>‹#›</a:t>
            </a:fld>
            <a:endParaRPr kumimoji="1" lang="ja-JP" altLang="en-US"/>
          </a:p>
        </p:txBody>
      </p:sp>
    </p:spTree>
    <p:extLst>
      <p:ext uri="{BB962C8B-B14F-4D97-AF65-F5344CB8AC3E}">
        <p14:creationId xmlns:p14="http://schemas.microsoft.com/office/powerpoint/2010/main" val="1695509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814588-CE1E-6306-6949-85D261B0E54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13CF054-4325-D7A0-2B3E-71B6E9DA300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381747D-0639-60DB-D536-53A8FCE4D2D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271D217-F51F-B371-092D-818467C46247}"/>
              </a:ext>
            </a:extLst>
          </p:cNvPr>
          <p:cNvSpPr>
            <a:spLocks noGrp="1"/>
          </p:cNvSpPr>
          <p:nvPr>
            <p:ph type="dt" sz="half" idx="10"/>
          </p:nvPr>
        </p:nvSpPr>
        <p:spPr/>
        <p:txBody>
          <a:bodyPr/>
          <a:lstStyle/>
          <a:p>
            <a:fld id="{F7F4A224-4EDD-47A9-9CA7-5627CD9E62DD}" type="datetime1">
              <a:rPr kumimoji="1" lang="ja-JP" altLang="en-US" smtClean="0"/>
              <a:t>2026/1/5</a:t>
            </a:fld>
            <a:endParaRPr kumimoji="1" lang="ja-JP" altLang="en-US"/>
          </a:p>
        </p:txBody>
      </p:sp>
      <p:sp>
        <p:nvSpPr>
          <p:cNvPr id="6" name="フッター プレースホルダー 5">
            <a:extLst>
              <a:ext uri="{FF2B5EF4-FFF2-40B4-BE49-F238E27FC236}">
                <a16:creationId xmlns:a16="http://schemas.microsoft.com/office/drawing/2014/main" id="{378E3667-D6AB-21F7-2F72-D1DFA22C48F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4E24C0-175D-FB12-A280-7F8018C114CE}"/>
              </a:ext>
            </a:extLst>
          </p:cNvPr>
          <p:cNvSpPr>
            <a:spLocks noGrp="1"/>
          </p:cNvSpPr>
          <p:nvPr>
            <p:ph type="sldNum" sz="quarter" idx="12"/>
          </p:nvPr>
        </p:nvSpPr>
        <p:spPr/>
        <p:txBody>
          <a:bodyPr/>
          <a:lstStyle/>
          <a:p>
            <a:fld id="{D015B3C7-C04D-468F-B3C4-7E2FB8E54005}" type="slidenum">
              <a:rPr kumimoji="1" lang="ja-JP" altLang="en-US" smtClean="0"/>
              <a:t>‹#›</a:t>
            </a:fld>
            <a:endParaRPr kumimoji="1" lang="ja-JP" altLang="en-US"/>
          </a:p>
        </p:txBody>
      </p:sp>
    </p:spTree>
    <p:extLst>
      <p:ext uri="{BB962C8B-B14F-4D97-AF65-F5344CB8AC3E}">
        <p14:creationId xmlns:p14="http://schemas.microsoft.com/office/powerpoint/2010/main" val="87859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269174-A4F9-9FA0-4F5F-33D132053C8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649989F-B77C-23A5-1EDB-C116CD386C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D43C033-53A1-5E2C-0940-9472AB2C507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CA57024-AA69-DAA9-8E98-650E65028B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032DD24-88C5-E060-EC4C-E467CC160E5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9F1FBF4-0095-D7FA-0129-DA8BFA9FB8F9}"/>
              </a:ext>
            </a:extLst>
          </p:cNvPr>
          <p:cNvSpPr>
            <a:spLocks noGrp="1"/>
          </p:cNvSpPr>
          <p:nvPr>
            <p:ph type="dt" sz="half" idx="10"/>
          </p:nvPr>
        </p:nvSpPr>
        <p:spPr/>
        <p:txBody>
          <a:bodyPr/>
          <a:lstStyle/>
          <a:p>
            <a:fld id="{E204BC04-EBC2-432F-B4D0-EA41977CEB32}" type="datetime1">
              <a:rPr kumimoji="1" lang="ja-JP" altLang="en-US" smtClean="0"/>
              <a:t>2026/1/5</a:t>
            </a:fld>
            <a:endParaRPr kumimoji="1" lang="ja-JP" altLang="en-US"/>
          </a:p>
        </p:txBody>
      </p:sp>
      <p:sp>
        <p:nvSpPr>
          <p:cNvPr id="8" name="フッター プレースホルダー 7">
            <a:extLst>
              <a:ext uri="{FF2B5EF4-FFF2-40B4-BE49-F238E27FC236}">
                <a16:creationId xmlns:a16="http://schemas.microsoft.com/office/drawing/2014/main" id="{844F5507-5D64-B6A0-8A0F-B9CCE5CB97F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19AA298-AF57-CB15-9812-418C78121793}"/>
              </a:ext>
            </a:extLst>
          </p:cNvPr>
          <p:cNvSpPr>
            <a:spLocks noGrp="1"/>
          </p:cNvSpPr>
          <p:nvPr>
            <p:ph type="sldNum" sz="quarter" idx="12"/>
          </p:nvPr>
        </p:nvSpPr>
        <p:spPr/>
        <p:txBody>
          <a:bodyPr/>
          <a:lstStyle/>
          <a:p>
            <a:fld id="{D015B3C7-C04D-468F-B3C4-7E2FB8E54005}" type="slidenum">
              <a:rPr kumimoji="1" lang="ja-JP" altLang="en-US" smtClean="0"/>
              <a:t>‹#›</a:t>
            </a:fld>
            <a:endParaRPr kumimoji="1" lang="ja-JP" altLang="en-US"/>
          </a:p>
        </p:txBody>
      </p:sp>
    </p:spTree>
    <p:extLst>
      <p:ext uri="{BB962C8B-B14F-4D97-AF65-F5344CB8AC3E}">
        <p14:creationId xmlns:p14="http://schemas.microsoft.com/office/powerpoint/2010/main" val="2086960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D04C26-A352-DFB3-CA0B-5E59B301BCA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9F0DED2-9542-9187-946D-9EC96BC40764}"/>
              </a:ext>
            </a:extLst>
          </p:cNvPr>
          <p:cNvSpPr>
            <a:spLocks noGrp="1"/>
          </p:cNvSpPr>
          <p:nvPr>
            <p:ph type="dt" sz="half" idx="10"/>
          </p:nvPr>
        </p:nvSpPr>
        <p:spPr/>
        <p:txBody>
          <a:bodyPr/>
          <a:lstStyle/>
          <a:p>
            <a:fld id="{B3E1DBB8-696E-429E-9480-A9BC60EFC14D}" type="datetime1">
              <a:rPr kumimoji="1" lang="ja-JP" altLang="en-US" smtClean="0"/>
              <a:t>2026/1/5</a:t>
            </a:fld>
            <a:endParaRPr kumimoji="1" lang="ja-JP" altLang="en-US"/>
          </a:p>
        </p:txBody>
      </p:sp>
      <p:sp>
        <p:nvSpPr>
          <p:cNvPr id="4" name="フッター プレースホルダー 3">
            <a:extLst>
              <a:ext uri="{FF2B5EF4-FFF2-40B4-BE49-F238E27FC236}">
                <a16:creationId xmlns:a16="http://schemas.microsoft.com/office/drawing/2014/main" id="{F42F74B2-52A5-1925-84B6-DF3F5ED70D2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5525C9D-9C95-6B87-2862-4EE26C0E3332}"/>
              </a:ext>
            </a:extLst>
          </p:cNvPr>
          <p:cNvSpPr>
            <a:spLocks noGrp="1"/>
          </p:cNvSpPr>
          <p:nvPr>
            <p:ph type="sldNum" sz="quarter" idx="12"/>
          </p:nvPr>
        </p:nvSpPr>
        <p:spPr/>
        <p:txBody>
          <a:bodyPr/>
          <a:lstStyle/>
          <a:p>
            <a:fld id="{D015B3C7-C04D-468F-B3C4-7E2FB8E54005}" type="slidenum">
              <a:rPr kumimoji="1" lang="ja-JP" altLang="en-US" smtClean="0"/>
              <a:t>‹#›</a:t>
            </a:fld>
            <a:endParaRPr kumimoji="1" lang="ja-JP" altLang="en-US"/>
          </a:p>
        </p:txBody>
      </p:sp>
    </p:spTree>
    <p:extLst>
      <p:ext uri="{BB962C8B-B14F-4D97-AF65-F5344CB8AC3E}">
        <p14:creationId xmlns:p14="http://schemas.microsoft.com/office/powerpoint/2010/main" val="2930653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2B1AAE7-7F5F-AE2E-8AA3-F7F1BE31804A}"/>
              </a:ext>
            </a:extLst>
          </p:cNvPr>
          <p:cNvSpPr>
            <a:spLocks noGrp="1"/>
          </p:cNvSpPr>
          <p:nvPr>
            <p:ph type="dt" sz="half" idx="10"/>
          </p:nvPr>
        </p:nvSpPr>
        <p:spPr/>
        <p:txBody>
          <a:bodyPr/>
          <a:lstStyle/>
          <a:p>
            <a:fld id="{E1797878-0B88-474A-9C6A-09C7EB280BB8}" type="datetime1">
              <a:rPr kumimoji="1" lang="ja-JP" altLang="en-US" smtClean="0"/>
              <a:t>2026/1/5</a:t>
            </a:fld>
            <a:endParaRPr kumimoji="1" lang="ja-JP" altLang="en-US"/>
          </a:p>
        </p:txBody>
      </p:sp>
      <p:sp>
        <p:nvSpPr>
          <p:cNvPr id="3" name="フッター プレースホルダー 2">
            <a:extLst>
              <a:ext uri="{FF2B5EF4-FFF2-40B4-BE49-F238E27FC236}">
                <a16:creationId xmlns:a16="http://schemas.microsoft.com/office/drawing/2014/main" id="{1D94DBC5-ABC8-591E-FED4-711AFF6282E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48A0F4E-B0A5-E8D5-E6ED-B005F80F291A}"/>
              </a:ext>
            </a:extLst>
          </p:cNvPr>
          <p:cNvSpPr>
            <a:spLocks noGrp="1"/>
          </p:cNvSpPr>
          <p:nvPr>
            <p:ph type="sldNum" sz="quarter" idx="12"/>
          </p:nvPr>
        </p:nvSpPr>
        <p:spPr/>
        <p:txBody>
          <a:bodyPr/>
          <a:lstStyle/>
          <a:p>
            <a:fld id="{D015B3C7-C04D-468F-B3C4-7E2FB8E54005}" type="slidenum">
              <a:rPr kumimoji="1" lang="ja-JP" altLang="en-US" smtClean="0"/>
              <a:t>‹#›</a:t>
            </a:fld>
            <a:endParaRPr kumimoji="1" lang="ja-JP" altLang="en-US"/>
          </a:p>
        </p:txBody>
      </p:sp>
    </p:spTree>
    <p:extLst>
      <p:ext uri="{BB962C8B-B14F-4D97-AF65-F5344CB8AC3E}">
        <p14:creationId xmlns:p14="http://schemas.microsoft.com/office/powerpoint/2010/main" val="1760488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0DF3B3-4A17-07E7-F93E-56BCA87E919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8549CBC-E725-93DB-B75C-9FF54932DB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5D8D39A-5162-C51E-DFA5-BBC0897129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AF18B33-F261-5986-4794-3B73C7B1CC93}"/>
              </a:ext>
            </a:extLst>
          </p:cNvPr>
          <p:cNvSpPr>
            <a:spLocks noGrp="1"/>
          </p:cNvSpPr>
          <p:nvPr>
            <p:ph type="dt" sz="half" idx="10"/>
          </p:nvPr>
        </p:nvSpPr>
        <p:spPr/>
        <p:txBody>
          <a:bodyPr/>
          <a:lstStyle/>
          <a:p>
            <a:fld id="{E648C99A-FF30-42FE-9B15-A3EBD04A237C}" type="datetime1">
              <a:rPr kumimoji="1" lang="ja-JP" altLang="en-US" smtClean="0"/>
              <a:t>2026/1/5</a:t>
            </a:fld>
            <a:endParaRPr kumimoji="1" lang="ja-JP" altLang="en-US"/>
          </a:p>
        </p:txBody>
      </p:sp>
      <p:sp>
        <p:nvSpPr>
          <p:cNvPr id="6" name="フッター プレースホルダー 5">
            <a:extLst>
              <a:ext uri="{FF2B5EF4-FFF2-40B4-BE49-F238E27FC236}">
                <a16:creationId xmlns:a16="http://schemas.microsoft.com/office/drawing/2014/main" id="{735387E9-D4B0-C813-6CAD-EFE11BE56D1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5F6629A-6545-8CED-4365-1024EE4F6E0D}"/>
              </a:ext>
            </a:extLst>
          </p:cNvPr>
          <p:cNvSpPr>
            <a:spLocks noGrp="1"/>
          </p:cNvSpPr>
          <p:nvPr>
            <p:ph type="sldNum" sz="quarter" idx="12"/>
          </p:nvPr>
        </p:nvSpPr>
        <p:spPr/>
        <p:txBody>
          <a:bodyPr/>
          <a:lstStyle/>
          <a:p>
            <a:fld id="{D015B3C7-C04D-468F-B3C4-7E2FB8E54005}" type="slidenum">
              <a:rPr kumimoji="1" lang="ja-JP" altLang="en-US" smtClean="0"/>
              <a:t>‹#›</a:t>
            </a:fld>
            <a:endParaRPr kumimoji="1" lang="ja-JP" altLang="en-US"/>
          </a:p>
        </p:txBody>
      </p:sp>
    </p:spTree>
    <p:extLst>
      <p:ext uri="{BB962C8B-B14F-4D97-AF65-F5344CB8AC3E}">
        <p14:creationId xmlns:p14="http://schemas.microsoft.com/office/powerpoint/2010/main" val="1703569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F94C01-9AD4-0905-57EF-665B35FA000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86B7D7E-66B5-DBBC-58B3-5DCCC35D3F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88C5787-261B-69DD-D72B-818BCDE54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01C7BA6-79BB-6911-DCBF-C071FE47E020}"/>
              </a:ext>
            </a:extLst>
          </p:cNvPr>
          <p:cNvSpPr>
            <a:spLocks noGrp="1"/>
          </p:cNvSpPr>
          <p:nvPr>
            <p:ph type="dt" sz="half" idx="10"/>
          </p:nvPr>
        </p:nvSpPr>
        <p:spPr/>
        <p:txBody>
          <a:bodyPr/>
          <a:lstStyle/>
          <a:p>
            <a:fld id="{9EDE7648-2ADA-40B1-ADB2-0FFF01802B82}" type="datetime1">
              <a:rPr kumimoji="1" lang="ja-JP" altLang="en-US" smtClean="0"/>
              <a:t>2026/1/5</a:t>
            </a:fld>
            <a:endParaRPr kumimoji="1" lang="ja-JP" altLang="en-US"/>
          </a:p>
        </p:txBody>
      </p:sp>
      <p:sp>
        <p:nvSpPr>
          <p:cNvPr id="6" name="フッター プレースホルダー 5">
            <a:extLst>
              <a:ext uri="{FF2B5EF4-FFF2-40B4-BE49-F238E27FC236}">
                <a16:creationId xmlns:a16="http://schemas.microsoft.com/office/drawing/2014/main" id="{B19D739E-2FC3-C691-A479-829927D8B8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2B74B2B-8736-A830-F1F5-3611A54A2D5E}"/>
              </a:ext>
            </a:extLst>
          </p:cNvPr>
          <p:cNvSpPr>
            <a:spLocks noGrp="1"/>
          </p:cNvSpPr>
          <p:nvPr>
            <p:ph type="sldNum" sz="quarter" idx="12"/>
          </p:nvPr>
        </p:nvSpPr>
        <p:spPr/>
        <p:txBody>
          <a:bodyPr/>
          <a:lstStyle/>
          <a:p>
            <a:fld id="{D015B3C7-C04D-468F-B3C4-7E2FB8E54005}" type="slidenum">
              <a:rPr kumimoji="1" lang="ja-JP" altLang="en-US" smtClean="0"/>
              <a:t>‹#›</a:t>
            </a:fld>
            <a:endParaRPr kumimoji="1" lang="ja-JP" altLang="en-US"/>
          </a:p>
        </p:txBody>
      </p:sp>
    </p:spTree>
    <p:extLst>
      <p:ext uri="{BB962C8B-B14F-4D97-AF65-F5344CB8AC3E}">
        <p14:creationId xmlns:p14="http://schemas.microsoft.com/office/powerpoint/2010/main" val="475465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6E1CD9-30CD-0668-EFA1-31F3BA773B0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8B61264-0E07-AF35-CE6A-80D9677D141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D534C4A-AC52-84DD-439F-66553972AA84}"/>
              </a:ext>
            </a:extLst>
          </p:cNvPr>
          <p:cNvSpPr>
            <a:spLocks noGrp="1"/>
          </p:cNvSpPr>
          <p:nvPr>
            <p:ph type="dt" sz="half" idx="10"/>
          </p:nvPr>
        </p:nvSpPr>
        <p:spPr/>
        <p:txBody>
          <a:bodyPr/>
          <a:lstStyle/>
          <a:p>
            <a:fld id="{5FD7FF37-0828-4AD4-AB17-73289F1B8EF6}" type="datetime1">
              <a:rPr kumimoji="1" lang="ja-JP" altLang="en-US" smtClean="0"/>
              <a:t>2026/1/5</a:t>
            </a:fld>
            <a:endParaRPr kumimoji="1" lang="ja-JP" altLang="en-US"/>
          </a:p>
        </p:txBody>
      </p:sp>
      <p:sp>
        <p:nvSpPr>
          <p:cNvPr id="5" name="フッター プレースホルダー 4">
            <a:extLst>
              <a:ext uri="{FF2B5EF4-FFF2-40B4-BE49-F238E27FC236}">
                <a16:creationId xmlns:a16="http://schemas.microsoft.com/office/drawing/2014/main" id="{4CB700A6-A566-0530-9858-1A475D4C8DA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AD34E2C-89DF-147E-33D5-090BE927CF44}"/>
              </a:ext>
            </a:extLst>
          </p:cNvPr>
          <p:cNvSpPr>
            <a:spLocks noGrp="1"/>
          </p:cNvSpPr>
          <p:nvPr>
            <p:ph type="sldNum" sz="quarter" idx="12"/>
          </p:nvPr>
        </p:nvSpPr>
        <p:spPr/>
        <p:txBody>
          <a:bodyPr/>
          <a:lstStyle/>
          <a:p>
            <a:fld id="{D015B3C7-C04D-468F-B3C4-7E2FB8E54005}" type="slidenum">
              <a:rPr kumimoji="1" lang="ja-JP" altLang="en-US" smtClean="0"/>
              <a:t>‹#›</a:t>
            </a:fld>
            <a:endParaRPr kumimoji="1" lang="ja-JP" altLang="en-US"/>
          </a:p>
        </p:txBody>
      </p:sp>
    </p:spTree>
    <p:extLst>
      <p:ext uri="{BB962C8B-B14F-4D97-AF65-F5344CB8AC3E}">
        <p14:creationId xmlns:p14="http://schemas.microsoft.com/office/powerpoint/2010/main" val="1184529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049C2C3-9ACC-4B1B-0D9B-30A4B325B84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DAF0394-C97B-F86F-67B2-B718D148DC5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5F0780F-E8E0-9ABD-514B-217E4CC28072}"/>
              </a:ext>
            </a:extLst>
          </p:cNvPr>
          <p:cNvSpPr>
            <a:spLocks noGrp="1"/>
          </p:cNvSpPr>
          <p:nvPr>
            <p:ph type="dt" sz="half" idx="10"/>
          </p:nvPr>
        </p:nvSpPr>
        <p:spPr/>
        <p:txBody>
          <a:bodyPr/>
          <a:lstStyle/>
          <a:p>
            <a:fld id="{EAC665A9-6FD3-4FA1-A35A-F45A3EE27AC0}" type="datetime1">
              <a:rPr kumimoji="1" lang="ja-JP" altLang="en-US" smtClean="0"/>
              <a:t>2026/1/5</a:t>
            </a:fld>
            <a:endParaRPr kumimoji="1" lang="ja-JP" altLang="en-US"/>
          </a:p>
        </p:txBody>
      </p:sp>
      <p:sp>
        <p:nvSpPr>
          <p:cNvPr id="5" name="フッター プレースホルダー 4">
            <a:extLst>
              <a:ext uri="{FF2B5EF4-FFF2-40B4-BE49-F238E27FC236}">
                <a16:creationId xmlns:a16="http://schemas.microsoft.com/office/drawing/2014/main" id="{79021D63-93A5-D357-F88D-8A798F5B9F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DC1CB75-94C5-919A-8D76-E1FC4BB9CB1A}"/>
              </a:ext>
            </a:extLst>
          </p:cNvPr>
          <p:cNvSpPr>
            <a:spLocks noGrp="1"/>
          </p:cNvSpPr>
          <p:nvPr>
            <p:ph type="sldNum" sz="quarter" idx="12"/>
          </p:nvPr>
        </p:nvSpPr>
        <p:spPr/>
        <p:txBody>
          <a:bodyPr/>
          <a:lstStyle/>
          <a:p>
            <a:fld id="{D015B3C7-C04D-468F-B3C4-7E2FB8E54005}" type="slidenum">
              <a:rPr kumimoji="1" lang="ja-JP" altLang="en-US" smtClean="0"/>
              <a:t>‹#›</a:t>
            </a:fld>
            <a:endParaRPr kumimoji="1" lang="ja-JP" altLang="en-US"/>
          </a:p>
        </p:txBody>
      </p:sp>
    </p:spTree>
    <p:extLst>
      <p:ext uri="{BB962C8B-B14F-4D97-AF65-F5344CB8AC3E}">
        <p14:creationId xmlns:p14="http://schemas.microsoft.com/office/powerpoint/2010/main" val="3370020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EC4C263-0E83-7639-D048-E26A183F91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19F8E35D-1341-534A-5C18-3542CB9DA9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9B0E12F3-EB9B-1781-3A9F-CA1A0A542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メイリオ" panose="020B0604030504040204" pitchFamily="50" charset="-128"/>
                <a:ea typeface="メイリオ" panose="020B0604030504040204" pitchFamily="50" charset="-128"/>
              </a:defRPr>
            </a:lvl1pPr>
          </a:lstStyle>
          <a:p>
            <a:fld id="{C6D335B6-6C1F-4757-B9D2-99916F78DD69}" type="datetime1">
              <a:rPr lang="ja-JP" altLang="en-US" smtClean="0"/>
              <a:t>2026/1/5</a:t>
            </a:fld>
            <a:endParaRPr lang="ja-JP" altLang="en-US"/>
          </a:p>
        </p:txBody>
      </p:sp>
      <p:sp>
        <p:nvSpPr>
          <p:cNvPr id="5" name="フッター プレースホルダー 4">
            <a:extLst>
              <a:ext uri="{FF2B5EF4-FFF2-40B4-BE49-F238E27FC236}">
                <a16:creationId xmlns:a16="http://schemas.microsoft.com/office/drawing/2014/main" id="{4D651D18-13FD-E01D-2D50-69DD1C7DBB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メイリオ" panose="020B0604030504040204" pitchFamily="50" charset="-128"/>
                <a:ea typeface="メイリオ"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3BF93CFC-5BC0-57A8-7251-8C1EEFF574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メイリオ" panose="020B0604030504040204" pitchFamily="50" charset="-128"/>
                <a:ea typeface="メイリオ" panose="020B0604030504040204" pitchFamily="50" charset="-128"/>
              </a:defRPr>
            </a:lvl1pPr>
          </a:lstStyle>
          <a:p>
            <a:fld id="{D015B3C7-C04D-468F-B3C4-7E2FB8E54005}" type="slidenum">
              <a:rPr lang="ja-JP" altLang="en-US" smtClean="0"/>
              <a:pPr/>
              <a:t>‹#›</a:t>
            </a:fld>
            <a:endParaRPr lang="ja-JP" altLang="en-US" sz="1800"/>
          </a:p>
        </p:txBody>
      </p:sp>
    </p:spTree>
    <p:extLst>
      <p:ext uri="{BB962C8B-B14F-4D97-AF65-F5344CB8AC3E}">
        <p14:creationId xmlns:p14="http://schemas.microsoft.com/office/powerpoint/2010/main" val="745072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3200" kern="1200">
          <a:solidFill>
            <a:schemeClr val="tx1"/>
          </a:solidFill>
          <a:latin typeface="メイリオ" panose="020B0604030504040204" pitchFamily="50" charset="-128"/>
          <a:ea typeface="メイリオ"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12102301404@toyo.j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github.com/Kishimoto-econ" TargetMode="External"/><Relationship Id="rId4" Type="http://schemas.openxmlformats.org/officeDocument/2006/relationships/hyperlink" Target="mailto:kishimoto.research@gmail.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105A29-FF3E-26B7-B1D9-8313A52BB9DA}"/>
              </a:ext>
            </a:extLst>
          </p:cNvPr>
          <p:cNvSpPr>
            <a:spLocks noGrp="1"/>
          </p:cNvSpPr>
          <p:nvPr>
            <p:ph type="ctrTitle"/>
          </p:nvPr>
        </p:nvSpPr>
        <p:spPr>
          <a:xfrm>
            <a:off x="737422" y="2070000"/>
            <a:ext cx="10412360" cy="1852752"/>
          </a:xfrm>
        </p:spPr>
        <p:txBody>
          <a:bodyPr anchor="ctr">
            <a:normAutofit/>
          </a:bodyPr>
          <a:lstStyle/>
          <a:p>
            <a:r>
              <a:rPr lang="ja-JP" altLang="en-US" dirty="0"/>
              <a:t>サーチ理論に基づく日本の労働市場分析</a:t>
            </a:r>
            <a:r>
              <a:rPr lang="ja-JP" altLang="ja-JP" dirty="0"/>
              <a:t>：</a:t>
            </a:r>
            <a:br>
              <a:rPr lang="en-US" altLang="ja-JP" dirty="0"/>
            </a:br>
            <a:r>
              <a:rPr lang="ja-JP" altLang="ja-JP" sz="3200" dirty="0"/>
              <a:t>マッチング関数</a:t>
            </a:r>
            <a:r>
              <a:rPr lang="ja-JP" altLang="en-US" sz="3200" dirty="0"/>
              <a:t>による時期別検証</a:t>
            </a:r>
            <a:endParaRPr kumimoji="1" lang="ja-JP" altLang="en-US" dirty="0"/>
          </a:p>
        </p:txBody>
      </p:sp>
      <p:sp>
        <p:nvSpPr>
          <p:cNvPr id="3" name="字幕 2">
            <a:extLst>
              <a:ext uri="{FF2B5EF4-FFF2-40B4-BE49-F238E27FC236}">
                <a16:creationId xmlns:a16="http://schemas.microsoft.com/office/drawing/2014/main" id="{D2BF5FAF-A013-F82E-654A-BB83AD6AB8F2}"/>
              </a:ext>
            </a:extLst>
          </p:cNvPr>
          <p:cNvSpPr>
            <a:spLocks noGrp="1"/>
          </p:cNvSpPr>
          <p:nvPr>
            <p:ph type="subTitle" idx="1"/>
          </p:nvPr>
        </p:nvSpPr>
        <p:spPr>
          <a:xfrm>
            <a:off x="1460091" y="4223582"/>
            <a:ext cx="9144000" cy="2634418"/>
          </a:xfrm>
        </p:spPr>
        <p:txBody>
          <a:bodyPr>
            <a:normAutofit/>
          </a:bodyPr>
          <a:lstStyle/>
          <a:p>
            <a:r>
              <a:rPr lang="en-US" altLang="ja-JP" dirty="0"/>
              <a:t>2025</a:t>
            </a:r>
            <a:r>
              <a:rPr lang="ja-JP" altLang="en-US" dirty="0"/>
              <a:t>年</a:t>
            </a:r>
            <a:r>
              <a:rPr lang="en-US" altLang="ja-JP" dirty="0"/>
              <a:t>1</a:t>
            </a:r>
            <a:r>
              <a:rPr lang="ja-JP" altLang="en-US" dirty="0"/>
              <a:t>月</a:t>
            </a:r>
            <a:r>
              <a:rPr lang="en-US" altLang="ja-JP" dirty="0"/>
              <a:t>5</a:t>
            </a:r>
            <a:r>
              <a:rPr lang="ja-JP" altLang="en-US" dirty="0"/>
              <a:t>日</a:t>
            </a:r>
            <a:r>
              <a:rPr lang="en-US" altLang="ja-JP" dirty="0"/>
              <a:t>(</a:t>
            </a:r>
            <a:r>
              <a:rPr lang="ja-JP" altLang="en-US" dirty="0"/>
              <a:t>月</a:t>
            </a:r>
            <a:r>
              <a:rPr lang="en-US" altLang="ja-JP" dirty="0"/>
              <a:t>) 4</a:t>
            </a:r>
            <a:r>
              <a:rPr lang="ja-JP" altLang="en-US" dirty="0"/>
              <a:t>限</a:t>
            </a:r>
            <a:endParaRPr lang="en-US" altLang="ja-JP" dirty="0"/>
          </a:p>
          <a:p>
            <a:r>
              <a:rPr lang="ja-JP" altLang="en-US" dirty="0"/>
              <a:t>岸本康佑</a:t>
            </a:r>
            <a:endParaRPr lang="en-US" altLang="ja-JP" dirty="0"/>
          </a:p>
          <a:p>
            <a:r>
              <a:rPr lang="ja-JP" altLang="en-US" dirty="0"/>
              <a:t>東洋大学 経済学部 経済学科 三平ゼミ </a:t>
            </a:r>
            <a:r>
              <a:rPr lang="en-US" altLang="ja-JP" dirty="0"/>
              <a:t>3</a:t>
            </a:r>
            <a:r>
              <a:rPr lang="ja-JP" altLang="en-US" dirty="0"/>
              <a:t>年</a:t>
            </a:r>
            <a:endParaRPr lang="en-US" altLang="ja-JP" dirty="0"/>
          </a:p>
          <a:p>
            <a:r>
              <a:rPr kumimoji="1" lang="en-US" altLang="ja-JP" dirty="0">
                <a:hlinkClick r:id="rId3"/>
              </a:rPr>
              <a:t>s12102301404@toyo.jp</a:t>
            </a:r>
            <a:r>
              <a:rPr kumimoji="1" lang="en-US" altLang="ja-JP" dirty="0"/>
              <a:t>, </a:t>
            </a:r>
            <a:r>
              <a:rPr kumimoji="1" lang="en-US" altLang="ja-JP" dirty="0">
                <a:hlinkClick r:id="rId4"/>
              </a:rPr>
              <a:t>k</a:t>
            </a:r>
            <a:r>
              <a:rPr lang="en-US" altLang="ja-JP" dirty="0">
                <a:hlinkClick r:id="rId4"/>
              </a:rPr>
              <a:t>ishimoto.research@gmail.com</a:t>
            </a:r>
            <a:endParaRPr lang="en-US" altLang="ja-JP" dirty="0"/>
          </a:p>
          <a:p>
            <a:r>
              <a:rPr lang="en-US" altLang="ja-JP" dirty="0"/>
              <a:t>GitHub: </a:t>
            </a:r>
            <a:r>
              <a:rPr lang="en-US" altLang="ja-JP" dirty="0">
                <a:hlinkClick r:id="rId5"/>
              </a:rPr>
              <a:t>https://github.com/Kishimoto-econ</a:t>
            </a:r>
            <a:endParaRPr lang="en-US" altLang="ja-JP" dirty="0"/>
          </a:p>
        </p:txBody>
      </p:sp>
      <p:sp>
        <p:nvSpPr>
          <p:cNvPr id="4" name="スライド番号プレースホルダー 3">
            <a:extLst>
              <a:ext uri="{FF2B5EF4-FFF2-40B4-BE49-F238E27FC236}">
                <a16:creationId xmlns:a16="http://schemas.microsoft.com/office/drawing/2014/main" id="{F4105175-FC26-A552-D70D-C55791D3A07C}"/>
              </a:ext>
            </a:extLst>
          </p:cNvPr>
          <p:cNvSpPr>
            <a:spLocks noGrp="1"/>
          </p:cNvSpPr>
          <p:nvPr>
            <p:ph type="sldNum" sz="quarter" idx="12"/>
          </p:nvPr>
        </p:nvSpPr>
        <p:spPr/>
        <p:txBody>
          <a:bodyPr/>
          <a:lstStyle/>
          <a:p>
            <a:fld id="{D015B3C7-C04D-468F-B3C4-7E2FB8E54005}" type="slidenum">
              <a:rPr kumimoji="1" lang="ja-JP" altLang="en-US" smtClean="0"/>
              <a:t>1</a:t>
            </a:fld>
            <a:endParaRPr kumimoji="1" lang="ja-JP" altLang="en-US"/>
          </a:p>
        </p:txBody>
      </p:sp>
      <p:sp>
        <p:nvSpPr>
          <p:cNvPr id="5" name="テキスト ボックス 4">
            <a:extLst>
              <a:ext uri="{FF2B5EF4-FFF2-40B4-BE49-F238E27FC236}">
                <a16:creationId xmlns:a16="http://schemas.microsoft.com/office/drawing/2014/main" id="{FBE6FC75-FF76-D04C-95EC-AABF4A2014C1}"/>
              </a:ext>
            </a:extLst>
          </p:cNvPr>
          <p:cNvSpPr txBox="1"/>
          <p:nvPr/>
        </p:nvSpPr>
        <p:spPr>
          <a:xfrm>
            <a:off x="4404853" y="1252578"/>
            <a:ext cx="3077497" cy="461665"/>
          </a:xfrm>
          <a:prstGeom prst="rect">
            <a:avLst/>
          </a:prstGeom>
          <a:noFill/>
        </p:spPr>
        <p:txBody>
          <a:bodyPr wrap="square" rtlCol="0">
            <a:spAutoFit/>
          </a:bodyPr>
          <a:lstStyle/>
          <a:p>
            <a:pPr algn="ctr"/>
            <a:r>
              <a:rPr kumimoji="1" lang="ja-JP" altLang="en-US" sz="2400" dirty="0">
                <a:latin typeface="メイリオ" panose="020B0604030504040204" pitchFamily="50" charset="-128"/>
                <a:ea typeface="メイリオ" panose="020B0604030504040204" pitchFamily="50" charset="-128"/>
              </a:rPr>
              <a:t>研究発表大会</a:t>
            </a:r>
          </a:p>
        </p:txBody>
      </p:sp>
      <p:cxnSp>
        <p:nvCxnSpPr>
          <p:cNvPr id="6" name="直線コネクタ 5">
            <a:extLst>
              <a:ext uri="{FF2B5EF4-FFF2-40B4-BE49-F238E27FC236}">
                <a16:creationId xmlns:a16="http://schemas.microsoft.com/office/drawing/2014/main" id="{EF570F2C-6E6D-A972-D747-B24F97047F20}"/>
              </a:ext>
            </a:extLst>
          </p:cNvPr>
          <p:cNvCxnSpPr/>
          <p:nvPr/>
        </p:nvCxnSpPr>
        <p:spPr>
          <a:xfrm>
            <a:off x="0" y="2084438"/>
            <a:ext cx="12192000" cy="0"/>
          </a:xfrm>
          <a:prstGeom prst="line">
            <a:avLst/>
          </a:prstGeom>
          <a:ln/>
        </p:spPr>
        <p:style>
          <a:lnRef idx="3">
            <a:schemeClr val="accent1"/>
          </a:lnRef>
          <a:fillRef idx="0">
            <a:schemeClr val="accent1"/>
          </a:fillRef>
          <a:effectRef idx="2">
            <a:schemeClr val="accent1"/>
          </a:effectRef>
          <a:fontRef idx="minor">
            <a:schemeClr val="tx1"/>
          </a:fontRef>
        </p:style>
      </p:cxnSp>
      <p:cxnSp>
        <p:nvCxnSpPr>
          <p:cNvPr id="7" name="直線コネクタ 6">
            <a:extLst>
              <a:ext uri="{FF2B5EF4-FFF2-40B4-BE49-F238E27FC236}">
                <a16:creationId xmlns:a16="http://schemas.microsoft.com/office/drawing/2014/main" id="{0724FE2F-5DB2-EA9A-192B-3E3DDAA66935}"/>
              </a:ext>
            </a:extLst>
          </p:cNvPr>
          <p:cNvCxnSpPr/>
          <p:nvPr/>
        </p:nvCxnSpPr>
        <p:spPr>
          <a:xfrm>
            <a:off x="0" y="3685868"/>
            <a:ext cx="12192000" cy="0"/>
          </a:xfrm>
          <a:prstGeom prst="line">
            <a:avLst/>
          </a:prstGeom>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7715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ADDE74-CD02-14E2-E1EA-F67B7E13A8F5}"/>
              </a:ext>
            </a:extLst>
          </p:cNvPr>
          <p:cNvSpPr>
            <a:spLocks noGrp="1"/>
          </p:cNvSpPr>
          <p:nvPr>
            <p:ph type="title"/>
          </p:nvPr>
        </p:nvSpPr>
        <p:spPr/>
        <p:txBody>
          <a:bodyPr/>
          <a:lstStyle/>
          <a:p>
            <a:r>
              <a:rPr lang="ja-JP" altLang="en-US" dirty="0"/>
              <a:t>「サーチ理論」と「</a:t>
            </a:r>
            <a:r>
              <a:rPr lang="en-US" altLang="ja-JP" dirty="0"/>
              <a:t>UV</a:t>
            </a:r>
            <a:r>
              <a:rPr lang="ja-JP" altLang="en-US" dirty="0"/>
              <a:t>曲線」の簡単な説明</a:t>
            </a:r>
            <a:endParaRPr kumimoji="1" lang="ja-JP" altLang="en-US" dirty="0"/>
          </a:p>
        </p:txBody>
      </p:sp>
      <p:sp>
        <p:nvSpPr>
          <p:cNvPr id="3" name="コンテンツ プレースホルダー 2">
            <a:extLst>
              <a:ext uri="{FF2B5EF4-FFF2-40B4-BE49-F238E27FC236}">
                <a16:creationId xmlns:a16="http://schemas.microsoft.com/office/drawing/2014/main" id="{CD1F3EF3-DD60-C727-7629-9917CDB615C7}"/>
              </a:ext>
            </a:extLst>
          </p:cNvPr>
          <p:cNvSpPr>
            <a:spLocks noGrp="1"/>
          </p:cNvSpPr>
          <p:nvPr>
            <p:ph idx="1"/>
          </p:nvPr>
        </p:nvSpPr>
        <p:spPr>
          <a:xfrm>
            <a:off x="838200" y="1163782"/>
            <a:ext cx="10515600" cy="5192568"/>
          </a:xfrm>
        </p:spPr>
        <p:txBody>
          <a:bodyPr>
            <a:normAutofit/>
          </a:bodyPr>
          <a:lstStyle/>
          <a:p>
            <a:pPr>
              <a:buFont typeface="Wingdings" panose="05000000000000000000" pitchFamily="2" charset="2"/>
              <a:buChar char="u"/>
            </a:pPr>
            <a:r>
              <a:rPr kumimoji="1" lang="ja-JP" altLang="en-US" dirty="0"/>
              <a:t>労働経済学におけるサーチ理論</a:t>
            </a:r>
            <a:endParaRPr kumimoji="1" lang="en-US" altLang="ja-JP" dirty="0"/>
          </a:p>
          <a:p>
            <a:pPr lvl="1"/>
            <a:r>
              <a:rPr lang="ja-JP" altLang="en-US" dirty="0"/>
              <a:t>古典派的な労働市場</a:t>
            </a:r>
            <a:endParaRPr lang="en-US" altLang="ja-JP" dirty="0"/>
          </a:p>
          <a:p>
            <a:pPr lvl="2"/>
            <a:r>
              <a:rPr lang="ja-JP" altLang="en-US" u="sng" dirty="0"/>
              <a:t>求人と求職者のマッチングは，需給曲線</a:t>
            </a:r>
            <a:r>
              <a:rPr lang="en-US" altLang="ja-JP" u="sng" dirty="0"/>
              <a:t>(</a:t>
            </a:r>
            <a:r>
              <a:rPr lang="ja-JP" altLang="en-US" u="sng" dirty="0"/>
              <a:t>完全市場</a:t>
            </a:r>
            <a:r>
              <a:rPr lang="en-US" altLang="ja-JP" u="sng" dirty="0"/>
              <a:t>)</a:t>
            </a:r>
            <a:r>
              <a:rPr lang="ja-JP" altLang="en-US" dirty="0"/>
              <a:t>で決まる</a:t>
            </a:r>
            <a:endParaRPr lang="en-US" altLang="ja-JP" u="sng" dirty="0"/>
          </a:p>
          <a:p>
            <a:pPr lvl="2">
              <a:buFont typeface="Wingdings" panose="05000000000000000000" pitchFamily="2" charset="2"/>
              <a:buChar char="Ø"/>
            </a:pPr>
            <a:r>
              <a:rPr lang="ja-JP" altLang="en-US" dirty="0"/>
              <a:t>しかし，現実的には求人があるのに仕事につけない人がいる</a:t>
            </a:r>
            <a:endParaRPr lang="en-US" altLang="ja-JP" dirty="0"/>
          </a:p>
          <a:p>
            <a:pPr lvl="1"/>
            <a:r>
              <a:rPr lang="ja-JP" altLang="en-US" dirty="0">
                <a:solidFill>
                  <a:srgbClr val="FF0000"/>
                </a:solidFill>
              </a:rPr>
              <a:t>サーチ理論</a:t>
            </a:r>
            <a:endParaRPr lang="en-US" altLang="ja-JP" dirty="0">
              <a:solidFill>
                <a:srgbClr val="FF0000"/>
              </a:solidFill>
            </a:endParaRPr>
          </a:p>
          <a:p>
            <a:pPr lvl="2"/>
            <a:r>
              <a:rPr lang="ja-JP" altLang="en-US" dirty="0"/>
              <a:t>労働市場の不完全性を考慮</a:t>
            </a:r>
            <a:endParaRPr lang="en-US" altLang="ja-JP" dirty="0"/>
          </a:p>
          <a:p>
            <a:pPr lvl="2">
              <a:buFont typeface="Wingdings" panose="05000000000000000000" pitchFamily="2" charset="2"/>
              <a:buChar char="Ø"/>
            </a:pPr>
            <a:r>
              <a:rPr lang="ja-JP" altLang="en-US" dirty="0"/>
              <a:t>「求人があるのに仕事につけない」を分析可能に</a:t>
            </a:r>
            <a:endParaRPr lang="en-US" altLang="ja-JP" dirty="0"/>
          </a:p>
          <a:p>
            <a:pPr>
              <a:buFont typeface="Wingdings" panose="05000000000000000000" pitchFamily="2" charset="2"/>
              <a:buChar char="u"/>
            </a:pPr>
            <a:r>
              <a:rPr kumimoji="1" lang="en-US" altLang="ja-JP" dirty="0">
                <a:solidFill>
                  <a:srgbClr val="FF0000"/>
                </a:solidFill>
              </a:rPr>
              <a:t>UV</a:t>
            </a:r>
            <a:r>
              <a:rPr kumimoji="1" lang="ja-JP" altLang="en-US" dirty="0">
                <a:solidFill>
                  <a:srgbClr val="FF0000"/>
                </a:solidFill>
              </a:rPr>
              <a:t>曲線</a:t>
            </a:r>
            <a:r>
              <a:rPr kumimoji="1" lang="en-US" altLang="ja-JP" dirty="0"/>
              <a:t>(</a:t>
            </a:r>
            <a:r>
              <a:rPr kumimoji="1" lang="ja-JP" altLang="en-US" dirty="0"/>
              <a:t>図</a:t>
            </a:r>
            <a:r>
              <a:rPr kumimoji="1" lang="en-US" altLang="ja-JP" dirty="0"/>
              <a:t>1)</a:t>
            </a:r>
          </a:p>
          <a:p>
            <a:pPr lvl="1"/>
            <a:r>
              <a:rPr lang="ja-JP" altLang="en-US" dirty="0"/>
              <a:t>労働市場の需要</a:t>
            </a:r>
            <a:r>
              <a:rPr lang="en-US" altLang="ja-JP" dirty="0"/>
              <a:t>(</a:t>
            </a:r>
            <a:r>
              <a:rPr lang="ja-JP" altLang="en-US" dirty="0"/>
              <a:t>求人：縦軸</a:t>
            </a:r>
            <a:r>
              <a:rPr lang="en-US" altLang="ja-JP" dirty="0"/>
              <a:t>)</a:t>
            </a:r>
            <a:r>
              <a:rPr lang="ja-JP" altLang="en-US" dirty="0"/>
              <a:t>と供給</a:t>
            </a:r>
            <a:r>
              <a:rPr lang="en-US" altLang="ja-JP" dirty="0"/>
              <a:t>(</a:t>
            </a:r>
            <a:r>
              <a:rPr lang="ja-JP" altLang="en-US" dirty="0"/>
              <a:t>失業：横軸</a:t>
            </a:r>
            <a:r>
              <a:rPr lang="en-US" altLang="ja-JP" dirty="0"/>
              <a:t>)</a:t>
            </a:r>
            <a:r>
              <a:rPr lang="ja-JP" altLang="en-US" dirty="0"/>
              <a:t>の関係</a:t>
            </a:r>
            <a:endParaRPr lang="en-US" altLang="ja-JP" dirty="0"/>
          </a:p>
          <a:p>
            <a:pPr lvl="1"/>
            <a:r>
              <a:rPr lang="ja-JP" altLang="en-US" dirty="0"/>
              <a:t>右上ほど「求人が多いのに，仕事につけない人が多い」</a:t>
            </a:r>
            <a:endParaRPr lang="en-US" altLang="ja-JP" dirty="0"/>
          </a:p>
          <a:p>
            <a:pPr lvl="2">
              <a:buFont typeface="Wingdings" panose="05000000000000000000" pitchFamily="2" charset="2"/>
              <a:buChar char="Ø"/>
            </a:pPr>
            <a:r>
              <a:rPr lang="ja-JP" altLang="en-US" dirty="0"/>
              <a:t>労働市場のマッチングが非効率</a:t>
            </a:r>
            <a:endParaRPr lang="en-US" altLang="ja-JP" dirty="0"/>
          </a:p>
          <a:p>
            <a:pPr lvl="1"/>
            <a:r>
              <a:rPr kumimoji="1" lang="ja-JP" altLang="en-US" dirty="0"/>
              <a:t>日本の</a:t>
            </a:r>
            <a:r>
              <a:rPr kumimoji="1" lang="en-US" altLang="ja-JP" dirty="0"/>
              <a:t>UV</a:t>
            </a:r>
            <a:r>
              <a:rPr kumimoji="1" lang="ja-JP" altLang="en-US" dirty="0"/>
              <a:t>曲線は右上にシフトしている</a:t>
            </a:r>
            <a:endParaRPr kumimoji="1" lang="en-US" altLang="ja-JP" dirty="0"/>
          </a:p>
        </p:txBody>
      </p:sp>
      <p:sp>
        <p:nvSpPr>
          <p:cNvPr id="4" name="スライド番号プレースホルダー 3">
            <a:extLst>
              <a:ext uri="{FF2B5EF4-FFF2-40B4-BE49-F238E27FC236}">
                <a16:creationId xmlns:a16="http://schemas.microsoft.com/office/drawing/2014/main" id="{04A2174A-F22F-D6B4-8DCB-D25E73DF4850}"/>
              </a:ext>
            </a:extLst>
          </p:cNvPr>
          <p:cNvSpPr>
            <a:spLocks noGrp="1"/>
          </p:cNvSpPr>
          <p:nvPr>
            <p:ph type="sldNum" sz="quarter" idx="12"/>
          </p:nvPr>
        </p:nvSpPr>
        <p:spPr/>
        <p:txBody>
          <a:bodyPr/>
          <a:lstStyle/>
          <a:p>
            <a:fld id="{D015B3C7-C04D-468F-B3C4-7E2FB8E54005}" type="slidenum">
              <a:rPr kumimoji="1" lang="ja-JP" altLang="en-US" smtClean="0"/>
              <a:t>2</a:t>
            </a:fld>
            <a:endParaRPr kumimoji="1" lang="ja-JP" altLang="en-US"/>
          </a:p>
        </p:txBody>
      </p:sp>
      <p:pic>
        <p:nvPicPr>
          <p:cNvPr id="5" name="図 4">
            <a:extLst>
              <a:ext uri="{FF2B5EF4-FFF2-40B4-BE49-F238E27FC236}">
                <a16:creationId xmlns:a16="http://schemas.microsoft.com/office/drawing/2014/main" id="{B8B8F4E9-54CD-E3F5-66F9-9EF879CBB59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89012" y="4266252"/>
            <a:ext cx="3002988" cy="1960127"/>
          </a:xfrm>
          <a:prstGeom prst="rect">
            <a:avLst/>
          </a:prstGeom>
          <a:noFill/>
          <a:ln>
            <a:noFill/>
          </a:ln>
        </p:spPr>
      </p:pic>
      <p:cxnSp>
        <p:nvCxnSpPr>
          <p:cNvPr id="7" name="直線矢印コネクタ 6">
            <a:extLst>
              <a:ext uri="{FF2B5EF4-FFF2-40B4-BE49-F238E27FC236}">
                <a16:creationId xmlns:a16="http://schemas.microsoft.com/office/drawing/2014/main" id="{B037A862-533B-C2BE-6403-5800D329F127}"/>
              </a:ext>
            </a:extLst>
          </p:cNvPr>
          <p:cNvCxnSpPr>
            <a:cxnSpLocks/>
          </p:cNvCxnSpPr>
          <p:nvPr/>
        </p:nvCxnSpPr>
        <p:spPr>
          <a:xfrm flipV="1">
            <a:off x="10068230" y="4758808"/>
            <a:ext cx="1002891" cy="678426"/>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68773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2C6010-F503-EDF4-B1C8-90D51F21E0AA}"/>
              </a:ext>
            </a:extLst>
          </p:cNvPr>
          <p:cNvSpPr>
            <a:spLocks noGrp="1"/>
          </p:cNvSpPr>
          <p:nvPr>
            <p:ph type="title"/>
          </p:nvPr>
        </p:nvSpPr>
        <p:spPr/>
        <p:txBody>
          <a:bodyPr/>
          <a:lstStyle/>
          <a:p>
            <a:r>
              <a:rPr kumimoji="1" lang="ja-JP" altLang="en-US" dirty="0"/>
              <a:t>先行研究</a:t>
            </a:r>
          </a:p>
        </p:txBody>
      </p:sp>
      <p:sp>
        <p:nvSpPr>
          <p:cNvPr id="3" name="コンテンツ プレースホルダー 2">
            <a:extLst>
              <a:ext uri="{FF2B5EF4-FFF2-40B4-BE49-F238E27FC236}">
                <a16:creationId xmlns:a16="http://schemas.microsoft.com/office/drawing/2014/main" id="{D3E978B3-9B8B-1872-30CB-4F651A85DF57}"/>
              </a:ext>
            </a:extLst>
          </p:cNvPr>
          <p:cNvSpPr>
            <a:spLocks noGrp="1"/>
          </p:cNvSpPr>
          <p:nvPr>
            <p:ph idx="1"/>
          </p:nvPr>
        </p:nvSpPr>
        <p:spPr>
          <a:xfrm>
            <a:off x="838200" y="993059"/>
            <a:ext cx="10515600" cy="5728416"/>
          </a:xfrm>
        </p:spPr>
        <p:txBody>
          <a:bodyPr>
            <a:normAutofit lnSpcReduction="10000"/>
          </a:bodyPr>
          <a:lstStyle/>
          <a:p>
            <a:pPr>
              <a:buFont typeface="Wingdings" panose="05000000000000000000" pitchFamily="2" charset="2"/>
              <a:buChar char="u"/>
            </a:pPr>
            <a:r>
              <a:rPr lang="ja-JP" altLang="ja-JP" dirty="0"/>
              <a:t>石崎・加藤 </a:t>
            </a:r>
            <a:r>
              <a:rPr lang="en-US" altLang="ja-JP" dirty="0"/>
              <a:t>(2003)</a:t>
            </a:r>
          </a:p>
          <a:p>
            <a:pPr lvl="1"/>
            <a:r>
              <a:rPr lang="ja-JP" altLang="ja-JP" dirty="0"/>
              <a:t>一次同次制約</a:t>
            </a:r>
            <a:r>
              <a:rPr lang="en-US" altLang="ja-JP" dirty="0"/>
              <a:t>(</a:t>
            </a:r>
            <a:r>
              <a:rPr lang="ja-JP" altLang="en-US" dirty="0"/>
              <a:t>規模に関して収穫一定</a:t>
            </a:r>
            <a:r>
              <a:rPr lang="en-US" altLang="ja-JP" dirty="0"/>
              <a:t>)</a:t>
            </a:r>
            <a:r>
              <a:rPr lang="ja-JP" altLang="ja-JP" dirty="0"/>
              <a:t>を課したコブ・ダグラス型のマッチング関数を推計</a:t>
            </a:r>
            <a:endParaRPr lang="en-US" altLang="ja-JP" dirty="0"/>
          </a:p>
          <a:p>
            <a:pPr lvl="1"/>
            <a:r>
              <a:rPr lang="ja-JP" altLang="ja-JP" dirty="0"/>
              <a:t>日米比較を通じて</a:t>
            </a:r>
            <a:r>
              <a:rPr lang="ja-JP" altLang="en-US" dirty="0"/>
              <a:t>，</a:t>
            </a:r>
            <a:r>
              <a:rPr lang="ja-JP" altLang="ja-JP" dirty="0"/>
              <a:t>日本の労働市場の</a:t>
            </a:r>
            <a:r>
              <a:rPr lang="ja-JP" altLang="ja-JP" dirty="0">
                <a:solidFill>
                  <a:srgbClr val="FF0000"/>
                </a:solidFill>
              </a:rPr>
              <a:t>マッチング効率性</a:t>
            </a:r>
            <a:r>
              <a:rPr lang="en-US" altLang="ja-JP" dirty="0"/>
              <a:t>(</a:t>
            </a:r>
            <a:r>
              <a:rPr lang="ja-JP" altLang="ja-JP" dirty="0"/>
              <a:t>求人と求職者が無駄なく最適に結びつく度合い</a:t>
            </a:r>
            <a:r>
              <a:rPr lang="en-US" altLang="ja-JP" dirty="0"/>
              <a:t>)</a:t>
            </a:r>
            <a:r>
              <a:rPr lang="ja-JP" altLang="ja-JP" dirty="0"/>
              <a:t>を分析 </a:t>
            </a:r>
            <a:endParaRPr lang="en-US" altLang="ja-JP" dirty="0"/>
          </a:p>
          <a:p>
            <a:pPr lvl="1"/>
            <a:r>
              <a:rPr lang="ja-JP" altLang="en-US" dirty="0"/>
              <a:t>推計期間は，</a:t>
            </a:r>
            <a:r>
              <a:rPr lang="en-US" altLang="ja-JP" dirty="0"/>
              <a:t>1980-2002</a:t>
            </a:r>
            <a:r>
              <a:rPr lang="ja-JP" altLang="ja-JP" dirty="0"/>
              <a:t>年</a:t>
            </a:r>
          </a:p>
          <a:p>
            <a:pPr>
              <a:buFont typeface="Wingdings" panose="05000000000000000000" pitchFamily="2" charset="2"/>
              <a:buChar char="u"/>
            </a:pPr>
            <a:r>
              <a:rPr lang="ja-JP" altLang="en-US" dirty="0"/>
              <a:t>本報告の特徴</a:t>
            </a:r>
            <a:endParaRPr lang="en-US" altLang="ja-JP" dirty="0"/>
          </a:p>
          <a:p>
            <a:pPr lvl="1"/>
            <a:r>
              <a:rPr lang="ja-JP" altLang="ja-JP" dirty="0"/>
              <a:t>日本の</a:t>
            </a:r>
            <a:r>
              <a:rPr lang="ja-JP" altLang="en-US" dirty="0"/>
              <a:t>労働市場の「</a:t>
            </a:r>
            <a:r>
              <a:rPr lang="ja-JP" altLang="ja-JP" dirty="0"/>
              <a:t>構造変化</a:t>
            </a:r>
            <a:r>
              <a:rPr lang="ja-JP" altLang="en-US" dirty="0"/>
              <a:t>」</a:t>
            </a:r>
            <a:r>
              <a:rPr lang="ja-JP" altLang="ja-JP" dirty="0"/>
              <a:t>に着目</a:t>
            </a:r>
            <a:r>
              <a:rPr lang="ja-JP" altLang="en-US" dirty="0"/>
              <a:t>して，マッチング効率性の変化を分析</a:t>
            </a:r>
            <a:r>
              <a:rPr lang="en-US" altLang="ja-JP" dirty="0"/>
              <a:t>(</a:t>
            </a:r>
            <a:r>
              <a:rPr lang="ja-JP" altLang="en-US" dirty="0"/>
              <a:t>推計期間：</a:t>
            </a:r>
            <a:r>
              <a:rPr lang="en-US" altLang="ja-JP" dirty="0"/>
              <a:t>1963-2024</a:t>
            </a:r>
            <a:r>
              <a:rPr lang="ja-JP" altLang="en-US" dirty="0"/>
              <a:t>年</a:t>
            </a:r>
            <a:r>
              <a:rPr lang="en-US" altLang="ja-JP" dirty="0"/>
              <a:t>)</a:t>
            </a:r>
          </a:p>
          <a:p>
            <a:pPr lvl="2">
              <a:buFont typeface="Wingdings" panose="05000000000000000000" pitchFamily="2" charset="2"/>
              <a:buChar char="ü"/>
            </a:pPr>
            <a:r>
              <a:rPr lang="ja-JP" altLang="en-US" dirty="0"/>
              <a:t>「</a:t>
            </a:r>
            <a:r>
              <a:rPr lang="ja-JP" altLang="ja-JP" dirty="0">
                <a:solidFill>
                  <a:srgbClr val="FF0000"/>
                </a:solidFill>
              </a:rPr>
              <a:t>高度成長期</a:t>
            </a:r>
            <a:r>
              <a:rPr lang="en-US" altLang="ja-JP" dirty="0"/>
              <a:t>(1964-72</a:t>
            </a:r>
            <a:r>
              <a:rPr lang="ja-JP" altLang="ja-JP" dirty="0"/>
              <a:t>年</a:t>
            </a:r>
            <a:r>
              <a:rPr lang="en-US" altLang="ja-JP" dirty="0"/>
              <a:t>)</a:t>
            </a:r>
            <a:r>
              <a:rPr lang="ja-JP" altLang="en-US" dirty="0"/>
              <a:t>」</a:t>
            </a:r>
            <a:endParaRPr lang="en-US" altLang="ja-JP" dirty="0"/>
          </a:p>
          <a:p>
            <a:pPr lvl="2">
              <a:buFont typeface="Wingdings" panose="05000000000000000000" pitchFamily="2" charset="2"/>
              <a:buChar char="ü"/>
            </a:pPr>
            <a:r>
              <a:rPr lang="ja-JP" altLang="en-US" dirty="0"/>
              <a:t>「</a:t>
            </a:r>
            <a:r>
              <a:rPr lang="ja-JP" altLang="ja-JP" dirty="0">
                <a:solidFill>
                  <a:srgbClr val="FF0000"/>
                </a:solidFill>
              </a:rPr>
              <a:t>安定成長期</a:t>
            </a:r>
            <a:r>
              <a:rPr lang="en-US" altLang="ja-JP" dirty="0"/>
              <a:t>(1973-85</a:t>
            </a:r>
            <a:r>
              <a:rPr lang="ja-JP" altLang="ja-JP" dirty="0"/>
              <a:t>年</a:t>
            </a:r>
            <a:r>
              <a:rPr lang="en-US" altLang="ja-JP" dirty="0"/>
              <a:t>)</a:t>
            </a:r>
            <a:r>
              <a:rPr lang="ja-JP" altLang="en-US" dirty="0"/>
              <a:t>」</a:t>
            </a:r>
            <a:endParaRPr lang="en-US" altLang="ja-JP" dirty="0"/>
          </a:p>
          <a:p>
            <a:pPr lvl="2">
              <a:buFont typeface="Wingdings" panose="05000000000000000000" pitchFamily="2" charset="2"/>
              <a:buChar char="ü"/>
            </a:pPr>
            <a:r>
              <a:rPr lang="ja-JP" altLang="en-US" dirty="0"/>
              <a:t>「</a:t>
            </a:r>
            <a:r>
              <a:rPr lang="ja-JP" altLang="ja-JP" dirty="0">
                <a:solidFill>
                  <a:srgbClr val="FF0000"/>
                </a:solidFill>
              </a:rPr>
              <a:t>バブル期</a:t>
            </a:r>
            <a:r>
              <a:rPr lang="en-US" altLang="ja-JP" dirty="0"/>
              <a:t>(1986-89</a:t>
            </a:r>
            <a:r>
              <a:rPr lang="ja-JP" altLang="ja-JP" dirty="0"/>
              <a:t>年</a:t>
            </a:r>
            <a:r>
              <a:rPr lang="en-US" altLang="ja-JP" dirty="0"/>
              <a:t>)</a:t>
            </a:r>
            <a:r>
              <a:rPr lang="ja-JP" altLang="en-US" dirty="0"/>
              <a:t>」</a:t>
            </a:r>
            <a:endParaRPr lang="en-US" altLang="ja-JP" dirty="0"/>
          </a:p>
          <a:p>
            <a:pPr lvl="2">
              <a:buFont typeface="Wingdings" panose="05000000000000000000" pitchFamily="2" charset="2"/>
              <a:buChar char="ü"/>
            </a:pPr>
            <a:r>
              <a:rPr lang="ja-JP" altLang="en-US" dirty="0"/>
              <a:t>「</a:t>
            </a:r>
            <a:r>
              <a:rPr lang="ja-JP" altLang="en-US" dirty="0">
                <a:solidFill>
                  <a:srgbClr val="FF0000"/>
                </a:solidFill>
              </a:rPr>
              <a:t>バブル崩壊以後</a:t>
            </a:r>
            <a:r>
              <a:rPr lang="en-US" altLang="ja-JP" dirty="0"/>
              <a:t>(1990-2024</a:t>
            </a:r>
            <a:r>
              <a:rPr lang="ja-JP" altLang="en-US" dirty="0"/>
              <a:t>年</a:t>
            </a:r>
            <a:r>
              <a:rPr lang="en-US" altLang="ja-JP" dirty="0"/>
              <a:t>)</a:t>
            </a:r>
            <a:r>
              <a:rPr lang="ja-JP" altLang="en-US" dirty="0"/>
              <a:t>」</a:t>
            </a:r>
            <a:endParaRPr lang="en-US" altLang="ja-JP" dirty="0"/>
          </a:p>
          <a:p>
            <a:pPr lvl="2">
              <a:buFont typeface="Wingdings" panose="05000000000000000000" pitchFamily="2" charset="2"/>
              <a:buChar char="ü"/>
            </a:pPr>
            <a:r>
              <a:rPr lang="ja-JP" altLang="en-US" dirty="0"/>
              <a:t>「</a:t>
            </a:r>
            <a:r>
              <a:rPr lang="ja-JP" altLang="en-US" dirty="0">
                <a:solidFill>
                  <a:srgbClr val="FF0000"/>
                </a:solidFill>
              </a:rPr>
              <a:t>小泉構造改革期</a:t>
            </a:r>
            <a:r>
              <a:rPr lang="en-US" altLang="ja-JP" dirty="0"/>
              <a:t>(2003-24</a:t>
            </a:r>
            <a:r>
              <a:rPr lang="ja-JP" altLang="en-US" dirty="0"/>
              <a:t>年</a:t>
            </a:r>
            <a:r>
              <a:rPr lang="en-US" altLang="ja-JP" dirty="0"/>
              <a:t>)</a:t>
            </a:r>
            <a:r>
              <a:rPr lang="ja-JP" altLang="en-US" dirty="0"/>
              <a:t>」</a:t>
            </a:r>
            <a:endParaRPr lang="en-US" altLang="ja-JP" dirty="0"/>
          </a:p>
          <a:p>
            <a:pPr lvl="2">
              <a:buFont typeface="Wingdings" panose="05000000000000000000" pitchFamily="2" charset="2"/>
              <a:buChar char="ü"/>
            </a:pPr>
            <a:r>
              <a:rPr lang="ja-JP" altLang="en-US" dirty="0"/>
              <a:t>「</a:t>
            </a:r>
            <a:r>
              <a:rPr lang="ja-JP" altLang="ja-JP" dirty="0">
                <a:solidFill>
                  <a:srgbClr val="FF0000"/>
                </a:solidFill>
              </a:rPr>
              <a:t>リーマン・ショック期</a:t>
            </a:r>
            <a:r>
              <a:rPr lang="en-US" altLang="ja-JP" dirty="0"/>
              <a:t>(2008-09</a:t>
            </a:r>
            <a:r>
              <a:rPr lang="ja-JP" altLang="ja-JP" dirty="0"/>
              <a:t>年</a:t>
            </a:r>
            <a:r>
              <a:rPr lang="en-US" altLang="ja-JP" dirty="0"/>
              <a:t>)</a:t>
            </a:r>
            <a:r>
              <a:rPr lang="ja-JP" altLang="en-US" dirty="0"/>
              <a:t>」</a:t>
            </a:r>
            <a:endParaRPr lang="en-US" altLang="ja-JP" dirty="0"/>
          </a:p>
          <a:p>
            <a:pPr lvl="2">
              <a:buFont typeface="Wingdings" panose="05000000000000000000" pitchFamily="2" charset="2"/>
              <a:buChar char="ü"/>
            </a:pPr>
            <a:r>
              <a:rPr lang="ja-JP" altLang="en-US" dirty="0"/>
              <a:t>「</a:t>
            </a:r>
            <a:r>
              <a:rPr lang="ja-JP" altLang="ja-JP" dirty="0">
                <a:solidFill>
                  <a:srgbClr val="FF0000"/>
                </a:solidFill>
              </a:rPr>
              <a:t>コロナショック期</a:t>
            </a:r>
            <a:r>
              <a:rPr lang="en-US" altLang="ja-JP" dirty="0"/>
              <a:t>(2020-24</a:t>
            </a:r>
            <a:r>
              <a:rPr lang="ja-JP" altLang="ja-JP" dirty="0"/>
              <a:t>年</a:t>
            </a:r>
            <a:r>
              <a:rPr lang="en-US" altLang="ja-JP" dirty="0"/>
              <a:t>)</a:t>
            </a:r>
          </a:p>
        </p:txBody>
      </p:sp>
      <p:sp>
        <p:nvSpPr>
          <p:cNvPr id="4" name="スライド番号プレースホルダー 3">
            <a:extLst>
              <a:ext uri="{FF2B5EF4-FFF2-40B4-BE49-F238E27FC236}">
                <a16:creationId xmlns:a16="http://schemas.microsoft.com/office/drawing/2014/main" id="{3A0851CB-DB5E-2DDE-2776-06BF3E55BB78}"/>
              </a:ext>
            </a:extLst>
          </p:cNvPr>
          <p:cNvSpPr>
            <a:spLocks noGrp="1"/>
          </p:cNvSpPr>
          <p:nvPr>
            <p:ph type="sldNum" sz="quarter" idx="12"/>
          </p:nvPr>
        </p:nvSpPr>
        <p:spPr/>
        <p:txBody>
          <a:bodyPr/>
          <a:lstStyle/>
          <a:p>
            <a:fld id="{D015B3C7-C04D-468F-B3C4-7E2FB8E54005}" type="slidenum">
              <a:rPr kumimoji="1" lang="ja-JP" altLang="en-US" smtClean="0"/>
              <a:t>3</a:t>
            </a:fld>
            <a:endParaRPr kumimoji="1" lang="ja-JP" altLang="en-US"/>
          </a:p>
        </p:txBody>
      </p:sp>
    </p:spTree>
    <p:extLst>
      <p:ext uri="{BB962C8B-B14F-4D97-AF65-F5344CB8AC3E}">
        <p14:creationId xmlns:p14="http://schemas.microsoft.com/office/powerpoint/2010/main" val="732969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0F9235-D610-F01B-94F8-3C90F17E0861}"/>
              </a:ext>
            </a:extLst>
          </p:cNvPr>
          <p:cNvSpPr>
            <a:spLocks noGrp="1"/>
          </p:cNvSpPr>
          <p:nvPr>
            <p:ph type="title"/>
          </p:nvPr>
        </p:nvSpPr>
        <p:spPr/>
        <p:txBody>
          <a:bodyPr/>
          <a:lstStyle/>
          <a:p>
            <a:r>
              <a:rPr kumimoji="1" lang="ja-JP" altLang="en-US" dirty="0"/>
              <a:t>推計モデルの概要</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171A813C-D3E7-1EC2-5B2A-0F1A1BE03650}"/>
                  </a:ext>
                </a:extLst>
              </p:cNvPr>
              <p:cNvSpPr>
                <a:spLocks noGrp="1"/>
              </p:cNvSpPr>
              <p:nvPr>
                <p:ph idx="1"/>
              </p:nvPr>
            </p:nvSpPr>
            <p:spPr>
              <a:xfrm>
                <a:off x="838200" y="1081548"/>
                <a:ext cx="10515600" cy="5456904"/>
              </a:xfrm>
            </p:spPr>
            <p:txBody>
              <a:bodyPr>
                <a:normAutofit lnSpcReduction="10000"/>
              </a:bodyPr>
              <a:lstStyle/>
              <a:p>
                <a:r>
                  <a:rPr lang="ja-JP" altLang="ja-JP" dirty="0"/>
                  <a:t>新規雇用者数</a:t>
                </a:r>
                <a14:m>
                  <m:oMath xmlns:m="http://schemas.openxmlformats.org/officeDocument/2006/math">
                    <m:sSub>
                      <m:sSubPr>
                        <m:ctrlPr>
                          <a:rPr lang="ja-JP" altLang="ja-JP" i="1">
                            <a:latin typeface="Cambria Math" panose="02040503050406030204" pitchFamily="18" charset="0"/>
                          </a:rPr>
                        </m:ctrlPr>
                      </m:sSubPr>
                      <m:e>
                        <m:r>
                          <a:rPr lang="en-US" altLang="ja-JP" i="1">
                            <a:latin typeface="Cambria Math" panose="02040503050406030204" pitchFamily="18" charset="0"/>
                          </a:rPr>
                          <m:t>𝑒</m:t>
                        </m:r>
                      </m:e>
                      <m:sub>
                        <m:r>
                          <a:rPr lang="en-US" altLang="ja-JP" i="1">
                            <a:latin typeface="Cambria Math" panose="02040503050406030204" pitchFamily="18" charset="0"/>
                          </a:rPr>
                          <m:t>𝑡</m:t>
                        </m:r>
                      </m:sub>
                    </m:sSub>
                  </m:oMath>
                </a14:m>
                <a:r>
                  <a:rPr lang="ja-JP" altLang="ja-JP" dirty="0"/>
                  <a:t>は，求人数</a:t>
                </a:r>
                <a14:m>
                  <m:oMath xmlns:m="http://schemas.openxmlformats.org/officeDocument/2006/math">
                    <m:sSub>
                      <m:sSubPr>
                        <m:ctrlPr>
                          <a:rPr lang="ja-JP" altLang="ja-JP" i="1">
                            <a:latin typeface="Cambria Math" panose="02040503050406030204" pitchFamily="18" charset="0"/>
                          </a:rPr>
                        </m:ctrlPr>
                      </m:sSubPr>
                      <m:e>
                        <m:r>
                          <a:rPr lang="en-US" altLang="ja-JP" i="1">
                            <a:latin typeface="Cambria Math" panose="02040503050406030204" pitchFamily="18" charset="0"/>
                          </a:rPr>
                          <m:t>𝑚</m:t>
                        </m:r>
                      </m:e>
                      <m:sub>
                        <m:r>
                          <a:rPr lang="en-US" altLang="ja-JP" i="1">
                            <a:latin typeface="Cambria Math" panose="02040503050406030204" pitchFamily="18" charset="0"/>
                          </a:rPr>
                          <m:t>𝑡</m:t>
                        </m:r>
                        <m:r>
                          <a:rPr lang="en-US" altLang="ja-JP" i="1">
                            <a:latin typeface="Cambria Math" panose="02040503050406030204" pitchFamily="18" charset="0"/>
                          </a:rPr>
                          <m:t>−1</m:t>
                        </m:r>
                      </m:sub>
                    </m:sSub>
                  </m:oMath>
                </a14:m>
                <a:r>
                  <a:rPr lang="ja-JP" altLang="ja-JP" dirty="0"/>
                  <a:t>と失業者数</a:t>
                </a:r>
                <a14:m>
                  <m:oMath xmlns:m="http://schemas.openxmlformats.org/officeDocument/2006/math">
                    <m:sSub>
                      <m:sSubPr>
                        <m:ctrlPr>
                          <a:rPr lang="ja-JP" altLang="ja-JP" i="1">
                            <a:latin typeface="Cambria Math" panose="02040503050406030204" pitchFamily="18" charset="0"/>
                          </a:rPr>
                        </m:ctrlPr>
                      </m:sSubPr>
                      <m:e>
                        <m:r>
                          <a:rPr lang="en-US" altLang="ja-JP" i="1">
                            <a:latin typeface="Cambria Math" panose="02040503050406030204" pitchFamily="18" charset="0"/>
                          </a:rPr>
                          <m:t>𝑢</m:t>
                        </m:r>
                      </m:e>
                      <m:sub>
                        <m:r>
                          <a:rPr lang="en-US" altLang="ja-JP" i="1">
                            <a:latin typeface="Cambria Math" panose="02040503050406030204" pitchFamily="18" charset="0"/>
                          </a:rPr>
                          <m:t>𝑡</m:t>
                        </m:r>
                        <m:r>
                          <a:rPr lang="en-US" altLang="ja-JP" i="1">
                            <a:latin typeface="Cambria Math" panose="02040503050406030204" pitchFamily="18" charset="0"/>
                          </a:rPr>
                          <m:t>−1</m:t>
                        </m:r>
                      </m:sub>
                    </m:sSub>
                  </m:oMath>
                </a14:m>
                <a:r>
                  <a:rPr lang="ja-JP" altLang="ja-JP" dirty="0"/>
                  <a:t>のコブ・ダグラス型関数</a:t>
                </a:r>
                <a:r>
                  <a:rPr lang="ja-JP" altLang="en-US" dirty="0"/>
                  <a:t>として表す．</a:t>
                </a:r>
                <a:endParaRPr lang="en-US" altLang="ja-JP" b="0" dirty="0"/>
              </a:p>
              <a:p>
                <a:pPr marL="0" indent="0">
                  <a:buNone/>
                </a:pPr>
                <a:endParaRPr lang="en-US" altLang="ja-JP" dirty="0"/>
              </a:p>
              <a:p>
                <a:r>
                  <a:rPr lang="en-US" altLang="ja-JP" dirty="0"/>
                  <a:t>(1)</a:t>
                </a:r>
                <a:r>
                  <a:rPr lang="ja-JP" altLang="en-US" dirty="0"/>
                  <a:t>式を対数表示して，推計式を定式化する．</a:t>
                </a:r>
                <a:endParaRPr lang="en-US" altLang="ja-JP" dirty="0"/>
              </a:p>
              <a:p>
                <a:pPr marL="0" indent="0">
                  <a:buNone/>
                </a:pPr>
                <a:endParaRPr lang="en-US" altLang="ja-JP" dirty="0"/>
              </a:p>
              <a:p>
                <a:pPr marL="0" indent="0">
                  <a:buNone/>
                </a:pPr>
                <a:endParaRPr lang="en-US" altLang="ja-JP" dirty="0"/>
              </a:p>
              <a:p>
                <a:r>
                  <a:rPr lang="ja-JP" altLang="en-US" dirty="0"/>
                  <a:t>期間区分ごとの定数項ダミーと係数ダミーを加えて推定式を定式化する．</a:t>
                </a:r>
                <a:endParaRPr lang="ja-JP" altLang="ja-JP" sz="1800" dirty="0"/>
              </a:p>
              <a:p>
                <a:pPr marL="0" indent="0">
                  <a:buNone/>
                </a:pPr>
                <a:endParaRPr lang="en-US" altLang="ja-JP" sz="1800" i="1" dirty="0"/>
              </a:p>
              <a:p>
                <a:pPr marL="0" indent="0">
                  <a:buNone/>
                </a:pPr>
                <a:endParaRPr lang="en-US" altLang="ja-JP" sz="1800" b="0" dirty="0"/>
              </a:p>
              <a:p>
                <a:pPr marL="0" indent="0">
                  <a:buNone/>
                </a:pPr>
                <a:endParaRPr lang="en-US" altLang="ja-JP" sz="1800" b="0" dirty="0"/>
              </a:p>
              <a:p>
                <a:pPr marL="0" indent="0">
                  <a:buNone/>
                </a:pPr>
                <a:endParaRPr lang="en-US" altLang="ja-JP" sz="1800" b="0" dirty="0"/>
              </a:p>
              <a:p>
                <a:pPr marL="0" indent="0">
                  <a:buNone/>
                </a:pPr>
                <a:endParaRPr lang="en-US" altLang="ja-JP" b="0" dirty="0"/>
              </a:p>
              <a:p>
                <a:pPr marL="0" indent="0">
                  <a:buNone/>
                </a:pPr>
                <a:endParaRPr lang="en-US" altLang="ja-JP" b="0" dirty="0"/>
              </a:p>
              <a:p>
                <a:r>
                  <a:rPr lang="ja-JP" altLang="en-US" b="0" dirty="0"/>
                  <a:t>推計は</a:t>
                </a:r>
                <a:r>
                  <a:rPr lang="en-US" altLang="ja-JP" b="0" dirty="0"/>
                  <a:t>(2)</a:t>
                </a:r>
                <a:r>
                  <a:rPr lang="ja-JP" altLang="en-US" b="0" dirty="0"/>
                  <a:t>式，</a:t>
                </a:r>
                <a:r>
                  <a:rPr lang="en-US" altLang="ja-JP" b="0" dirty="0"/>
                  <a:t>(3)</a:t>
                </a:r>
                <a:r>
                  <a:rPr lang="ja-JP" altLang="en-US" b="0" dirty="0"/>
                  <a:t>式，</a:t>
                </a:r>
                <a:r>
                  <a:rPr lang="en-US" altLang="ja-JP" b="0" dirty="0"/>
                  <a:t>(4)</a:t>
                </a:r>
                <a:r>
                  <a:rPr lang="ja-JP" altLang="en-US" b="0" dirty="0"/>
                  <a:t>式の</a:t>
                </a:r>
                <a:r>
                  <a:rPr lang="en-US" altLang="ja-JP" b="0" dirty="0"/>
                  <a:t>3</a:t>
                </a:r>
                <a:r>
                  <a:rPr lang="ja-JP" altLang="en-US" b="0" dirty="0"/>
                  <a:t>つのモデルで行う．</a:t>
                </a:r>
                <a:endParaRPr lang="en-US" altLang="ja-JP" b="0" dirty="0"/>
              </a:p>
            </p:txBody>
          </p:sp>
        </mc:Choice>
        <mc:Fallback xmlns="">
          <p:sp>
            <p:nvSpPr>
              <p:cNvPr id="3" name="コンテンツ プレースホルダー 2">
                <a:extLst>
                  <a:ext uri="{FF2B5EF4-FFF2-40B4-BE49-F238E27FC236}">
                    <a16:creationId xmlns:a16="http://schemas.microsoft.com/office/drawing/2014/main" id="{171A813C-D3E7-1EC2-5B2A-0F1A1BE03650}"/>
                  </a:ext>
                </a:extLst>
              </p:cNvPr>
              <p:cNvSpPr>
                <a:spLocks noGrp="1" noRot="1" noChangeAspect="1" noMove="1" noResize="1" noEditPoints="1" noAdjustHandles="1" noChangeArrowheads="1" noChangeShapeType="1" noTextEdit="1"/>
              </p:cNvSpPr>
              <p:nvPr>
                <p:ph idx="1"/>
              </p:nvPr>
            </p:nvSpPr>
            <p:spPr>
              <a:xfrm>
                <a:off x="838200" y="1081548"/>
                <a:ext cx="10515600" cy="5456904"/>
              </a:xfrm>
              <a:blipFill>
                <a:blip r:embed="rId3"/>
                <a:stretch>
                  <a:fillRect l="-812" t="-1674" r="-464" b="-2344"/>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47B3568B-9DE9-8F2F-96A6-6C2FF5F2E10B}"/>
              </a:ext>
            </a:extLst>
          </p:cNvPr>
          <p:cNvSpPr>
            <a:spLocks noGrp="1"/>
          </p:cNvSpPr>
          <p:nvPr>
            <p:ph type="sldNum" sz="quarter" idx="12"/>
          </p:nvPr>
        </p:nvSpPr>
        <p:spPr/>
        <p:txBody>
          <a:bodyPr/>
          <a:lstStyle/>
          <a:p>
            <a:fld id="{D015B3C7-C04D-468F-B3C4-7E2FB8E54005}" type="slidenum">
              <a:rPr kumimoji="1" lang="ja-JP" altLang="en-US" smtClean="0"/>
              <a:t>4</a:t>
            </a:fld>
            <a:endParaRPr kumimoji="1" lang="ja-JP" altLang="en-US"/>
          </a:p>
        </p:txBody>
      </p:sp>
      <mc:AlternateContent xmlns:mc="http://schemas.openxmlformats.org/markup-compatibility/2006" xmlns:a14="http://schemas.microsoft.com/office/drawing/2010/main">
        <mc:Choice Requires="a14">
          <p:graphicFrame>
            <p:nvGraphicFramePr>
              <p:cNvPr id="5" name="表 4">
                <a:extLst>
                  <a:ext uri="{FF2B5EF4-FFF2-40B4-BE49-F238E27FC236}">
                    <a16:creationId xmlns:a16="http://schemas.microsoft.com/office/drawing/2014/main" id="{A9CA913D-920E-819F-6381-B797CF507D25}"/>
                  </a:ext>
                </a:extLst>
              </p:cNvPr>
              <p:cNvGraphicFramePr>
                <a:graphicFrameLocks noGrp="1"/>
              </p:cNvGraphicFramePr>
              <p:nvPr>
                <p:extLst>
                  <p:ext uri="{D42A27DB-BD31-4B8C-83A1-F6EECF244321}">
                    <p14:modId xmlns:p14="http://schemas.microsoft.com/office/powerpoint/2010/main" val="3863785859"/>
                  </p:ext>
                </p:extLst>
              </p:nvPr>
            </p:nvGraphicFramePr>
            <p:xfrm>
              <a:off x="766822" y="1669478"/>
              <a:ext cx="10515600" cy="431800"/>
            </p:xfrm>
            <a:graphic>
              <a:graphicData uri="http://schemas.openxmlformats.org/drawingml/2006/table">
                <a:tbl>
                  <a:tblPr firstRow="1" bandRow="1">
                    <a:tableStyleId>{5C22544A-7EE6-4342-B048-85BDC9FD1C3A}</a:tableStyleId>
                  </a:tblPr>
                  <a:tblGrid>
                    <a:gridCol w="9951335">
                      <a:extLst>
                        <a:ext uri="{9D8B030D-6E8A-4147-A177-3AD203B41FA5}">
                          <a16:colId xmlns:a16="http://schemas.microsoft.com/office/drawing/2014/main" val="294409958"/>
                        </a:ext>
                      </a:extLst>
                    </a:gridCol>
                    <a:gridCol w="564265">
                      <a:extLst>
                        <a:ext uri="{9D8B030D-6E8A-4147-A177-3AD203B41FA5}">
                          <a16:colId xmlns:a16="http://schemas.microsoft.com/office/drawing/2014/main" val="2599969268"/>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ja-JP" altLang="ja-JP" sz="1800" i="1" smtClean="0">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𝑒</m:t>
                                    </m:r>
                                  </m:e>
                                  <m:sub>
                                    <m:r>
                                      <a:rPr lang="en-US" altLang="ja-JP" sz="1800" i="1">
                                        <a:solidFill>
                                          <a:schemeClr val="tx1"/>
                                        </a:solidFill>
                                        <a:latin typeface="Cambria Math" panose="02040503050406030204" pitchFamily="18" charset="0"/>
                                      </a:rPr>
                                      <m:t>𝑡</m:t>
                                    </m:r>
                                  </m:sub>
                                </m:sSub>
                                <m:r>
                                  <a:rPr lang="en-US" altLang="ja-JP" sz="1800" i="1">
                                    <a:solidFill>
                                      <a:schemeClr val="tx1"/>
                                    </a:solidFill>
                                    <a:latin typeface="Cambria Math" panose="02040503050406030204" pitchFamily="18" charset="0"/>
                                  </a:rPr>
                                  <m:t>=</m:t>
                                </m:r>
                                <m:r>
                                  <m:rPr>
                                    <m:sty m:val="p"/>
                                  </m:rPr>
                                  <a:rPr lang="en-US" altLang="ja-JP" sz="1800">
                                    <a:solidFill>
                                      <a:schemeClr val="tx1"/>
                                    </a:solidFill>
                                    <a:latin typeface="Cambria Math" panose="02040503050406030204" pitchFamily="18" charset="0"/>
                                  </a:rPr>
                                  <m:t>Ψ</m:t>
                                </m:r>
                                <m:r>
                                  <a:rPr lang="en-US" altLang="ja-JP" sz="1800" i="1">
                                    <a:solidFill>
                                      <a:schemeClr val="tx1"/>
                                    </a:solidFill>
                                    <a:latin typeface="Cambria Math" panose="02040503050406030204" pitchFamily="18" charset="0"/>
                                  </a:rPr>
                                  <m:t>×</m:t>
                                </m:r>
                                <m:sSubSup>
                                  <m:sSubSupPr>
                                    <m:ctrlPr>
                                      <a:rPr lang="ja-JP" altLang="ja-JP" sz="1800" i="1">
                                        <a:solidFill>
                                          <a:schemeClr val="tx1"/>
                                        </a:solidFill>
                                        <a:latin typeface="Cambria Math" panose="02040503050406030204" pitchFamily="18" charset="0"/>
                                      </a:rPr>
                                    </m:ctrlPr>
                                  </m:sSubSupPr>
                                  <m:e>
                                    <m:r>
                                      <a:rPr lang="en-US" altLang="ja-JP" sz="1800" i="1">
                                        <a:solidFill>
                                          <a:schemeClr val="tx1"/>
                                        </a:solidFill>
                                        <a:latin typeface="Cambria Math" panose="02040503050406030204" pitchFamily="18" charset="0"/>
                                      </a:rPr>
                                      <m:t>𝑚</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up>
                                    <m:r>
                                      <a:rPr lang="en-US" altLang="ja-JP" sz="1800" i="1">
                                        <a:solidFill>
                                          <a:schemeClr val="tx1"/>
                                        </a:solidFill>
                                        <a:latin typeface="Cambria Math" panose="02040503050406030204" pitchFamily="18" charset="0"/>
                                      </a:rPr>
                                      <m:t>𝜙</m:t>
                                    </m:r>
                                  </m:sup>
                                </m:sSubSup>
                                <m:sSubSup>
                                  <m:sSubSupPr>
                                    <m:ctrlPr>
                                      <a:rPr lang="ja-JP" altLang="ja-JP" sz="1800" i="1" smtClean="0">
                                        <a:solidFill>
                                          <a:schemeClr val="tx1"/>
                                        </a:solidFill>
                                        <a:latin typeface="Cambria Math" panose="02040503050406030204" pitchFamily="18" charset="0"/>
                                      </a:rPr>
                                    </m:ctrlPr>
                                  </m:sSubSupPr>
                                  <m:e>
                                    <m:r>
                                      <a:rPr lang="en-US" altLang="ja-JP" sz="1800" i="1">
                                        <a:solidFill>
                                          <a:schemeClr val="tx1"/>
                                        </a:solidFill>
                                        <a:latin typeface="Cambria Math" panose="02040503050406030204" pitchFamily="18" charset="0"/>
                                      </a:rPr>
                                      <m:t>𝑢</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up>
                                    <m:r>
                                      <a:rPr lang="en-US" altLang="ja-JP" sz="1800" i="1">
                                        <a:solidFill>
                                          <a:schemeClr val="tx1"/>
                                        </a:solidFill>
                                        <a:latin typeface="Cambria Math" panose="02040503050406030204" pitchFamily="18" charset="0"/>
                                      </a:rPr>
                                      <m:t>1−</m:t>
                                    </m:r>
                                    <m:r>
                                      <a:rPr lang="en-US" altLang="ja-JP" sz="1800" i="1">
                                        <a:solidFill>
                                          <a:schemeClr val="tx1"/>
                                        </a:solidFill>
                                        <a:latin typeface="Cambria Math" panose="02040503050406030204" pitchFamily="18" charset="0"/>
                                      </a:rPr>
                                      <m:t>𝜙</m:t>
                                    </m:r>
                                  </m:sup>
                                </m:sSubSup>
                              </m:oMath>
                            </m:oMathPara>
                          </a14:m>
                          <a:endParaRPr kumimoji="1" lang="ja-JP" altLang="en-US"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kumimoji="1" lang="en-US" altLang="ja-JP" b="0" i="1" smtClean="0">
                                    <a:solidFill>
                                      <a:schemeClr val="tx1"/>
                                    </a:solidFill>
                                    <a:latin typeface="Cambria Math" panose="02040503050406030204" pitchFamily="18" charset="0"/>
                                  </a:rPr>
                                  <m:t>(1)</m:t>
                                </m:r>
                              </m:oMath>
                            </m:oMathPara>
                          </a14:m>
                          <a:endParaRPr kumimoji="1" lang="ja-JP"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7056900"/>
                      </a:ext>
                    </a:extLst>
                  </a:tr>
                </a:tbl>
              </a:graphicData>
            </a:graphic>
          </p:graphicFrame>
        </mc:Choice>
        <mc:Fallback xmlns="">
          <p:graphicFrame>
            <p:nvGraphicFramePr>
              <p:cNvPr id="5" name="表 4">
                <a:extLst>
                  <a:ext uri="{FF2B5EF4-FFF2-40B4-BE49-F238E27FC236}">
                    <a16:creationId xmlns:a16="http://schemas.microsoft.com/office/drawing/2014/main" id="{A9CA913D-920E-819F-6381-B797CF507D25}"/>
                  </a:ext>
                </a:extLst>
              </p:cNvPr>
              <p:cNvGraphicFramePr>
                <a:graphicFrameLocks noGrp="1"/>
              </p:cNvGraphicFramePr>
              <p:nvPr>
                <p:extLst>
                  <p:ext uri="{D42A27DB-BD31-4B8C-83A1-F6EECF244321}">
                    <p14:modId xmlns:p14="http://schemas.microsoft.com/office/powerpoint/2010/main" val="3863785859"/>
                  </p:ext>
                </p:extLst>
              </p:nvPr>
            </p:nvGraphicFramePr>
            <p:xfrm>
              <a:off x="766822" y="1669478"/>
              <a:ext cx="10515600" cy="431800"/>
            </p:xfrm>
            <a:graphic>
              <a:graphicData uri="http://schemas.openxmlformats.org/drawingml/2006/table">
                <a:tbl>
                  <a:tblPr firstRow="1" bandRow="1">
                    <a:tableStyleId>{5C22544A-7EE6-4342-B048-85BDC9FD1C3A}</a:tableStyleId>
                  </a:tblPr>
                  <a:tblGrid>
                    <a:gridCol w="9951335">
                      <a:extLst>
                        <a:ext uri="{9D8B030D-6E8A-4147-A177-3AD203B41FA5}">
                          <a16:colId xmlns:a16="http://schemas.microsoft.com/office/drawing/2014/main" val="294409958"/>
                        </a:ext>
                      </a:extLst>
                    </a:gridCol>
                    <a:gridCol w="564265">
                      <a:extLst>
                        <a:ext uri="{9D8B030D-6E8A-4147-A177-3AD203B41FA5}">
                          <a16:colId xmlns:a16="http://schemas.microsoft.com/office/drawing/2014/main" val="2599969268"/>
                        </a:ext>
                      </a:extLst>
                    </a:gridCol>
                  </a:tblGrid>
                  <a:tr h="431800">
                    <a:tc>
                      <a:txBody>
                        <a:bodyPr/>
                        <a:lstStyle/>
                        <a:p>
                          <a:endParaRPr lang="ja-JP"/>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r="-5695" b="-4167"/>
                          </a:stretch>
                        </a:blipFill>
                      </a:tcPr>
                    </a:tc>
                    <a:tc>
                      <a:txBody>
                        <a:bodyPr/>
                        <a:lstStyle/>
                        <a:p>
                          <a:endParaRPr lang="ja-JP"/>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755914" b="-4167"/>
                          </a:stretch>
                        </a:blipFill>
                      </a:tcPr>
                    </a:tc>
                    <a:extLst>
                      <a:ext uri="{0D108BD9-81ED-4DB2-BD59-A6C34878D82A}">
                        <a16:rowId xmlns:a16="http://schemas.microsoft.com/office/drawing/2014/main" val="14870569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表 5">
                <a:extLst>
                  <a:ext uri="{FF2B5EF4-FFF2-40B4-BE49-F238E27FC236}">
                    <a16:creationId xmlns:a16="http://schemas.microsoft.com/office/drawing/2014/main" id="{62817523-B555-8AD2-25FB-A85907DA4656}"/>
                  </a:ext>
                </a:extLst>
              </p:cNvPr>
              <p:cNvGraphicFramePr>
                <a:graphicFrameLocks noGrp="1"/>
              </p:cNvGraphicFramePr>
              <p:nvPr>
                <p:extLst>
                  <p:ext uri="{D42A27DB-BD31-4B8C-83A1-F6EECF244321}">
                    <p14:modId xmlns:p14="http://schemas.microsoft.com/office/powerpoint/2010/main" val="4147158516"/>
                  </p:ext>
                </p:extLst>
              </p:nvPr>
            </p:nvGraphicFramePr>
            <p:xfrm>
              <a:off x="766822" y="2623388"/>
              <a:ext cx="10586978" cy="707771"/>
            </p:xfrm>
            <a:graphic>
              <a:graphicData uri="http://schemas.openxmlformats.org/drawingml/2006/table">
                <a:tbl>
                  <a:tblPr firstRow="1" bandRow="1">
                    <a:tableStyleId>{5C22544A-7EE6-4342-B048-85BDC9FD1C3A}</a:tableStyleId>
                  </a:tblPr>
                  <a:tblGrid>
                    <a:gridCol w="9993634">
                      <a:extLst>
                        <a:ext uri="{9D8B030D-6E8A-4147-A177-3AD203B41FA5}">
                          <a16:colId xmlns:a16="http://schemas.microsoft.com/office/drawing/2014/main" val="2353107792"/>
                        </a:ext>
                      </a:extLst>
                    </a:gridCol>
                    <a:gridCol w="593344">
                      <a:extLst>
                        <a:ext uri="{9D8B030D-6E8A-4147-A177-3AD203B41FA5}">
                          <a16:colId xmlns:a16="http://schemas.microsoft.com/office/drawing/2014/main" val="975643189"/>
                        </a:ext>
                      </a:extLst>
                    </a:gridCol>
                  </a:tblGrid>
                  <a:tr h="370840">
                    <a:tc>
                      <a:txBody>
                        <a:bodyPr/>
                        <a:lstStyle/>
                        <a:p>
                          <a:pPr/>
                          <a14:m>
                            <m:oMathPara xmlns:m="http://schemas.openxmlformats.org/officeDocument/2006/math">
                              <m:oMathParaPr>
                                <m:jc m:val="centerGroup"/>
                              </m:oMathParaPr>
                              <m:oMath xmlns:m="http://schemas.openxmlformats.org/officeDocument/2006/math">
                                <m:eqArr>
                                  <m:eqArrPr>
                                    <m:ctrlPr>
                                      <a:rPr lang="en-US" altLang="ja-JP" sz="1800" b="0" i="1" smtClean="0">
                                        <a:latin typeface="Cambria Math" panose="02040503050406030204" pitchFamily="18" charset="0"/>
                                      </a:rPr>
                                    </m:ctrlPr>
                                  </m:eqArrPr>
                                  <m:e>
                                    <m:eqArr>
                                      <m:eqArrPr>
                                        <m:ctrlPr>
                                          <a:rPr lang="ja-JP" altLang="ja-JP" sz="1800" i="1" smtClean="0">
                                            <a:solidFill>
                                              <a:schemeClr val="tx1"/>
                                            </a:solidFill>
                                            <a:latin typeface="Cambria Math" panose="02040503050406030204" pitchFamily="18" charset="0"/>
                                          </a:rPr>
                                        </m:ctrlPr>
                                      </m:eqArrPr>
                                      <m:e>
                                        <m:func>
                                          <m:funcPr>
                                            <m:ctrlPr>
                                              <a:rPr lang="ja-JP" altLang="ja-JP" sz="1800" i="1">
                                                <a:solidFill>
                                                  <a:schemeClr val="tx1"/>
                                                </a:solidFill>
                                                <a:latin typeface="Cambria Math" panose="02040503050406030204" pitchFamily="18" charset="0"/>
                                              </a:rPr>
                                            </m:ctrlPr>
                                          </m:funcPr>
                                          <m:fName>
                                            <m:r>
                                              <m:rPr>
                                                <m:sty m:val="p"/>
                                              </m:rPr>
                                              <a:rPr lang="en-US" altLang="ja-JP" sz="1800">
                                                <a:solidFill>
                                                  <a:schemeClr val="tx1"/>
                                                </a:solidFill>
                                                <a:latin typeface="Cambria Math" panose="02040503050406030204" pitchFamily="18" charset="0"/>
                                              </a:rPr>
                                              <m:t>ln</m:t>
                                            </m:r>
                                          </m:fName>
                                          <m:e>
                                            <m:d>
                                              <m:dPr>
                                                <m:ctrlPr>
                                                  <a:rPr lang="ja-JP" altLang="ja-JP" sz="1800" i="1">
                                                    <a:solidFill>
                                                      <a:schemeClr val="tx1"/>
                                                    </a:solidFill>
                                                    <a:latin typeface="Cambria Math" panose="02040503050406030204" pitchFamily="18" charset="0"/>
                                                  </a:rPr>
                                                </m:ctrlPr>
                                              </m:dPr>
                                              <m:e>
                                                <m:f>
                                                  <m:fPr>
                                                    <m:ctrlPr>
                                                      <a:rPr lang="ja-JP" altLang="ja-JP" sz="1800" i="1">
                                                        <a:solidFill>
                                                          <a:schemeClr val="tx1"/>
                                                        </a:solidFill>
                                                        <a:latin typeface="Cambria Math" panose="02040503050406030204" pitchFamily="18" charset="0"/>
                                                      </a:rPr>
                                                    </m:ctrlPr>
                                                  </m:fPr>
                                                  <m:num>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𝑒</m:t>
                                                        </m:r>
                                                      </m:e>
                                                      <m:sub>
                                                        <m:r>
                                                          <a:rPr lang="en-US" altLang="ja-JP" sz="1800" i="1">
                                                            <a:solidFill>
                                                              <a:schemeClr val="tx1"/>
                                                            </a:solidFill>
                                                            <a:latin typeface="Cambria Math" panose="02040503050406030204" pitchFamily="18" charset="0"/>
                                                          </a:rPr>
                                                          <m:t>𝑡</m:t>
                                                        </m:r>
                                                      </m:sub>
                                                    </m:sSub>
                                                  </m:num>
                                                  <m:den>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𝑢</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den>
                                                </m:f>
                                              </m:e>
                                            </m:d>
                                          </m:e>
                                        </m:func>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𝜈</m:t>
                                        </m:r>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𝜙</m:t>
                                        </m:r>
                                        <m:func>
                                          <m:funcPr>
                                            <m:ctrlPr>
                                              <a:rPr lang="ja-JP" altLang="ja-JP" sz="1800" i="1">
                                                <a:solidFill>
                                                  <a:schemeClr val="tx1"/>
                                                </a:solidFill>
                                                <a:latin typeface="Cambria Math" panose="02040503050406030204" pitchFamily="18" charset="0"/>
                                              </a:rPr>
                                            </m:ctrlPr>
                                          </m:funcPr>
                                          <m:fName>
                                            <m:r>
                                              <m:rPr>
                                                <m:sty m:val="p"/>
                                              </m:rPr>
                                              <a:rPr lang="en-US" altLang="ja-JP" sz="1800">
                                                <a:solidFill>
                                                  <a:schemeClr val="tx1"/>
                                                </a:solidFill>
                                                <a:latin typeface="Cambria Math" panose="02040503050406030204" pitchFamily="18" charset="0"/>
                                              </a:rPr>
                                              <m:t>ln</m:t>
                                            </m:r>
                                          </m:fName>
                                          <m:e>
                                            <m:d>
                                              <m:dPr>
                                                <m:ctrlPr>
                                                  <a:rPr lang="ja-JP" altLang="ja-JP" sz="1800" i="1">
                                                    <a:solidFill>
                                                      <a:schemeClr val="tx1"/>
                                                    </a:solidFill>
                                                    <a:latin typeface="Cambria Math" panose="02040503050406030204" pitchFamily="18" charset="0"/>
                                                  </a:rPr>
                                                </m:ctrlPr>
                                              </m:dPr>
                                              <m:e>
                                                <m:f>
                                                  <m:fPr>
                                                    <m:ctrlPr>
                                                      <a:rPr lang="ja-JP" altLang="ja-JP" sz="1800" i="1">
                                                        <a:solidFill>
                                                          <a:schemeClr val="tx1"/>
                                                        </a:solidFill>
                                                        <a:latin typeface="Cambria Math" panose="02040503050406030204" pitchFamily="18" charset="0"/>
                                                      </a:rPr>
                                                    </m:ctrlPr>
                                                  </m:fPr>
                                                  <m:num>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𝑚</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num>
                                                  <m:den>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𝑢</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den>
                                                </m:f>
                                              </m:e>
                                            </m:d>
                                          </m:e>
                                        </m:func>
                                        <m:r>
                                          <a:rPr lang="en-US" altLang="ja-JP" sz="1800" i="1">
                                            <a:solidFill>
                                              <a:schemeClr val="tx1"/>
                                            </a:solidFill>
                                            <a:latin typeface="Cambria Math" panose="02040503050406030204" pitchFamily="18" charset="0"/>
                                          </a:rPr>
                                          <m:t>+</m:t>
                                        </m:r>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𝜀</m:t>
                                            </m:r>
                                          </m:e>
                                          <m:sub>
                                            <m:r>
                                              <a:rPr lang="en-US" altLang="ja-JP" sz="1800" i="1">
                                                <a:solidFill>
                                                  <a:schemeClr val="tx1"/>
                                                </a:solidFill>
                                                <a:latin typeface="Cambria Math" panose="02040503050406030204" pitchFamily="18" charset="0"/>
                                              </a:rPr>
                                              <m:t>𝑡</m:t>
                                            </m:r>
                                          </m:sub>
                                        </m:sSub>
                                        <m:r>
                                          <a:rPr lang="en-US" altLang="ja-JP" sz="1800" b="0" i="1" smtClean="0">
                                            <a:solidFill>
                                              <a:schemeClr val="tx1"/>
                                            </a:solidFill>
                                            <a:latin typeface="Cambria Math" panose="02040503050406030204" pitchFamily="18" charset="0"/>
                                          </a:rPr>
                                          <m:t>##</m:t>
                                        </m:r>
                                      </m:e>
                                    </m:eqArr>
                                    <m:r>
                                      <a:rPr lang="en-US" altLang="ja-JP" sz="1800" i="1">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m:t>
                                    </m:r>
                                  </m:e>
                                </m:eqArr>
                              </m:oMath>
                            </m:oMathPara>
                          </a14:m>
                          <a:endParaRPr kumimoji="1" lang="ja-JP" altLang="en-US"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kumimoji="1" lang="en-US" altLang="ja-JP" b="0" i="1" smtClean="0">
                                    <a:solidFill>
                                      <a:schemeClr val="tx1"/>
                                    </a:solidFill>
                                    <a:latin typeface="Cambria Math" panose="02040503050406030204" pitchFamily="18" charset="0"/>
                                  </a:rPr>
                                  <m:t>(2)</m:t>
                                </m:r>
                              </m:oMath>
                            </m:oMathPara>
                          </a14:m>
                          <a:endParaRPr kumimoji="1" lang="ja-JP"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629622"/>
                      </a:ext>
                    </a:extLst>
                  </a:tr>
                </a:tbl>
              </a:graphicData>
            </a:graphic>
          </p:graphicFrame>
        </mc:Choice>
        <mc:Fallback xmlns="">
          <p:graphicFrame>
            <p:nvGraphicFramePr>
              <p:cNvPr id="6" name="表 5">
                <a:extLst>
                  <a:ext uri="{FF2B5EF4-FFF2-40B4-BE49-F238E27FC236}">
                    <a16:creationId xmlns:a16="http://schemas.microsoft.com/office/drawing/2014/main" id="{62817523-B555-8AD2-25FB-A85907DA4656}"/>
                  </a:ext>
                </a:extLst>
              </p:cNvPr>
              <p:cNvGraphicFramePr>
                <a:graphicFrameLocks noGrp="1"/>
              </p:cNvGraphicFramePr>
              <p:nvPr>
                <p:extLst>
                  <p:ext uri="{D42A27DB-BD31-4B8C-83A1-F6EECF244321}">
                    <p14:modId xmlns:p14="http://schemas.microsoft.com/office/powerpoint/2010/main" val="4147158516"/>
                  </p:ext>
                </p:extLst>
              </p:nvPr>
            </p:nvGraphicFramePr>
            <p:xfrm>
              <a:off x="766822" y="2623388"/>
              <a:ext cx="10586978" cy="707771"/>
            </p:xfrm>
            <a:graphic>
              <a:graphicData uri="http://schemas.openxmlformats.org/drawingml/2006/table">
                <a:tbl>
                  <a:tblPr firstRow="1" bandRow="1">
                    <a:tableStyleId>{5C22544A-7EE6-4342-B048-85BDC9FD1C3A}</a:tableStyleId>
                  </a:tblPr>
                  <a:tblGrid>
                    <a:gridCol w="9993634">
                      <a:extLst>
                        <a:ext uri="{9D8B030D-6E8A-4147-A177-3AD203B41FA5}">
                          <a16:colId xmlns:a16="http://schemas.microsoft.com/office/drawing/2014/main" val="2353107792"/>
                        </a:ext>
                      </a:extLst>
                    </a:gridCol>
                    <a:gridCol w="593344">
                      <a:extLst>
                        <a:ext uri="{9D8B030D-6E8A-4147-A177-3AD203B41FA5}">
                          <a16:colId xmlns:a16="http://schemas.microsoft.com/office/drawing/2014/main" val="975643189"/>
                        </a:ext>
                      </a:extLst>
                    </a:gridCol>
                  </a:tblGrid>
                  <a:tr h="707771">
                    <a:tc>
                      <a:txBody>
                        <a:bodyPr/>
                        <a:lstStyle/>
                        <a:p>
                          <a:endParaRPr lang="ja-JP"/>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r="-5911"/>
                          </a:stretch>
                        </a:blipFill>
                      </a:tcPr>
                    </a:tc>
                    <a:tc>
                      <a:txBody>
                        <a:bodyPr/>
                        <a:lstStyle/>
                        <a:p>
                          <a:endParaRPr lang="ja-JP"/>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691753"/>
                          </a:stretch>
                        </a:blipFill>
                      </a:tcPr>
                    </a:tc>
                    <a:extLst>
                      <a:ext uri="{0D108BD9-81ED-4DB2-BD59-A6C34878D82A}">
                        <a16:rowId xmlns:a16="http://schemas.microsoft.com/office/drawing/2014/main" val="121462962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表 6">
                <a:extLst>
                  <a:ext uri="{FF2B5EF4-FFF2-40B4-BE49-F238E27FC236}">
                    <a16:creationId xmlns:a16="http://schemas.microsoft.com/office/drawing/2014/main" id="{9D0A720F-81C9-EE89-2F81-E826EAC3B683}"/>
                  </a:ext>
                </a:extLst>
              </p:cNvPr>
              <p:cNvGraphicFramePr>
                <a:graphicFrameLocks noGrp="1"/>
              </p:cNvGraphicFramePr>
              <p:nvPr>
                <p:extLst>
                  <p:ext uri="{D42A27DB-BD31-4B8C-83A1-F6EECF244321}">
                    <p14:modId xmlns:p14="http://schemas.microsoft.com/office/powerpoint/2010/main" val="2325586585"/>
                  </p:ext>
                </p:extLst>
              </p:nvPr>
            </p:nvGraphicFramePr>
            <p:xfrm>
              <a:off x="766822" y="3911399"/>
              <a:ext cx="10586978" cy="812419"/>
            </p:xfrm>
            <a:graphic>
              <a:graphicData uri="http://schemas.openxmlformats.org/drawingml/2006/table">
                <a:tbl>
                  <a:tblPr firstRow="1" bandRow="1">
                    <a:tableStyleId>{5C22544A-7EE6-4342-B048-85BDC9FD1C3A}</a:tableStyleId>
                  </a:tblPr>
                  <a:tblGrid>
                    <a:gridCol w="10040246">
                      <a:extLst>
                        <a:ext uri="{9D8B030D-6E8A-4147-A177-3AD203B41FA5}">
                          <a16:colId xmlns:a16="http://schemas.microsoft.com/office/drawing/2014/main" val="2353107792"/>
                        </a:ext>
                      </a:extLst>
                    </a:gridCol>
                    <a:gridCol w="546732">
                      <a:extLst>
                        <a:ext uri="{9D8B030D-6E8A-4147-A177-3AD203B41FA5}">
                          <a16:colId xmlns:a16="http://schemas.microsoft.com/office/drawing/2014/main" val="975643189"/>
                        </a:ext>
                      </a:extLst>
                    </a:gridCol>
                  </a:tblGrid>
                  <a:tr h="370840">
                    <a:tc>
                      <a:txBody>
                        <a:bodyPr/>
                        <a:lstStyle/>
                        <a:p>
                          <a:pPr/>
                          <a14:m>
                            <m:oMathPara xmlns:m="http://schemas.openxmlformats.org/officeDocument/2006/math">
                              <m:oMathParaPr>
                                <m:jc m:val="centerGroup"/>
                              </m:oMathParaPr>
                              <m:oMath xmlns:m="http://schemas.openxmlformats.org/officeDocument/2006/math">
                                <m:eqArr>
                                  <m:eqArrPr>
                                    <m:ctrlPr>
                                      <a:rPr lang="en-US" altLang="ja-JP" sz="1800" b="0" i="1" smtClean="0">
                                        <a:solidFill>
                                          <a:schemeClr val="tx1"/>
                                        </a:solidFill>
                                        <a:latin typeface="Cambria Math" panose="02040503050406030204" pitchFamily="18" charset="0"/>
                                      </a:rPr>
                                    </m:ctrlPr>
                                  </m:eqArrPr>
                                  <m:e>
                                    <m:eqArr>
                                      <m:eqArrPr>
                                        <m:ctrlPr>
                                          <a:rPr lang="en-US" altLang="ja-JP" sz="1800" b="0" i="1" smtClean="0">
                                            <a:solidFill>
                                              <a:schemeClr val="tx1"/>
                                            </a:solidFill>
                                            <a:latin typeface="Cambria Math" panose="02040503050406030204" pitchFamily="18" charset="0"/>
                                          </a:rPr>
                                        </m:ctrlPr>
                                      </m:eqArrPr>
                                      <m:e>
                                        <m:eqArr>
                                          <m:eqArrPr>
                                            <m:ctrlPr>
                                              <a:rPr lang="ja-JP" altLang="ja-JP" sz="1800" i="1">
                                                <a:solidFill>
                                                  <a:schemeClr val="tx1"/>
                                                </a:solidFill>
                                                <a:latin typeface="Cambria Math" panose="02040503050406030204" pitchFamily="18" charset="0"/>
                                              </a:rPr>
                                            </m:ctrlPr>
                                          </m:eqArrPr>
                                          <m:e>
                                            <m:func>
                                              <m:funcPr>
                                                <m:ctrlPr>
                                                  <a:rPr lang="ja-JP" altLang="ja-JP" sz="1800" i="1">
                                                    <a:solidFill>
                                                      <a:schemeClr val="tx1"/>
                                                    </a:solidFill>
                                                    <a:latin typeface="Cambria Math" panose="02040503050406030204" pitchFamily="18" charset="0"/>
                                                  </a:rPr>
                                                </m:ctrlPr>
                                              </m:funcPr>
                                              <m:fName>
                                                <m:r>
                                                  <m:rPr>
                                                    <m:sty m:val="p"/>
                                                  </m:rPr>
                                                  <a:rPr lang="en-US" altLang="ja-JP" sz="1800">
                                                    <a:solidFill>
                                                      <a:schemeClr val="tx1"/>
                                                    </a:solidFill>
                                                    <a:latin typeface="Cambria Math" panose="02040503050406030204" pitchFamily="18" charset="0"/>
                                                  </a:rPr>
                                                  <m:t>ln</m:t>
                                                </m:r>
                                              </m:fName>
                                              <m:e>
                                                <m:d>
                                                  <m:dPr>
                                                    <m:ctrlPr>
                                                      <a:rPr lang="ja-JP" altLang="ja-JP" sz="1800" i="1">
                                                        <a:solidFill>
                                                          <a:schemeClr val="tx1"/>
                                                        </a:solidFill>
                                                        <a:latin typeface="Cambria Math" panose="02040503050406030204" pitchFamily="18" charset="0"/>
                                                      </a:rPr>
                                                    </m:ctrlPr>
                                                  </m:dPr>
                                                  <m:e>
                                                    <m:f>
                                                      <m:fPr>
                                                        <m:ctrlPr>
                                                          <a:rPr lang="ja-JP" altLang="ja-JP" sz="1800" i="1">
                                                            <a:solidFill>
                                                              <a:schemeClr val="tx1"/>
                                                            </a:solidFill>
                                                            <a:latin typeface="Cambria Math" panose="02040503050406030204" pitchFamily="18" charset="0"/>
                                                          </a:rPr>
                                                        </m:ctrlPr>
                                                      </m:fPr>
                                                      <m:num>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𝑒</m:t>
                                                            </m:r>
                                                          </m:e>
                                                          <m:sub>
                                                            <m:r>
                                                              <a:rPr lang="en-US" altLang="ja-JP" sz="1800" i="1">
                                                                <a:solidFill>
                                                                  <a:schemeClr val="tx1"/>
                                                                </a:solidFill>
                                                                <a:latin typeface="Cambria Math" panose="02040503050406030204" pitchFamily="18" charset="0"/>
                                                              </a:rPr>
                                                              <m:t>𝑡</m:t>
                                                            </m:r>
                                                          </m:sub>
                                                        </m:sSub>
                                                      </m:num>
                                                      <m:den>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𝑢</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den>
                                                    </m:f>
                                                  </m:e>
                                                </m:d>
                                              </m:e>
                                            </m:func>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𝜈</m:t>
                                            </m:r>
                                            <m:r>
                                              <a:rPr lang="en-US" altLang="ja-JP" sz="1800" i="1">
                                                <a:solidFill>
                                                  <a:schemeClr val="tx1"/>
                                                </a:solidFill>
                                                <a:latin typeface="Cambria Math" panose="02040503050406030204" pitchFamily="18" charset="0"/>
                                              </a:rPr>
                                              <m:t>+</m:t>
                                            </m:r>
                                            <m:d>
                                              <m:dPr>
                                                <m:ctrlPr>
                                                  <a:rPr lang="ja-JP" altLang="ja-JP" sz="1800" i="1">
                                                    <a:solidFill>
                                                      <a:schemeClr val="tx1"/>
                                                    </a:solidFill>
                                                    <a:latin typeface="Cambria Math" panose="02040503050406030204" pitchFamily="18" charset="0"/>
                                                  </a:rPr>
                                                </m:ctrlPr>
                                              </m:dPr>
                                              <m:e>
                                                <m:r>
                                                  <a:rPr lang="en-US" altLang="ja-JP" sz="1800" i="1">
                                                    <a:solidFill>
                                                      <a:schemeClr val="tx1"/>
                                                    </a:solidFill>
                                                    <a:latin typeface="Cambria Math" panose="02040503050406030204" pitchFamily="18" charset="0"/>
                                                  </a:rPr>
                                                  <m:t>𝜙</m:t>
                                                </m:r>
                                                <m:r>
                                                  <a:rPr lang="en-US" altLang="ja-JP" sz="1800" i="1">
                                                    <a:solidFill>
                                                      <a:schemeClr val="tx1"/>
                                                    </a:solidFill>
                                                    <a:latin typeface="Cambria Math" panose="02040503050406030204" pitchFamily="18" charset="0"/>
                                                  </a:rPr>
                                                  <m:t>+</m:t>
                                                </m:r>
                                                <m:sSub>
                                                  <m:sSubPr>
                                                    <m:ctrlPr>
                                                      <a:rPr lang="ja-JP" altLang="ja-JP" sz="1800" i="1">
                                                        <a:solidFill>
                                                          <a:schemeClr val="tx1"/>
                                                        </a:solidFill>
                                                        <a:latin typeface="Cambria Math" panose="02040503050406030204" pitchFamily="18" charset="0"/>
                                                      </a:rPr>
                                                    </m:ctrlPr>
                                                  </m:sSubPr>
                                                  <m:e>
                                                    <m:nary>
                                                      <m:naryPr>
                                                        <m:chr m:val="∑"/>
                                                        <m:limLoc m:val="undOvr"/>
                                                        <m:supHide m:val="on"/>
                                                        <m:ctrlPr>
                                                          <a:rPr lang="ja-JP" altLang="ja-JP" sz="1800" i="1">
                                                            <a:solidFill>
                                                              <a:schemeClr val="tx1"/>
                                                            </a:solidFill>
                                                            <a:latin typeface="Cambria Math" panose="02040503050406030204" pitchFamily="18" charset="0"/>
                                                          </a:rPr>
                                                        </m:ctrlPr>
                                                      </m:naryPr>
                                                      <m:sub>
                                                        <m:r>
                                                          <a:rPr lang="en-US" altLang="ja-JP" sz="1800" i="1">
                                                            <a:solidFill>
                                                              <a:schemeClr val="tx1"/>
                                                            </a:solidFill>
                                                            <a:latin typeface="Cambria Math" panose="02040503050406030204" pitchFamily="18" charset="0"/>
                                                          </a:rPr>
                                                          <m:t>𝑖</m:t>
                                                        </m:r>
                                                        <m:r>
                                                          <a:rPr lang="en-US" altLang="ja-JP" sz="1800" i="1">
                                                            <a:solidFill>
                                                              <a:schemeClr val="tx1"/>
                                                            </a:solidFill>
                                                            <a:latin typeface="Cambria Math" panose="02040503050406030204" pitchFamily="18" charset="0"/>
                                                          </a:rPr>
                                                          <m:t>∈</m:t>
                                                        </m:r>
                                                        <m:d>
                                                          <m:dPr>
                                                            <m:begChr m:val="{"/>
                                                            <m:endChr m:val="}"/>
                                                            <m:ctrlPr>
                                                              <a:rPr lang="ja-JP" altLang="ja-JP" sz="1800" i="1">
                                                                <a:solidFill>
                                                                  <a:schemeClr val="tx1"/>
                                                                </a:solidFill>
                                                                <a:latin typeface="Cambria Math" panose="02040503050406030204" pitchFamily="18" charset="0"/>
                                                              </a:rPr>
                                                            </m:ctrlPr>
                                                          </m:dPr>
                                                          <m:e>
                                                            <m:r>
                                                              <a:rPr lang="en-US" altLang="ja-JP" sz="1800" i="1">
                                                                <a:solidFill>
                                                                  <a:schemeClr val="tx1"/>
                                                                </a:solidFill>
                                                                <a:latin typeface="Cambria Math" panose="02040503050406030204" pitchFamily="18" charset="0"/>
                                                              </a:rPr>
                                                              <m:t>𝑎𝑛𝑡𝑒𝑖</m:t>
                                                            </m:r>
                                                            <m:r>
                                                              <a:rPr lang="en-US" altLang="ja-JP" sz="1800" i="1">
                                                                <a:solidFill>
                                                                  <a:schemeClr val="tx1"/>
                                                                </a:solidFill>
                                                                <a:latin typeface="Cambria Math" panose="02040503050406030204" pitchFamily="18" charset="0"/>
                                                              </a:rPr>
                                                              <m:t>, </m:t>
                                                            </m:r>
                                                            <m:r>
                                                              <a:rPr lang="en-US" altLang="ja-JP" sz="1800" i="1">
                                                                <a:solidFill>
                                                                  <a:schemeClr val="tx1"/>
                                                                </a:solidFill>
                                                                <a:latin typeface="Cambria Math" panose="02040503050406030204" pitchFamily="18" charset="0"/>
                                                              </a:rPr>
                                                              <m:t>𝑏𝑢𝑏𝑏𝑙𝑒</m:t>
                                                            </m:r>
                                                            <m:r>
                                                              <a:rPr lang="en-US" altLang="ja-JP" sz="1800" b="0"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h𝑜𝑢𝑘𝑎𝑖</m:t>
                                                            </m:r>
                                                          </m:e>
                                                        </m:d>
                                                      </m:sub>
                                                      <m:sup/>
                                                      <m:e>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𝜔</m:t>
                                                            </m:r>
                                                          </m:e>
                                                          <m:sub>
                                                            <m:r>
                                                              <a:rPr lang="en-US" altLang="ja-JP" sz="1800" i="1">
                                                                <a:solidFill>
                                                                  <a:schemeClr val="tx1"/>
                                                                </a:solidFill>
                                                                <a:latin typeface="Cambria Math" panose="02040503050406030204" pitchFamily="18" charset="0"/>
                                                              </a:rPr>
                                                              <m:t>𝑖</m:t>
                                                            </m:r>
                                                          </m:sub>
                                                        </m:sSub>
                                                      </m:e>
                                                    </m:nary>
                                                    <m:r>
                                                      <a:rPr lang="en-US" altLang="ja-JP" sz="1800" i="1">
                                                        <a:solidFill>
                                                          <a:schemeClr val="tx1"/>
                                                        </a:solidFill>
                                                        <a:latin typeface="Cambria Math" panose="02040503050406030204" pitchFamily="18" charset="0"/>
                                                      </a:rPr>
                                                      <m:t>𝐷</m:t>
                                                    </m:r>
                                                  </m:e>
                                                  <m:sub>
                                                    <m:r>
                                                      <a:rPr lang="en-US" altLang="ja-JP" sz="1800" i="1">
                                                        <a:solidFill>
                                                          <a:schemeClr val="tx1"/>
                                                        </a:solidFill>
                                                        <a:latin typeface="Cambria Math" panose="02040503050406030204" pitchFamily="18" charset="0"/>
                                                      </a:rPr>
                                                      <m:t>𝑖</m:t>
                                                    </m:r>
                                                  </m:sub>
                                                </m:sSub>
                                              </m:e>
                                            </m:d>
                                            <m:func>
                                              <m:funcPr>
                                                <m:ctrlPr>
                                                  <a:rPr lang="ja-JP" altLang="ja-JP" sz="1800" i="1">
                                                    <a:solidFill>
                                                      <a:schemeClr val="tx1"/>
                                                    </a:solidFill>
                                                    <a:latin typeface="Cambria Math" panose="02040503050406030204" pitchFamily="18" charset="0"/>
                                                  </a:rPr>
                                                </m:ctrlPr>
                                              </m:funcPr>
                                              <m:fName>
                                                <m:r>
                                                  <m:rPr>
                                                    <m:sty m:val="p"/>
                                                  </m:rPr>
                                                  <a:rPr lang="en-US" altLang="ja-JP" sz="1800">
                                                    <a:solidFill>
                                                      <a:schemeClr val="tx1"/>
                                                    </a:solidFill>
                                                    <a:latin typeface="Cambria Math" panose="02040503050406030204" pitchFamily="18" charset="0"/>
                                                  </a:rPr>
                                                  <m:t>ln</m:t>
                                                </m:r>
                                              </m:fName>
                                              <m:e>
                                                <m:d>
                                                  <m:dPr>
                                                    <m:ctrlPr>
                                                      <a:rPr lang="ja-JP" altLang="ja-JP" sz="1800" i="1">
                                                        <a:solidFill>
                                                          <a:schemeClr val="tx1"/>
                                                        </a:solidFill>
                                                        <a:latin typeface="Cambria Math" panose="02040503050406030204" pitchFamily="18" charset="0"/>
                                                      </a:rPr>
                                                    </m:ctrlPr>
                                                  </m:dPr>
                                                  <m:e>
                                                    <m:f>
                                                      <m:fPr>
                                                        <m:ctrlPr>
                                                          <a:rPr lang="ja-JP" altLang="ja-JP" sz="1800" i="1">
                                                            <a:solidFill>
                                                              <a:schemeClr val="tx1"/>
                                                            </a:solidFill>
                                                            <a:latin typeface="Cambria Math" panose="02040503050406030204" pitchFamily="18" charset="0"/>
                                                          </a:rPr>
                                                        </m:ctrlPr>
                                                      </m:fPr>
                                                      <m:num>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𝑚</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num>
                                                      <m:den>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𝑢</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den>
                                                    </m:f>
                                                  </m:e>
                                                </m:d>
                                              </m:e>
                                            </m:func>
                                            <m:r>
                                              <a:rPr lang="en-US" altLang="ja-JP" sz="1800" i="1">
                                                <a:solidFill>
                                                  <a:schemeClr val="tx1"/>
                                                </a:solidFill>
                                                <a:latin typeface="Cambria Math" panose="02040503050406030204" pitchFamily="18" charset="0"/>
                                              </a:rPr>
                                              <m:t>+</m:t>
                                            </m:r>
                                            <m:sSub>
                                              <m:sSubPr>
                                                <m:ctrlPr>
                                                  <a:rPr lang="ja-JP" altLang="ja-JP" sz="1800" i="1">
                                                    <a:solidFill>
                                                      <a:schemeClr val="tx1"/>
                                                    </a:solidFill>
                                                    <a:latin typeface="Cambria Math" panose="02040503050406030204" pitchFamily="18" charset="0"/>
                                                  </a:rPr>
                                                </m:ctrlPr>
                                              </m:sSubPr>
                                              <m:e>
                                                <m:nary>
                                                  <m:naryPr>
                                                    <m:chr m:val="∑"/>
                                                    <m:limLoc m:val="undOvr"/>
                                                    <m:supHide m:val="on"/>
                                                    <m:ctrlPr>
                                                      <a:rPr lang="ja-JP" altLang="ja-JP" sz="1800" i="1">
                                                        <a:solidFill>
                                                          <a:schemeClr val="tx1"/>
                                                        </a:solidFill>
                                                        <a:latin typeface="Cambria Math" panose="02040503050406030204" pitchFamily="18" charset="0"/>
                                                      </a:rPr>
                                                    </m:ctrlPr>
                                                  </m:naryPr>
                                                  <m:sub>
                                                    <m:r>
                                                      <a:rPr lang="en-US" altLang="ja-JP" sz="1800" i="1">
                                                        <a:solidFill>
                                                          <a:schemeClr val="tx1"/>
                                                        </a:solidFill>
                                                        <a:latin typeface="Cambria Math" panose="02040503050406030204" pitchFamily="18" charset="0"/>
                                                      </a:rPr>
                                                      <m:t>𝑖</m:t>
                                                    </m:r>
                                                    <m:r>
                                                      <a:rPr lang="en-US" altLang="ja-JP" sz="1800" i="1">
                                                        <a:solidFill>
                                                          <a:schemeClr val="tx1"/>
                                                        </a:solidFill>
                                                        <a:latin typeface="Cambria Math" panose="02040503050406030204" pitchFamily="18" charset="0"/>
                                                      </a:rPr>
                                                      <m:t>∈</m:t>
                                                    </m:r>
                                                    <m:d>
                                                      <m:dPr>
                                                        <m:begChr m:val="{"/>
                                                        <m:endChr m:val="}"/>
                                                        <m:ctrlPr>
                                                          <a:rPr lang="ja-JP" altLang="ja-JP" sz="1800" i="1">
                                                            <a:solidFill>
                                                              <a:schemeClr val="tx1"/>
                                                            </a:solidFill>
                                                            <a:latin typeface="Cambria Math" panose="02040503050406030204" pitchFamily="18" charset="0"/>
                                                          </a:rPr>
                                                        </m:ctrlPr>
                                                      </m:dPr>
                                                      <m:e>
                                                        <m:r>
                                                          <a:rPr lang="en-US" altLang="ja-JP" sz="1800" i="1">
                                                            <a:solidFill>
                                                              <a:schemeClr val="tx1"/>
                                                            </a:solidFill>
                                                            <a:latin typeface="Cambria Math" panose="02040503050406030204" pitchFamily="18" charset="0"/>
                                                          </a:rPr>
                                                          <m:t>𝑎𝑛𝑡𝑒𝑖</m:t>
                                                        </m:r>
                                                        <m:r>
                                                          <a:rPr lang="en-US" altLang="ja-JP" sz="1800" i="1">
                                                            <a:solidFill>
                                                              <a:schemeClr val="tx1"/>
                                                            </a:solidFill>
                                                            <a:latin typeface="Cambria Math" panose="02040503050406030204" pitchFamily="18" charset="0"/>
                                                          </a:rPr>
                                                          <m:t>, </m:t>
                                                        </m:r>
                                                        <m:r>
                                                          <a:rPr lang="en-US" altLang="ja-JP" sz="1800" i="1">
                                                            <a:solidFill>
                                                              <a:schemeClr val="tx1"/>
                                                            </a:solidFill>
                                                            <a:latin typeface="Cambria Math" panose="02040503050406030204" pitchFamily="18" charset="0"/>
                                                          </a:rPr>
                                                          <m:t>𝑏𝑢𝑏𝑏𝑙𝑒</m:t>
                                                        </m:r>
                                                        <m:r>
                                                          <a:rPr lang="en-US" altLang="ja-JP" sz="1800" b="0" i="1" smtClean="0">
                                                            <a:solidFill>
                                                              <a:schemeClr val="tx1"/>
                                                            </a:solidFill>
                                                            <a:latin typeface="Cambria Math" panose="02040503050406030204" pitchFamily="18" charset="0"/>
                                                          </a:rPr>
                                                          <m:t>,</m:t>
                                                        </m:r>
                                                        <m:r>
                                                          <a:rPr lang="en-US" altLang="ja-JP" sz="1800" b="0" i="1" smtClean="0">
                                                            <a:solidFill>
                                                              <a:schemeClr val="tx1"/>
                                                            </a:solidFill>
                                                            <a:latin typeface="Cambria Math" panose="02040503050406030204" pitchFamily="18" charset="0"/>
                                                          </a:rPr>
                                                          <m:t>h𝑜𝑢𝑘𝑎𝑖</m:t>
                                                        </m:r>
                                                      </m:e>
                                                    </m:d>
                                                  </m:sub>
                                                  <m:sup/>
                                                  <m:e>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𝜓</m:t>
                                                        </m:r>
                                                      </m:e>
                                                      <m:sub>
                                                        <m:r>
                                                          <a:rPr lang="en-US" altLang="ja-JP" sz="1800" i="1">
                                                            <a:solidFill>
                                                              <a:schemeClr val="tx1"/>
                                                            </a:solidFill>
                                                            <a:latin typeface="Cambria Math" panose="02040503050406030204" pitchFamily="18" charset="0"/>
                                                          </a:rPr>
                                                          <m:t>𝑖</m:t>
                                                        </m:r>
                                                      </m:sub>
                                                    </m:sSub>
                                                  </m:e>
                                                </m:nary>
                                                <m:r>
                                                  <a:rPr lang="en-US" altLang="ja-JP" sz="1800" i="1">
                                                    <a:solidFill>
                                                      <a:schemeClr val="tx1"/>
                                                    </a:solidFill>
                                                    <a:latin typeface="Cambria Math" panose="02040503050406030204" pitchFamily="18" charset="0"/>
                                                  </a:rPr>
                                                  <m:t>𝐷</m:t>
                                                </m:r>
                                              </m:e>
                                              <m:sub>
                                                <m:r>
                                                  <a:rPr lang="en-US" altLang="ja-JP" sz="1800" i="1">
                                                    <a:solidFill>
                                                      <a:schemeClr val="tx1"/>
                                                    </a:solidFill>
                                                    <a:latin typeface="Cambria Math" panose="02040503050406030204" pitchFamily="18" charset="0"/>
                                                  </a:rPr>
                                                  <m:t>𝑖</m:t>
                                                </m:r>
                                              </m:sub>
                                            </m:sSub>
                                            <m:r>
                                              <a:rPr lang="en-US" altLang="ja-JP" sz="1800" i="1">
                                                <a:solidFill>
                                                  <a:schemeClr val="tx1"/>
                                                </a:solidFill>
                                                <a:latin typeface="Cambria Math" panose="02040503050406030204" pitchFamily="18" charset="0"/>
                                              </a:rPr>
                                              <m:t>+</m:t>
                                            </m:r>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𝜀</m:t>
                                                </m:r>
                                              </m:e>
                                              <m:sub>
                                                <m:r>
                                                  <a:rPr lang="en-US" altLang="ja-JP" sz="1800" i="1">
                                                    <a:solidFill>
                                                      <a:schemeClr val="tx1"/>
                                                    </a:solidFill>
                                                    <a:latin typeface="Cambria Math" panose="02040503050406030204" pitchFamily="18" charset="0"/>
                                                  </a:rPr>
                                                  <m:t>𝑡</m:t>
                                                </m:r>
                                              </m:sub>
                                            </m:sSub>
                                            <m:r>
                                              <a:rPr lang="en-US" altLang="ja-JP" sz="1800" b="0" i="1" smtClean="0">
                                                <a:solidFill>
                                                  <a:schemeClr val="tx1"/>
                                                </a:solidFill>
                                                <a:latin typeface="Cambria Math" panose="02040503050406030204" pitchFamily="18" charset="0"/>
                                              </a:rPr>
                                              <m:t>##</m:t>
                                            </m:r>
                                          </m:e>
                                        </m:eqArr>
                                        <m:r>
                                          <a:rPr lang="en-US" altLang="ja-JP" sz="1800" i="1">
                                            <a:solidFill>
                                              <a:schemeClr val="tx1"/>
                                            </a:solidFill>
                                            <a:latin typeface="Cambria Math" panose="02040503050406030204" pitchFamily="18" charset="0"/>
                                          </a:rPr>
                                          <m:t>#</m:t>
                                        </m:r>
                                      </m:e>
                                    </m:eqArr>
                                    <m:r>
                                      <a:rPr lang="en-US" altLang="ja-JP" sz="1800" b="0" i="1" smtClean="0">
                                        <a:solidFill>
                                          <a:schemeClr val="tx1"/>
                                        </a:solidFill>
                                        <a:latin typeface="Cambria Math" panose="02040503050406030204" pitchFamily="18" charset="0"/>
                                      </a:rPr>
                                      <m:t>#</m:t>
                                    </m:r>
                                  </m:e>
                                </m:eqArr>
                              </m:oMath>
                            </m:oMathPara>
                          </a14:m>
                          <a:endParaRPr kumimoji="1" lang="ja-JP" altLang="en-US"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kumimoji="1" lang="en-US" altLang="ja-JP" b="0" i="1" smtClean="0">
                                    <a:solidFill>
                                      <a:schemeClr val="tx1"/>
                                    </a:solidFill>
                                    <a:latin typeface="Cambria Math" panose="02040503050406030204" pitchFamily="18" charset="0"/>
                                  </a:rPr>
                                  <m:t>(3)</m:t>
                                </m:r>
                              </m:oMath>
                            </m:oMathPara>
                          </a14:m>
                          <a:endParaRPr kumimoji="1" lang="ja-JP"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629622"/>
                      </a:ext>
                    </a:extLst>
                  </a:tr>
                </a:tbl>
              </a:graphicData>
            </a:graphic>
          </p:graphicFrame>
        </mc:Choice>
        <mc:Fallback xmlns="">
          <p:graphicFrame>
            <p:nvGraphicFramePr>
              <p:cNvPr id="7" name="表 6">
                <a:extLst>
                  <a:ext uri="{FF2B5EF4-FFF2-40B4-BE49-F238E27FC236}">
                    <a16:creationId xmlns:a16="http://schemas.microsoft.com/office/drawing/2014/main" id="{9D0A720F-81C9-EE89-2F81-E826EAC3B683}"/>
                  </a:ext>
                </a:extLst>
              </p:cNvPr>
              <p:cNvGraphicFramePr>
                <a:graphicFrameLocks noGrp="1"/>
              </p:cNvGraphicFramePr>
              <p:nvPr>
                <p:extLst>
                  <p:ext uri="{D42A27DB-BD31-4B8C-83A1-F6EECF244321}">
                    <p14:modId xmlns:p14="http://schemas.microsoft.com/office/powerpoint/2010/main" val="2325586585"/>
                  </p:ext>
                </p:extLst>
              </p:nvPr>
            </p:nvGraphicFramePr>
            <p:xfrm>
              <a:off x="766822" y="3911399"/>
              <a:ext cx="10586978" cy="812419"/>
            </p:xfrm>
            <a:graphic>
              <a:graphicData uri="http://schemas.openxmlformats.org/drawingml/2006/table">
                <a:tbl>
                  <a:tblPr firstRow="1" bandRow="1">
                    <a:tableStyleId>{5C22544A-7EE6-4342-B048-85BDC9FD1C3A}</a:tableStyleId>
                  </a:tblPr>
                  <a:tblGrid>
                    <a:gridCol w="10040246">
                      <a:extLst>
                        <a:ext uri="{9D8B030D-6E8A-4147-A177-3AD203B41FA5}">
                          <a16:colId xmlns:a16="http://schemas.microsoft.com/office/drawing/2014/main" val="2353107792"/>
                        </a:ext>
                      </a:extLst>
                    </a:gridCol>
                    <a:gridCol w="546732">
                      <a:extLst>
                        <a:ext uri="{9D8B030D-6E8A-4147-A177-3AD203B41FA5}">
                          <a16:colId xmlns:a16="http://schemas.microsoft.com/office/drawing/2014/main" val="975643189"/>
                        </a:ext>
                      </a:extLst>
                    </a:gridCol>
                  </a:tblGrid>
                  <a:tr h="812419">
                    <a:tc>
                      <a:txBody>
                        <a:bodyPr/>
                        <a:lstStyle/>
                        <a:p>
                          <a:endParaRPr lang="ja-JP"/>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r="-5461"/>
                          </a:stretch>
                        </a:blipFill>
                      </a:tcPr>
                    </a:tc>
                    <a:tc>
                      <a:txBody>
                        <a:bodyPr/>
                        <a:lstStyle/>
                        <a:p>
                          <a:endParaRPr lang="ja-JP"/>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l="-1831111"/>
                          </a:stretch>
                        </a:blipFill>
                      </a:tcPr>
                    </a:tc>
                    <a:extLst>
                      <a:ext uri="{0D108BD9-81ED-4DB2-BD59-A6C34878D82A}">
                        <a16:rowId xmlns:a16="http://schemas.microsoft.com/office/drawing/2014/main" val="121462962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表 7">
                <a:extLst>
                  <a:ext uri="{FF2B5EF4-FFF2-40B4-BE49-F238E27FC236}">
                    <a16:creationId xmlns:a16="http://schemas.microsoft.com/office/drawing/2014/main" id="{40139C58-81F9-A5DC-D35A-01BA7881F69E}"/>
                  </a:ext>
                </a:extLst>
              </p:cNvPr>
              <p:cNvGraphicFramePr>
                <a:graphicFrameLocks noGrp="1"/>
              </p:cNvGraphicFramePr>
              <p:nvPr>
                <p:extLst>
                  <p:ext uri="{D42A27DB-BD31-4B8C-83A1-F6EECF244321}">
                    <p14:modId xmlns:p14="http://schemas.microsoft.com/office/powerpoint/2010/main" val="1418041721"/>
                  </p:ext>
                </p:extLst>
              </p:nvPr>
            </p:nvGraphicFramePr>
            <p:xfrm>
              <a:off x="254643" y="5021821"/>
              <a:ext cx="11099157" cy="812419"/>
            </p:xfrm>
            <a:graphic>
              <a:graphicData uri="http://schemas.openxmlformats.org/drawingml/2006/table">
                <a:tbl>
                  <a:tblPr firstRow="1" bandRow="1">
                    <a:tableStyleId>{5C22544A-7EE6-4342-B048-85BDC9FD1C3A}</a:tableStyleId>
                  </a:tblPr>
                  <a:tblGrid>
                    <a:gridCol w="10544537">
                      <a:extLst>
                        <a:ext uri="{9D8B030D-6E8A-4147-A177-3AD203B41FA5}">
                          <a16:colId xmlns:a16="http://schemas.microsoft.com/office/drawing/2014/main" val="2353107792"/>
                        </a:ext>
                      </a:extLst>
                    </a:gridCol>
                    <a:gridCol w="554620">
                      <a:extLst>
                        <a:ext uri="{9D8B030D-6E8A-4147-A177-3AD203B41FA5}">
                          <a16:colId xmlns:a16="http://schemas.microsoft.com/office/drawing/2014/main" val="975643189"/>
                        </a:ext>
                      </a:extLst>
                    </a:gridCol>
                  </a:tblGrid>
                  <a:tr h="370840">
                    <a:tc>
                      <a:txBody>
                        <a:bodyPr/>
                        <a:lstStyle/>
                        <a:p>
                          <a:pPr/>
                          <a14:m>
                            <m:oMathPara xmlns:m="http://schemas.openxmlformats.org/officeDocument/2006/math">
                              <m:oMathParaPr>
                                <m:jc m:val="centerGroup"/>
                              </m:oMathParaPr>
                              <m:oMath xmlns:m="http://schemas.openxmlformats.org/officeDocument/2006/math">
                                <m:func>
                                  <m:funcPr>
                                    <m:ctrlPr>
                                      <a:rPr lang="ja-JP" altLang="ja-JP" sz="1800" i="1" smtClean="0">
                                        <a:solidFill>
                                          <a:schemeClr val="tx1"/>
                                        </a:solidFill>
                                        <a:latin typeface="Cambria Math" panose="02040503050406030204" pitchFamily="18" charset="0"/>
                                      </a:rPr>
                                    </m:ctrlPr>
                                  </m:funcPr>
                                  <m:fName>
                                    <m:r>
                                      <m:rPr>
                                        <m:sty m:val="p"/>
                                      </m:rPr>
                                      <a:rPr lang="en-US" altLang="ja-JP" sz="1800">
                                        <a:solidFill>
                                          <a:schemeClr val="tx1"/>
                                        </a:solidFill>
                                        <a:latin typeface="Cambria Math" panose="02040503050406030204" pitchFamily="18" charset="0"/>
                                      </a:rPr>
                                      <m:t>ln</m:t>
                                    </m:r>
                                  </m:fName>
                                  <m:e>
                                    <m:d>
                                      <m:dPr>
                                        <m:ctrlPr>
                                          <a:rPr lang="ja-JP" altLang="ja-JP" sz="1800" i="1">
                                            <a:solidFill>
                                              <a:schemeClr val="tx1"/>
                                            </a:solidFill>
                                            <a:latin typeface="Cambria Math" panose="02040503050406030204" pitchFamily="18" charset="0"/>
                                          </a:rPr>
                                        </m:ctrlPr>
                                      </m:dPr>
                                      <m:e>
                                        <m:f>
                                          <m:fPr>
                                            <m:ctrlPr>
                                              <a:rPr lang="ja-JP" altLang="ja-JP" sz="1800" i="1">
                                                <a:solidFill>
                                                  <a:schemeClr val="tx1"/>
                                                </a:solidFill>
                                                <a:latin typeface="Cambria Math" panose="02040503050406030204" pitchFamily="18" charset="0"/>
                                              </a:rPr>
                                            </m:ctrlPr>
                                          </m:fPr>
                                          <m:num>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𝑒</m:t>
                                                </m:r>
                                              </m:e>
                                              <m:sub>
                                                <m:r>
                                                  <a:rPr lang="en-US" altLang="ja-JP" sz="1800" i="1">
                                                    <a:solidFill>
                                                      <a:schemeClr val="tx1"/>
                                                    </a:solidFill>
                                                    <a:latin typeface="Cambria Math" panose="02040503050406030204" pitchFamily="18" charset="0"/>
                                                  </a:rPr>
                                                  <m:t>𝑡</m:t>
                                                </m:r>
                                              </m:sub>
                                            </m:sSub>
                                          </m:num>
                                          <m:den>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𝑢</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den>
                                        </m:f>
                                      </m:e>
                                    </m:d>
                                  </m:e>
                                </m:func>
                                <m:r>
                                  <a:rPr lang="en-US" altLang="ja-JP" sz="1800" i="1">
                                    <a:solidFill>
                                      <a:schemeClr val="tx1"/>
                                    </a:solidFill>
                                    <a:latin typeface="Cambria Math" panose="02040503050406030204" pitchFamily="18" charset="0"/>
                                  </a:rPr>
                                  <m:t>=</m:t>
                                </m:r>
                                <m:r>
                                  <m:rPr>
                                    <m:sty m:val="p"/>
                                  </m:rPr>
                                  <a:rPr lang="en-US" altLang="ja-JP" sz="1800">
                                    <a:solidFill>
                                      <a:schemeClr val="tx1"/>
                                    </a:solidFill>
                                    <a:latin typeface="Cambria Math" panose="02040503050406030204" pitchFamily="18" charset="0"/>
                                  </a:rPr>
                                  <m:t>ν</m:t>
                                </m:r>
                                <m:r>
                                  <a:rPr lang="en-US" altLang="ja-JP" sz="1800" i="1">
                                    <a:solidFill>
                                      <a:schemeClr val="tx1"/>
                                    </a:solidFill>
                                    <a:latin typeface="Cambria Math" panose="02040503050406030204" pitchFamily="18" charset="0"/>
                                  </a:rPr>
                                  <m:t>+</m:t>
                                </m:r>
                                <m:d>
                                  <m:dPr>
                                    <m:ctrlPr>
                                      <a:rPr lang="ja-JP" altLang="ja-JP" sz="1800" i="1">
                                        <a:solidFill>
                                          <a:schemeClr val="tx1"/>
                                        </a:solidFill>
                                        <a:latin typeface="Cambria Math" panose="02040503050406030204" pitchFamily="18" charset="0"/>
                                      </a:rPr>
                                    </m:ctrlPr>
                                  </m:dPr>
                                  <m:e>
                                    <m:r>
                                      <m:rPr>
                                        <m:sty m:val="p"/>
                                      </m:rPr>
                                      <a:rPr lang="en-US" altLang="ja-JP" sz="1800">
                                        <a:solidFill>
                                          <a:schemeClr val="tx1"/>
                                        </a:solidFill>
                                        <a:latin typeface="Cambria Math" panose="02040503050406030204" pitchFamily="18" charset="0"/>
                                      </a:rPr>
                                      <m:t>ϕ</m:t>
                                    </m:r>
                                    <m:r>
                                      <a:rPr lang="en-US" altLang="ja-JP" sz="1800" i="1">
                                        <a:solidFill>
                                          <a:schemeClr val="tx1"/>
                                        </a:solidFill>
                                        <a:latin typeface="Cambria Math" panose="02040503050406030204" pitchFamily="18" charset="0"/>
                                      </a:rPr>
                                      <m:t>+</m:t>
                                    </m:r>
                                    <m:nary>
                                      <m:naryPr>
                                        <m:chr m:val="∑"/>
                                        <m:supHide m:val="on"/>
                                        <m:ctrlPr>
                                          <a:rPr lang="ja-JP" altLang="ja-JP" sz="1800" i="1">
                                            <a:solidFill>
                                              <a:schemeClr val="tx1"/>
                                            </a:solidFill>
                                            <a:latin typeface="Cambria Math" panose="02040503050406030204" pitchFamily="18" charset="0"/>
                                          </a:rPr>
                                        </m:ctrlPr>
                                      </m:naryPr>
                                      <m:sub>
                                        <m:r>
                                          <a:rPr lang="en-US" altLang="ja-JP" sz="1800" i="1">
                                            <a:solidFill>
                                              <a:schemeClr val="tx1"/>
                                            </a:solidFill>
                                            <a:latin typeface="Cambria Math" panose="02040503050406030204" pitchFamily="18" charset="0"/>
                                          </a:rPr>
                                          <m:t>𝑖</m:t>
                                        </m:r>
                                        <m:r>
                                          <a:rPr lang="ja-JP" altLang="ja-JP" sz="1800">
                                            <a:solidFill>
                                              <a:schemeClr val="tx1"/>
                                            </a:solidFill>
                                            <a:latin typeface="Cambria Math" panose="02040503050406030204" pitchFamily="18" charset="0"/>
                                          </a:rPr>
                                          <m:t>∈</m:t>
                                        </m:r>
                                        <m:d>
                                          <m:dPr>
                                            <m:begChr m:val="{"/>
                                            <m:endChr m:val="}"/>
                                            <m:ctrlPr>
                                              <a:rPr lang="ja-JP" altLang="ja-JP" sz="1800" i="1">
                                                <a:solidFill>
                                                  <a:schemeClr val="tx1"/>
                                                </a:solidFill>
                                                <a:latin typeface="Cambria Math" panose="02040503050406030204" pitchFamily="18" charset="0"/>
                                              </a:rPr>
                                            </m:ctrlPr>
                                          </m:dPr>
                                          <m:e>
                                            <m:r>
                                              <a:rPr lang="en-US" altLang="ja-JP" sz="1800" b="0" i="1" smtClean="0">
                                                <a:solidFill>
                                                  <a:schemeClr val="tx1"/>
                                                </a:solidFill>
                                                <a:latin typeface="Cambria Math" panose="02040503050406030204" pitchFamily="18" charset="0"/>
                                              </a:rPr>
                                              <m:t>𝑘𝑜𝑖𝑧𝑢𝑚𝑖</m:t>
                                            </m:r>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𝑙𝑒h𝑚𝑎𝑛</m:t>
                                            </m:r>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𝑘𝑜𝑟𝑜𝑛𝑎</m:t>
                                            </m:r>
                                          </m:e>
                                        </m:d>
                                      </m:sub>
                                      <m:sup/>
                                      <m:e>
                                        <m:sSub>
                                          <m:sSubPr>
                                            <m:ctrlPr>
                                              <a:rPr lang="ja-JP" altLang="ja-JP" sz="1800" i="1">
                                                <a:solidFill>
                                                  <a:schemeClr val="tx1"/>
                                                </a:solidFill>
                                                <a:latin typeface="Cambria Math" panose="02040503050406030204" pitchFamily="18" charset="0"/>
                                              </a:rPr>
                                            </m:ctrlPr>
                                          </m:sSubPr>
                                          <m:e>
                                            <m:r>
                                              <m:rPr>
                                                <m:sty m:val="p"/>
                                              </m:rPr>
                                              <a:rPr lang="en-US" altLang="ja-JP" sz="1800">
                                                <a:solidFill>
                                                  <a:schemeClr val="tx1"/>
                                                </a:solidFill>
                                                <a:latin typeface="Cambria Math" panose="02040503050406030204" pitchFamily="18" charset="0"/>
                                              </a:rPr>
                                              <m:t>ω</m:t>
                                            </m:r>
                                          </m:e>
                                          <m:sub>
                                            <m:r>
                                              <a:rPr lang="en-US" altLang="ja-JP" sz="1800" i="1">
                                                <a:solidFill>
                                                  <a:schemeClr val="tx1"/>
                                                </a:solidFill>
                                                <a:latin typeface="Cambria Math" panose="02040503050406030204" pitchFamily="18" charset="0"/>
                                              </a:rPr>
                                              <m:t>𝑖</m:t>
                                            </m:r>
                                          </m:sub>
                                        </m:sSub>
                                      </m:e>
                                    </m:nary>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𝐷</m:t>
                                        </m:r>
                                      </m:e>
                                      <m:sub>
                                        <m:r>
                                          <a:rPr lang="en-US" altLang="ja-JP" sz="1800" i="1">
                                            <a:solidFill>
                                              <a:schemeClr val="tx1"/>
                                            </a:solidFill>
                                            <a:latin typeface="Cambria Math" panose="02040503050406030204" pitchFamily="18" charset="0"/>
                                          </a:rPr>
                                          <m:t>𝑖</m:t>
                                        </m:r>
                                      </m:sub>
                                    </m:sSub>
                                  </m:e>
                                </m:d>
                                <m:func>
                                  <m:funcPr>
                                    <m:ctrlPr>
                                      <a:rPr lang="ja-JP" altLang="ja-JP" sz="1800" i="1">
                                        <a:solidFill>
                                          <a:schemeClr val="tx1"/>
                                        </a:solidFill>
                                        <a:latin typeface="Cambria Math" panose="02040503050406030204" pitchFamily="18" charset="0"/>
                                      </a:rPr>
                                    </m:ctrlPr>
                                  </m:funcPr>
                                  <m:fName>
                                    <m:r>
                                      <m:rPr>
                                        <m:sty m:val="p"/>
                                      </m:rPr>
                                      <a:rPr lang="en-US" altLang="ja-JP" sz="1800">
                                        <a:solidFill>
                                          <a:schemeClr val="tx1"/>
                                        </a:solidFill>
                                        <a:latin typeface="Cambria Math" panose="02040503050406030204" pitchFamily="18" charset="0"/>
                                      </a:rPr>
                                      <m:t>ln</m:t>
                                    </m:r>
                                  </m:fName>
                                  <m:e>
                                    <m:d>
                                      <m:dPr>
                                        <m:ctrlPr>
                                          <a:rPr lang="ja-JP" altLang="ja-JP" sz="1800" i="1">
                                            <a:solidFill>
                                              <a:schemeClr val="tx1"/>
                                            </a:solidFill>
                                            <a:latin typeface="Cambria Math" panose="02040503050406030204" pitchFamily="18" charset="0"/>
                                          </a:rPr>
                                        </m:ctrlPr>
                                      </m:dPr>
                                      <m:e>
                                        <m:f>
                                          <m:fPr>
                                            <m:ctrlPr>
                                              <a:rPr lang="ja-JP" altLang="ja-JP" sz="1800" i="1">
                                                <a:solidFill>
                                                  <a:schemeClr val="tx1"/>
                                                </a:solidFill>
                                                <a:latin typeface="Cambria Math" panose="02040503050406030204" pitchFamily="18" charset="0"/>
                                              </a:rPr>
                                            </m:ctrlPr>
                                          </m:fPr>
                                          <m:num>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𝑚</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num>
                                          <m:den>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𝑢</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den>
                                        </m:f>
                                      </m:e>
                                    </m:d>
                                  </m:e>
                                </m:func>
                                <m:r>
                                  <a:rPr lang="en-US" altLang="ja-JP" sz="1800" i="1">
                                    <a:solidFill>
                                      <a:schemeClr val="tx1"/>
                                    </a:solidFill>
                                    <a:latin typeface="Cambria Math" panose="02040503050406030204" pitchFamily="18" charset="0"/>
                                  </a:rPr>
                                  <m:t>+</m:t>
                                </m:r>
                                <m:nary>
                                  <m:naryPr>
                                    <m:chr m:val="∑"/>
                                    <m:supHide m:val="on"/>
                                    <m:ctrlPr>
                                      <a:rPr lang="ja-JP" altLang="ja-JP" sz="1800" i="1">
                                        <a:solidFill>
                                          <a:schemeClr val="tx1"/>
                                        </a:solidFill>
                                        <a:latin typeface="Cambria Math" panose="02040503050406030204" pitchFamily="18" charset="0"/>
                                      </a:rPr>
                                    </m:ctrlPr>
                                  </m:naryPr>
                                  <m:sub>
                                    <m:r>
                                      <a:rPr lang="en-US" altLang="ja-JP" sz="1800" i="1">
                                        <a:solidFill>
                                          <a:schemeClr val="tx1"/>
                                        </a:solidFill>
                                        <a:latin typeface="Cambria Math" panose="02040503050406030204" pitchFamily="18" charset="0"/>
                                      </a:rPr>
                                      <m:t>𝑖</m:t>
                                    </m:r>
                                    <m:r>
                                      <a:rPr lang="ja-JP" altLang="ja-JP" sz="1800">
                                        <a:solidFill>
                                          <a:schemeClr val="tx1"/>
                                        </a:solidFill>
                                        <a:latin typeface="Cambria Math" panose="02040503050406030204" pitchFamily="18" charset="0"/>
                                      </a:rPr>
                                      <m:t>∈</m:t>
                                    </m:r>
                                    <m:d>
                                      <m:dPr>
                                        <m:begChr m:val="{"/>
                                        <m:endChr m:val="}"/>
                                        <m:ctrlPr>
                                          <a:rPr lang="ja-JP" altLang="ja-JP" sz="1800" i="1">
                                            <a:solidFill>
                                              <a:schemeClr val="tx1"/>
                                            </a:solidFill>
                                            <a:latin typeface="Cambria Math" panose="02040503050406030204" pitchFamily="18" charset="0"/>
                                          </a:rPr>
                                        </m:ctrlPr>
                                      </m:dPr>
                                      <m:e>
                                        <m:r>
                                          <a:rPr lang="en-US" altLang="ja-JP" sz="1800" b="0" i="1" smtClean="0">
                                            <a:solidFill>
                                              <a:schemeClr val="tx1"/>
                                            </a:solidFill>
                                            <a:latin typeface="Cambria Math" panose="02040503050406030204" pitchFamily="18" charset="0"/>
                                          </a:rPr>
                                          <m:t>𝑘𝑜𝑖𝑧𝑢𝑚𝑖</m:t>
                                        </m:r>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𝑙𝑒h𝑚𝑎𝑛</m:t>
                                        </m:r>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𝑘𝑜𝑟𝑜𝑛𝑎</m:t>
                                        </m:r>
                                      </m:e>
                                    </m:d>
                                  </m:sub>
                                  <m:sup/>
                                  <m:e>
                                    <m:sSub>
                                      <m:sSubPr>
                                        <m:ctrlPr>
                                          <a:rPr lang="ja-JP" altLang="ja-JP" sz="1800" i="1">
                                            <a:solidFill>
                                              <a:schemeClr val="tx1"/>
                                            </a:solidFill>
                                            <a:latin typeface="Cambria Math" panose="02040503050406030204" pitchFamily="18" charset="0"/>
                                          </a:rPr>
                                        </m:ctrlPr>
                                      </m:sSubPr>
                                      <m:e>
                                        <m:r>
                                          <m:rPr>
                                            <m:sty m:val="p"/>
                                          </m:rPr>
                                          <a:rPr lang="en-US" altLang="ja-JP" sz="1800">
                                            <a:solidFill>
                                              <a:schemeClr val="tx1"/>
                                            </a:solidFill>
                                            <a:latin typeface="Cambria Math" panose="02040503050406030204" pitchFamily="18" charset="0"/>
                                          </a:rPr>
                                          <m:t>ψ</m:t>
                                        </m:r>
                                      </m:e>
                                      <m:sub>
                                        <m:r>
                                          <a:rPr lang="en-US" altLang="ja-JP" sz="1800" i="1">
                                            <a:solidFill>
                                              <a:schemeClr val="tx1"/>
                                            </a:solidFill>
                                            <a:latin typeface="Cambria Math" panose="02040503050406030204" pitchFamily="18" charset="0"/>
                                          </a:rPr>
                                          <m:t>𝑖</m:t>
                                        </m:r>
                                      </m:sub>
                                    </m:sSub>
                                  </m:e>
                                </m:nary>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𝐷</m:t>
                                    </m:r>
                                  </m:e>
                                  <m:sub>
                                    <m:r>
                                      <a:rPr lang="en-US" altLang="ja-JP" sz="1800" i="1">
                                        <a:solidFill>
                                          <a:schemeClr val="tx1"/>
                                        </a:solidFill>
                                        <a:latin typeface="Cambria Math" panose="02040503050406030204" pitchFamily="18" charset="0"/>
                                      </a:rPr>
                                      <m:t>𝑖</m:t>
                                    </m:r>
                                  </m:sub>
                                </m:sSub>
                                <m:r>
                                  <a:rPr lang="en-US" altLang="ja-JP" sz="1800" i="1">
                                    <a:solidFill>
                                      <a:schemeClr val="tx1"/>
                                    </a:solidFill>
                                    <a:latin typeface="Cambria Math" panose="02040503050406030204" pitchFamily="18" charset="0"/>
                                  </a:rPr>
                                  <m:t>+</m:t>
                                </m:r>
                                <m:sSub>
                                  <m:sSubPr>
                                    <m:ctrlPr>
                                      <a:rPr lang="ja-JP" altLang="ja-JP" sz="1800" i="1">
                                        <a:solidFill>
                                          <a:schemeClr val="tx1"/>
                                        </a:solidFill>
                                        <a:latin typeface="Cambria Math" panose="02040503050406030204" pitchFamily="18" charset="0"/>
                                      </a:rPr>
                                    </m:ctrlPr>
                                  </m:sSubPr>
                                  <m:e>
                                    <m:r>
                                      <m:rPr>
                                        <m:sty m:val="p"/>
                                      </m:rPr>
                                      <a:rPr lang="en-US" altLang="ja-JP" sz="1800">
                                        <a:solidFill>
                                          <a:schemeClr val="tx1"/>
                                        </a:solidFill>
                                        <a:latin typeface="Cambria Math" panose="02040503050406030204" pitchFamily="18" charset="0"/>
                                      </a:rPr>
                                      <m:t>ε</m:t>
                                    </m:r>
                                  </m:e>
                                  <m:sub>
                                    <m:r>
                                      <a:rPr lang="en-US" altLang="ja-JP" sz="1800" i="1">
                                        <a:solidFill>
                                          <a:schemeClr val="tx1"/>
                                        </a:solidFill>
                                        <a:latin typeface="Cambria Math" panose="02040503050406030204" pitchFamily="18" charset="0"/>
                                      </a:rPr>
                                      <m:t>𝑡</m:t>
                                    </m:r>
                                  </m:sub>
                                </m:sSub>
                              </m:oMath>
                            </m:oMathPara>
                          </a14:m>
                          <a:endParaRPr kumimoji="1" lang="ja-JP" altLang="en-US"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kumimoji="1" lang="en-US" altLang="ja-JP" b="0" i="1" smtClean="0">
                                    <a:solidFill>
                                      <a:schemeClr val="tx1"/>
                                    </a:solidFill>
                                    <a:latin typeface="Cambria Math" panose="02040503050406030204" pitchFamily="18" charset="0"/>
                                  </a:rPr>
                                  <m:t>(4)</m:t>
                                </m:r>
                              </m:oMath>
                            </m:oMathPara>
                          </a14:m>
                          <a:endParaRPr kumimoji="1" lang="ja-JP" alt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629622"/>
                      </a:ext>
                    </a:extLst>
                  </a:tr>
                </a:tbl>
              </a:graphicData>
            </a:graphic>
          </p:graphicFrame>
        </mc:Choice>
        <mc:Fallback xmlns="">
          <p:graphicFrame>
            <p:nvGraphicFramePr>
              <p:cNvPr id="8" name="表 7">
                <a:extLst>
                  <a:ext uri="{FF2B5EF4-FFF2-40B4-BE49-F238E27FC236}">
                    <a16:creationId xmlns:a16="http://schemas.microsoft.com/office/drawing/2014/main" id="{40139C58-81F9-A5DC-D35A-01BA7881F69E}"/>
                  </a:ext>
                </a:extLst>
              </p:cNvPr>
              <p:cNvGraphicFramePr>
                <a:graphicFrameLocks noGrp="1"/>
              </p:cNvGraphicFramePr>
              <p:nvPr>
                <p:extLst>
                  <p:ext uri="{D42A27DB-BD31-4B8C-83A1-F6EECF244321}">
                    <p14:modId xmlns:p14="http://schemas.microsoft.com/office/powerpoint/2010/main" val="1418041721"/>
                  </p:ext>
                </p:extLst>
              </p:nvPr>
            </p:nvGraphicFramePr>
            <p:xfrm>
              <a:off x="254643" y="5021821"/>
              <a:ext cx="11099157" cy="812419"/>
            </p:xfrm>
            <a:graphic>
              <a:graphicData uri="http://schemas.openxmlformats.org/drawingml/2006/table">
                <a:tbl>
                  <a:tblPr firstRow="1" bandRow="1">
                    <a:tableStyleId>{5C22544A-7EE6-4342-B048-85BDC9FD1C3A}</a:tableStyleId>
                  </a:tblPr>
                  <a:tblGrid>
                    <a:gridCol w="10544537">
                      <a:extLst>
                        <a:ext uri="{9D8B030D-6E8A-4147-A177-3AD203B41FA5}">
                          <a16:colId xmlns:a16="http://schemas.microsoft.com/office/drawing/2014/main" val="2353107792"/>
                        </a:ext>
                      </a:extLst>
                    </a:gridCol>
                    <a:gridCol w="554620">
                      <a:extLst>
                        <a:ext uri="{9D8B030D-6E8A-4147-A177-3AD203B41FA5}">
                          <a16:colId xmlns:a16="http://schemas.microsoft.com/office/drawing/2014/main" val="975643189"/>
                        </a:ext>
                      </a:extLst>
                    </a:gridCol>
                  </a:tblGrid>
                  <a:tr h="812419">
                    <a:tc>
                      <a:txBody>
                        <a:bodyPr/>
                        <a:lstStyle/>
                        <a:p>
                          <a:endParaRPr lang="ja-JP"/>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stretch>
                            <a:fillRect r="-5257"/>
                          </a:stretch>
                        </a:blipFill>
                      </a:tcPr>
                    </a:tc>
                    <a:tc>
                      <a:txBody>
                        <a:bodyPr/>
                        <a:lstStyle/>
                        <a:p>
                          <a:endParaRPr lang="ja-JP"/>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7"/>
                          <a:stretch>
                            <a:fillRect l="-1902198"/>
                          </a:stretch>
                        </a:blipFill>
                      </a:tcPr>
                    </a:tc>
                    <a:extLst>
                      <a:ext uri="{0D108BD9-81ED-4DB2-BD59-A6C34878D82A}">
                        <a16:rowId xmlns:a16="http://schemas.microsoft.com/office/drawing/2014/main" val="1214629622"/>
                      </a:ext>
                    </a:extLst>
                  </a:tr>
                </a:tbl>
              </a:graphicData>
            </a:graphic>
          </p:graphicFrame>
        </mc:Fallback>
      </mc:AlternateContent>
    </p:spTree>
    <p:extLst>
      <p:ext uri="{BB962C8B-B14F-4D97-AF65-F5344CB8AC3E}">
        <p14:creationId xmlns:p14="http://schemas.microsoft.com/office/powerpoint/2010/main" val="2208512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DDFAF0-96C7-7C82-5808-455DB8E47D82}"/>
              </a:ext>
            </a:extLst>
          </p:cNvPr>
          <p:cNvSpPr>
            <a:spLocks noGrp="1"/>
          </p:cNvSpPr>
          <p:nvPr>
            <p:ph type="title"/>
          </p:nvPr>
        </p:nvSpPr>
        <p:spPr/>
        <p:txBody>
          <a:bodyPr/>
          <a:lstStyle/>
          <a:p>
            <a:r>
              <a:rPr kumimoji="1" lang="ja-JP" altLang="en-US" dirty="0"/>
              <a:t>推計モデルの修正</a:t>
            </a:r>
          </a:p>
        </p:txBody>
      </p:sp>
      <p:sp>
        <p:nvSpPr>
          <p:cNvPr id="3" name="コンテンツ プレースホルダー 2">
            <a:extLst>
              <a:ext uri="{FF2B5EF4-FFF2-40B4-BE49-F238E27FC236}">
                <a16:creationId xmlns:a16="http://schemas.microsoft.com/office/drawing/2014/main" id="{9284ABEE-E43F-1750-2341-0802E6465FAA}"/>
              </a:ext>
            </a:extLst>
          </p:cNvPr>
          <p:cNvSpPr>
            <a:spLocks noGrp="1"/>
          </p:cNvSpPr>
          <p:nvPr>
            <p:ph idx="1"/>
          </p:nvPr>
        </p:nvSpPr>
        <p:spPr>
          <a:xfrm>
            <a:off x="838200" y="1094958"/>
            <a:ext cx="10515600" cy="5567524"/>
          </a:xfrm>
        </p:spPr>
        <p:txBody>
          <a:bodyPr>
            <a:normAutofit lnSpcReduction="10000"/>
          </a:bodyPr>
          <a:lstStyle/>
          <a:p>
            <a:pPr>
              <a:buFont typeface="Wingdings" panose="05000000000000000000" pitchFamily="2" charset="2"/>
              <a:buChar char="u"/>
            </a:pPr>
            <a:r>
              <a:rPr kumimoji="1" lang="ja-JP" altLang="en-US" dirty="0"/>
              <a:t>非定常性</a:t>
            </a:r>
            <a:r>
              <a:rPr kumimoji="1" lang="en-US" altLang="ja-JP" dirty="0"/>
              <a:t>(</a:t>
            </a:r>
            <a:r>
              <a:rPr kumimoji="1" lang="ja-JP" altLang="en-US" dirty="0"/>
              <a:t>単位根</a:t>
            </a:r>
            <a:r>
              <a:rPr kumimoji="1" lang="en-US" altLang="ja-JP" dirty="0"/>
              <a:t>)</a:t>
            </a:r>
            <a:r>
              <a:rPr kumimoji="1" lang="ja-JP" altLang="en-US" dirty="0"/>
              <a:t>の問題</a:t>
            </a:r>
            <a:endParaRPr kumimoji="1" lang="en-US" altLang="ja-JP" dirty="0"/>
          </a:p>
          <a:p>
            <a:pPr lvl="1"/>
            <a:r>
              <a:rPr lang="ja-JP" altLang="en-US" dirty="0"/>
              <a:t>時系列分析では，時間によってデータの性質が変わる場合がある</a:t>
            </a:r>
            <a:endParaRPr lang="en-US" altLang="ja-JP" dirty="0"/>
          </a:p>
          <a:p>
            <a:pPr lvl="1">
              <a:buFont typeface="Wingdings" panose="05000000000000000000" pitchFamily="2" charset="2"/>
              <a:buChar char="Ø"/>
            </a:pPr>
            <a:r>
              <a:rPr lang="ja-JP" altLang="en-US" dirty="0"/>
              <a:t>「見せかけの回帰」や，「予測の信頼性」が失われる</a:t>
            </a:r>
            <a:endParaRPr lang="en-US" altLang="ja-JP" dirty="0"/>
          </a:p>
          <a:p>
            <a:pPr>
              <a:buFont typeface="Wingdings" panose="05000000000000000000" pitchFamily="2" charset="2"/>
              <a:buChar char="u"/>
            </a:pPr>
            <a:r>
              <a:rPr kumimoji="1" lang="en-US" altLang="ja-JP" dirty="0">
                <a:solidFill>
                  <a:srgbClr val="FF0000"/>
                </a:solidFill>
              </a:rPr>
              <a:t>ADF</a:t>
            </a:r>
            <a:r>
              <a:rPr kumimoji="1" lang="ja-JP" altLang="en-US" dirty="0">
                <a:solidFill>
                  <a:srgbClr val="FF0000"/>
                </a:solidFill>
              </a:rPr>
              <a:t>検定</a:t>
            </a:r>
            <a:r>
              <a:rPr kumimoji="1" lang="en-US" altLang="ja-JP" dirty="0"/>
              <a:t>(</a:t>
            </a:r>
            <a:r>
              <a:rPr lang="ja-JP" altLang="en-US" dirty="0"/>
              <a:t>拡張ディッキー</a:t>
            </a:r>
            <a:r>
              <a:rPr lang="en-US" altLang="ja-JP" dirty="0"/>
              <a:t>–</a:t>
            </a:r>
            <a:r>
              <a:rPr lang="ja-JP" altLang="en-US" dirty="0"/>
              <a:t>フラー検定</a:t>
            </a:r>
            <a:r>
              <a:rPr lang="en-US" altLang="ja-JP" dirty="0"/>
              <a:t>)</a:t>
            </a:r>
            <a:endParaRPr lang="ja-JP" altLang="en-US" dirty="0"/>
          </a:p>
          <a:p>
            <a:pPr lvl="1"/>
            <a:r>
              <a:rPr kumimoji="1" lang="ja-JP" altLang="en-US" dirty="0"/>
              <a:t>「非定常系列である」という帰無仮説を検定</a:t>
            </a:r>
            <a:endParaRPr kumimoji="1" lang="en-US" altLang="ja-JP" dirty="0"/>
          </a:p>
          <a:p>
            <a:pPr lvl="1"/>
            <a:r>
              <a:rPr lang="ja-JP" altLang="en-US" dirty="0"/>
              <a:t>結果は，帰無仮説が棄却されなかった</a:t>
            </a:r>
            <a:endParaRPr lang="en-US" altLang="ja-JP" dirty="0"/>
          </a:p>
          <a:p>
            <a:pPr lvl="1">
              <a:buFont typeface="Wingdings" panose="05000000000000000000" pitchFamily="2" charset="2"/>
              <a:buChar char="Ø"/>
            </a:pPr>
            <a:r>
              <a:rPr lang="ja-JP" altLang="en-US" u="sng" dirty="0"/>
              <a:t>推計</a:t>
            </a:r>
            <a:r>
              <a:rPr kumimoji="1" lang="ja-JP" altLang="en-US" u="sng" dirty="0"/>
              <a:t>モデルの修正が必要</a:t>
            </a:r>
            <a:endParaRPr lang="en-US" altLang="ja-JP" dirty="0"/>
          </a:p>
          <a:p>
            <a:pPr>
              <a:buFont typeface="Wingdings" panose="05000000000000000000" pitchFamily="2" charset="2"/>
              <a:buChar char="u"/>
            </a:pPr>
            <a:r>
              <a:rPr lang="ja-JP" altLang="en-US" dirty="0"/>
              <a:t>推計モデルの修正</a:t>
            </a:r>
            <a:endParaRPr lang="en-US" altLang="ja-JP" dirty="0"/>
          </a:p>
          <a:p>
            <a:pPr lvl="1"/>
            <a:r>
              <a:rPr lang="en-US" altLang="ja-JP" dirty="0"/>
              <a:t>1</a:t>
            </a:r>
            <a:r>
              <a:rPr lang="ja-JP" altLang="en-US" dirty="0"/>
              <a:t>階の階差</a:t>
            </a:r>
            <a:r>
              <a:rPr lang="en-US" altLang="ja-JP" dirty="0"/>
              <a:t>(1</a:t>
            </a:r>
            <a:r>
              <a:rPr lang="ja-JP" altLang="en-US" dirty="0"/>
              <a:t>期前とのデータの差分</a:t>
            </a:r>
            <a:r>
              <a:rPr lang="en-US" altLang="ja-JP" dirty="0"/>
              <a:t>)</a:t>
            </a:r>
            <a:r>
              <a:rPr lang="ja-JP" altLang="en-US" dirty="0"/>
              <a:t>を取る</a:t>
            </a:r>
            <a:endParaRPr lang="en-US" altLang="ja-JP" sz="1800" b="0" i="1" dirty="0"/>
          </a:p>
          <a:p>
            <a:pPr marL="457200" lvl="1" indent="0">
              <a:buNone/>
            </a:pPr>
            <a:endParaRPr lang="en-US" altLang="ja-JP" sz="1800" b="0" dirty="0"/>
          </a:p>
          <a:p>
            <a:pPr marL="457200" lvl="1" indent="0">
              <a:buNone/>
            </a:pPr>
            <a:endParaRPr lang="en-US" altLang="ja-JP" sz="1800" dirty="0"/>
          </a:p>
          <a:p>
            <a:pPr marL="457200" lvl="1" indent="0">
              <a:buNone/>
            </a:pPr>
            <a:r>
              <a:rPr lang="en-US" altLang="ja-JP" sz="1800" b="0" dirty="0"/>
              <a:t>※(3)</a:t>
            </a:r>
            <a:r>
              <a:rPr lang="ja-JP" altLang="en-US" sz="1800" b="0" dirty="0"/>
              <a:t>式，</a:t>
            </a:r>
            <a:r>
              <a:rPr lang="en-US" altLang="ja-JP" sz="1800" b="0" dirty="0"/>
              <a:t>(4)</a:t>
            </a:r>
            <a:r>
              <a:rPr lang="ja-JP" altLang="en-US" sz="1800" b="0" dirty="0"/>
              <a:t>式も同様に一階の階差を取って修正する．</a:t>
            </a:r>
            <a:endParaRPr lang="en-US" altLang="ja-JP" sz="1800" b="0" dirty="0"/>
          </a:p>
          <a:p>
            <a:pPr>
              <a:buFont typeface="Wingdings" panose="05000000000000000000" pitchFamily="2" charset="2"/>
              <a:buChar char="u"/>
            </a:pPr>
            <a:r>
              <a:rPr lang="ja-JP" altLang="en-US" b="0" dirty="0">
                <a:solidFill>
                  <a:srgbClr val="FF0000"/>
                </a:solidFill>
              </a:rPr>
              <a:t>ホワイト検定</a:t>
            </a:r>
            <a:endParaRPr lang="en-US" altLang="ja-JP" b="0" dirty="0">
              <a:solidFill>
                <a:srgbClr val="FF0000"/>
              </a:solidFill>
            </a:endParaRPr>
          </a:p>
          <a:p>
            <a:pPr lvl="1"/>
            <a:r>
              <a:rPr lang="ja-JP" altLang="en-US" b="0" dirty="0"/>
              <a:t>不均一分散性の可能性</a:t>
            </a:r>
            <a:endParaRPr lang="en-US" altLang="ja-JP" b="0" dirty="0"/>
          </a:p>
          <a:p>
            <a:pPr lvl="1">
              <a:buFont typeface="Wingdings" panose="05000000000000000000" pitchFamily="2" charset="2"/>
              <a:buChar char="Ø"/>
            </a:pPr>
            <a:r>
              <a:rPr lang="ja-JP" altLang="en-US" dirty="0">
                <a:solidFill>
                  <a:srgbClr val="FF0000"/>
                </a:solidFill>
              </a:rPr>
              <a:t>不均一分散修正標準誤差</a:t>
            </a:r>
            <a:r>
              <a:rPr lang="ja-JP" altLang="en-US" dirty="0"/>
              <a:t>で推計</a:t>
            </a:r>
            <a:endParaRPr lang="en-US" altLang="ja-JP" b="0" dirty="0"/>
          </a:p>
        </p:txBody>
      </p:sp>
      <p:sp>
        <p:nvSpPr>
          <p:cNvPr id="4" name="スライド番号プレースホルダー 3">
            <a:extLst>
              <a:ext uri="{FF2B5EF4-FFF2-40B4-BE49-F238E27FC236}">
                <a16:creationId xmlns:a16="http://schemas.microsoft.com/office/drawing/2014/main" id="{FE48E728-A70B-D0AD-21F7-5B0F14F6E693}"/>
              </a:ext>
            </a:extLst>
          </p:cNvPr>
          <p:cNvSpPr>
            <a:spLocks noGrp="1"/>
          </p:cNvSpPr>
          <p:nvPr>
            <p:ph type="sldNum" sz="quarter" idx="12"/>
          </p:nvPr>
        </p:nvSpPr>
        <p:spPr/>
        <p:txBody>
          <a:bodyPr/>
          <a:lstStyle/>
          <a:p>
            <a:fld id="{D015B3C7-C04D-468F-B3C4-7E2FB8E54005}" type="slidenum">
              <a:rPr kumimoji="1" lang="ja-JP" altLang="en-US" smtClean="0"/>
              <a:t>5</a:t>
            </a:fld>
            <a:endParaRPr kumimoji="1" lang="ja-JP" altLang="en-US"/>
          </a:p>
        </p:txBody>
      </p:sp>
      <mc:AlternateContent xmlns:mc="http://schemas.openxmlformats.org/markup-compatibility/2006">
        <mc:Choice xmlns:a14="http://schemas.microsoft.com/office/drawing/2010/main" Requires="a14">
          <p:graphicFrame>
            <p:nvGraphicFramePr>
              <p:cNvPr id="6" name="表 5">
                <a:extLst>
                  <a:ext uri="{FF2B5EF4-FFF2-40B4-BE49-F238E27FC236}">
                    <a16:creationId xmlns:a16="http://schemas.microsoft.com/office/drawing/2014/main" id="{8AB8B116-29CA-C7F6-4031-F88F2E9E2B7C}"/>
                  </a:ext>
                </a:extLst>
              </p:cNvPr>
              <p:cNvGraphicFramePr>
                <a:graphicFrameLocks noGrp="1"/>
              </p:cNvGraphicFramePr>
              <p:nvPr>
                <p:extLst>
                  <p:ext uri="{D42A27DB-BD31-4B8C-83A1-F6EECF244321}">
                    <p14:modId xmlns:p14="http://schemas.microsoft.com/office/powerpoint/2010/main" val="196592016"/>
                  </p:ext>
                </p:extLst>
              </p:nvPr>
            </p:nvGraphicFramePr>
            <p:xfrm>
              <a:off x="722454" y="4407255"/>
              <a:ext cx="10515600" cy="707771"/>
            </p:xfrm>
            <a:graphic>
              <a:graphicData uri="http://schemas.openxmlformats.org/drawingml/2006/table">
                <a:tbl>
                  <a:tblPr firstRow="1" bandRow="1">
                    <a:tableStyleId>{5C22544A-7EE6-4342-B048-85BDC9FD1C3A}</a:tableStyleId>
                  </a:tblPr>
                  <a:tblGrid>
                    <a:gridCol w="10007278">
                      <a:extLst>
                        <a:ext uri="{9D8B030D-6E8A-4147-A177-3AD203B41FA5}">
                          <a16:colId xmlns:a16="http://schemas.microsoft.com/office/drawing/2014/main" val="294409958"/>
                        </a:ext>
                      </a:extLst>
                    </a:gridCol>
                    <a:gridCol w="508322">
                      <a:extLst>
                        <a:ext uri="{9D8B030D-6E8A-4147-A177-3AD203B41FA5}">
                          <a16:colId xmlns:a16="http://schemas.microsoft.com/office/drawing/2014/main" val="2599969268"/>
                        </a:ext>
                      </a:extLst>
                    </a:gridCol>
                  </a:tblGrid>
                  <a:tr h="370840">
                    <a:tc>
                      <a:txBody>
                        <a:bodyPr/>
                        <a:lstStyle/>
                        <a:p>
                          <a:pPr/>
                          <a14:m>
                            <m:oMathPara xmlns:m="http://schemas.openxmlformats.org/officeDocument/2006/math">
                              <m:oMathParaPr>
                                <m:jc m:val="centerGroup"/>
                              </m:oMathParaPr>
                              <m:oMath xmlns:m="http://schemas.openxmlformats.org/officeDocument/2006/math">
                                <m:func>
                                  <m:funcPr>
                                    <m:ctrlPr>
                                      <a:rPr lang="ja-JP" altLang="ja-JP" sz="1800" i="1" smtClean="0">
                                        <a:solidFill>
                                          <a:schemeClr val="tx1"/>
                                        </a:solidFill>
                                        <a:latin typeface="Cambria Math" panose="02040503050406030204" pitchFamily="18" charset="0"/>
                                      </a:rPr>
                                    </m:ctrlPr>
                                  </m:funcPr>
                                  <m:fName>
                                    <m:r>
                                      <m:rPr>
                                        <m:sty m:val="p"/>
                                      </m:rPr>
                                      <a:rPr lang="el-GR" altLang="ja-JP" sz="1800" i="1">
                                        <a:solidFill>
                                          <a:schemeClr val="tx1"/>
                                        </a:solidFill>
                                        <a:latin typeface="Cambria Math" panose="02040503050406030204" pitchFamily="18" charset="0"/>
                                        <a:ea typeface="Cambria Math" panose="02040503050406030204" pitchFamily="18" charset="0"/>
                                      </a:rPr>
                                      <m:t>Δ</m:t>
                                    </m:r>
                                    <m:r>
                                      <m:rPr>
                                        <m:sty m:val="p"/>
                                      </m:rPr>
                                      <a:rPr lang="en-US" altLang="ja-JP" sz="1800">
                                        <a:solidFill>
                                          <a:schemeClr val="tx1"/>
                                        </a:solidFill>
                                        <a:latin typeface="Cambria Math" panose="02040503050406030204" pitchFamily="18" charset="0"/>
                                      </a:rPr>
                                      <m:t>ln</m:t>
                                    </m:r>
                                  </m:fName>
                                  <m:e>
                                    <m:d>
                                      <m:dPr>
                                        <m:ctrlPr>
                                          <a:rPr lang="ja-JP" altLang="ja-JP" sz="1800" i="1">
                                            <a:solidFill>
                                              <a:schemeClr val="tx1"/>
                                            </a:solidFill>
                                            <a:latin typeface="Cambria Math" panose="02040503050406030204" pitchFamily="18" charset="0"/>
                                          </a:rPr>
                                        </m:ctrlPr>
                                      </m:dPr>
                                      <m:e>
                                        <m:f>
                                          <m:fPr>
                                            <m:ctrlPr>
                                              <a:rPr lang="ja-JP" altLang="ja-JP" sz="1800" i="1">
                                                <a:solidFill>
                                                  <a:schemeClr val="tx1"/>
                                                </a:solidFill>
                                                <a:latin typeface="Cambria Math" panose="02040503050406030204" pitchFamily="18" charset="0"/>
                                              </a:rPr>
                                            </m:ctrlPr>
                                          </m:fPr>
                                          <m:num>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𝑒</m:t>
                                                </m:r>
                                              </m:e>
                                              <m:sub>
                                                <m:r>
                                                  <a:rPr lang="en-US" altLang="ja-JP" sz="1800" i="1">
                                                    <a:solidFill>
                                                      <a:schemeClr val="tx1"/>
                                                    </a:solidFill>
                                                    <a:latin typeface="Cambria Math" panose="02040503050406030204" pitchFamily="18" charset="0"/>
                                                  </a:rPr>
                                                  <m:t>𝑡</m:t>
                                                </m:r>
                                              </m:sub>
                                            </m:sSub>
                                          </m:num>
                                          <m:den>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𝑢</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den>
                                        </m:f>
                                      </m:e>
                                    </m:d>
                                  </m:e>
                                </m:func>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𝜈</m:t>
                                </m:r>
                                <m:r>
                                  <a:rPr lang="en-US" altLang="ja-JP" sz="1800" i="1">
                                    <a:solidFill>
                                      <a:schemeClr val="tx1"/>
                                    </a:solidFill>
                                    <a:latin typeface="Cambria Math" panose="02040503050406030204" pitchFamily="18" charset="0"/>
                                  </a:rPr>
                                  <m:t>+</m:t>
                                </m:r>
                                <m:r>
                                  <a:rPr lang="en-US" altLang="ja-JP" sz="1800" i="1">
                                    <a:solidFill>
                                      <a:schemeClr val="tx1"/>
                                    </a:solidFill>
                                    <a:latin typeface="Cambria Math" panose="02040503050406030204" pitchFamily="18" charset="0"/>
                                  </a:rPr>
                                  <m:t>𝜙</m:t>
                                </m:r>
                                <m:func>
                                  <m:funcPr>
                                    <m:ctrlPr>
                                      <a:rPr lang="ja-JP" altLang="ja-JP" sz="1800" i="1">
                                        <a:solidFill>
                                          <a:schemeClr val="tx1"/>
                                        </a:solidFill>
                                        <a:latin typeface="Cambria Math" panose="02040503050406030204" pitchFamily="18" charset="0"/>
                                      </a:rPr>
                                    </m:ctrlPr>
                                  </m:funcPr>
                                  <m:fName>
                                    <m:r>
                                      <m:rPr>
                                        <m:sty m:val="p"/>
                                      </m:rPr>
                                      <a:rPr lang="el-GR" altLang="ja-JP" sz="1800" i="1">
                                        <a:solidFill>
                                          <a:schemeClr val="tx1"/>
                                        </a:solidFill>
                                        <a:latin typeface="Cambria Math" panose="02040503050406030204" pitchFamily="18" charset="0"/>
                                        <a:ea typeface="Cambria Math" panose="02040503050406030204" pitchFamily="18" charset="0"/>
                                      </a:rPr>
                                      <m:t>Δ</m:t>
                                    </m:r>
                                    <m:r>
                                      <m:rPr>
                                        <m:sty m:val="p"/>
                                      </m:rPr>
                                      <a:rPr lang="en-US" altLang="ja-JP" sz="1800">
                                        <a:solidFill>
                                          <a:schemeClr val="tx1"/>
                                        </a:solidFill>
                                        <a:latin typeface="Cambria Math" panose="02040503050406030204" pitchFamily="18" charset="0"/>
                                      </a:rPr>
                                      <m:t>ln</m:t>
                                    </m:r>
                                  </m:fName>
                                  <m:e>
                                    <m:d>
                                      <m:dPr>
                                        <m:ctrlPr>
                                          <a:rPr lang="ja-JP" altLang="ja-JP" sz="1800" i="1">
                                            <a:solidFill>
                                              <a:schemeClr val="tx1"/>
                                            </a:solidFill>
                                            <a:latin typeface="Cambria Math" panose="02040503050406030204" pitchFamily="18" charset="0"/>
                                          </a:rPr>
                                        </m:ctrlPr>
                                      </m:dPr>
                                      <m:e>
                                        <m:f>
                                          <m:fPr>
                                            <m:ctrlPr>
                                              <a:rPr lang="ja-JP" altLang="ja-JP" sz="1800" i="1">
                                                <a:solidFill>
                                                  <a:schemeClr val="tx1"/>
                                                </a:solidFill>
                                                <a:latin typeface="Cambria Math" panose="02040503050406030204" pitchFamily="18" charset="0"/>
                                              </a:rPr>
                                            </m:ctrlPr>
                                          </m:fPr>
                                          <m:num>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𝑚</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num>
                                          <m:den>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𝑢</m:t>
                                                </m:r>
                                              </m:e>
                                              <m:sub>
                                                <m:r>
                                                  <a:rPr lang="en-US" altLang="ja-JP" sz="1800" i="1">
                                                    <a:solidFill>
                                                      <a:schemeClr val="tx1"/>
                                                    </a:solidFill>
                                                    <a:latin typeface="Cambria Math" panose="02040503050406030204" pitchFamily="18" charset="0"/>
                                                  </a:rPr>
                                                  <m:t>𝑡</m:t>
                                                </m:r>
                                                <m:r>
                                                  <a:rPr lang="en-US" altLang="ja-JP" sz="1800" i="1">
                                                    <a:solidFill>
                                                      <a:schemeClr val="tx1"/>
                                                    </a:solidFill>
                                                    <a:latin typeface="Cambria Math" panose="02040503050406030204" pitchFamily="18" charset="0"/>
                                                  </a:rPr>
                                                  <m:t>−1</m:t>
                                                </m:r>
                                              </m:sub>
                                            </m:sSub>
                                          </m:den>
                                        </m:f>
                                      </m:e>
                                    </m:d>
                                  </m:e>
                                </m:func>
                                <m:r>
                                  <a:rPr lang="en-US" altLang="ja-JP" sz="1800" i="1">
                                    <a:solidFill>
                                      <a:schemeClr val="tx1"/>
                                    </a:solidFill>
                                    <a:latin typeface="Cambria Math" panose="02040503050406030204" pitchFamily="18" charset="0"/>
                                  </a:rPr>
                                  <m:t>+</m:t>
                                </m:r>
                                <m:sSub>
                                  <m:sSubPr>
                                    <m:ctrlPr>
                                      <a:rPr lang="ja-JP" altLang="ja-JP" sz="1800" i="1">
                                        <a:solidFill>
                                          <a:schemeClr val="tx1"/>
                                        </a:solidFill>
                                        <a:latin typeface="Cambria Math" panose="02040503050406030204" pitchFamily="18" charset="0"/>
                                      </a:rPr>
                                    </m:ctrlPr>
                                  </m:sSubPr>
                                  <m:e>
                                    <m:r>
                                      <a:rPr lang="en-US" altLang="ja-JP" sz="1800" i="1">
                                        <a:solidFill>
                                          <a:schemeClr val="tx1"/>
                                        </a:solidFill>
                                        <a:latin typeface="Cambria Math" panose="02040503050406030204" pitchFamily="18" charset="0"/>
                                      </a:rPr>
                                      <m:t>𝜀</m:t>
                                    </m:r>
                                  </m:e>
                                  <m:sub>
                                    <m:r>
                                      <a:rPr lang="en-US" altLang="ja-JP" sz="1800" i="1">
                                        <a:solidFill>
                                          <a:schemeClr val="tx1"/>
                                        </a:solidFill>
                                        <a:latin typeface="Cambria Math" panose="02040503050406030204" pitchFamily="18" charset="0"/>
                                      </a:rPr>
                                      <m:t>𝑡</m:t>
                                    </m:r>
                                  </m:sub>
                                </m:sSub>
                              </m:oMath>
                            </m:oMathPara>
                          </a14:m>
                          <a:endParaRPr kumimoji="1" lang="ja-JP"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p>
                                  <m:sSupPr>
                                    <m:ctrlPr>
                                      <a:rPr lang="en-US" altLang="ja-JP" sz="1800" b="0" i="1" smtClean="0">
                                        <a:solidFill>
                                          <a:schemeClr val="tx1"/>
                                        </a:solidFill>
                                        <a:latin typeface="Cambria Math" panose="02040503050406030204" pitchFamily="18" charset="0"/>
                                      </a:rPr>
                                    </m:ctrlPr>
                                  </m:sSupPr>
                                  <m:e>
                                    <m:d>
                                      <m:dPr>
                                        <m:ctrlPr>
                                          <a:rPr lang="en-US" altLang="ja-JP" sz="1800" b="0" i="1" smtClean="0">
                                            <a:solidFill>
                                              <a:schemeClr val="tx1"/>
                                            </a:solidFill>
                                            <a:latin typeface="Cambria Math" panose="02040503050406030204" pitchFamily="18" charset="0"/>
                                          </a:rPr>
                                        </m:ctrlPr>
                                      </m:dPr>
                                      <m:e>
                                        <m:r>
                                          <a:rPr lang="en-US" altLang="ja-JP" sz="1800" b="0" i="1" smtClean="0">
                                            <a:solidFill>
                                              <a:schemeClr val="tx1"/>
                                            </a:solidFill>
                                            <a:latin typeface="Cambria Math" panose="02040503050406030204" pitchFamily="18" charset="0"/>
                                          </a:rPr>
                                          <m:t>2</m:t>
                                        </m:r>
                                      </m:e>
                                    </m:d>
                                  </m:e>
                                  <m:sup>
                                    <m:r>
                                      <a:rPr lang="en-US" altLang="ja-JP" sz="1800" b="0" i="1" smtClean="0">
                                        <a:solidFill>
                                          <a:schemeClr val="tx1"/>
                                        </a:solidFill>
                                        <a:latin typeface="Cambria Math" panose="02040503050406030204" pitchFamily="18" charset="0"/>
                                      </a:rPr>
                                      <m:t>′</m:t>
                                    </m:r>
                                  </m:sup>
                                </m:sSup>
                              </m:oMath>
                            </m:oMathPara>
                          </a14:m>
                          <a:endParaRPr kumimoji="1" lang="ja-JP"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487056900"/>
                      </a:ext>
                    </a:extLst>
                  </a:tr>
                </a:tbl>
              </a:graphicData>
            </a:graphic>
          </p:graphicFrame>
        </mc:Choice>
        <mc:Fallback>
          <p:graphicFrame>
            <p:nvGraphicFramePr>
              <p:cNvPr id="6" name="表 5">
                <a:extLst>
                  <a:ext uri="{FF2B5EF4-FFF2-40B4-BE49-F238E27FC236}">
                    <a16:creationId xmlns:a16="http://schemas.microsoft.com/office/drawing/2014/main" id="{8AB8B116-29CA-C7F6-4031-F88F2E9E2B7C}"/>
                  </a:ext>
                </a:extLst>
              </p:cNvPr>
              <p:cNvGraphicFramePr>
                <a:graphicFrameLocks noGrp="1"/>
              </p:cNvGraphicFramePr>
              <p:nvPr>
                <p:extLst>
                  <p:ext uri="{D42A27DB-BD31-4B8C-83A1-F6EECF244321}">
                    <p14:modId xmlns:p14="http://schemas.microsoft.com/office/powerpoint/2010/main" val="196592016"/>
                  </p:ext>
                </p:extLst>
              </p:nvPr>
            </p:nvGraphicFramePr>
            <p:xfrm>
              <a:off x="722454" y="4407255"/>
              <a:ext cx="10515600" cy="707771"/>
            </p:xfrm>
            <a:graphic>
              <a:graphicData uri="http://schemas.openxmlformats.org/drawingml/2006/table">
                <a:tbl>
                  <a:tblPr firstRow="1" bandRow="1">
                    <a:tableStyleId>{5C22544A-7EE6-4342-B048-85BDC9FD1C3A}</a:tableStyleId>
                  </a:tblPr>
                  <a:tblGrid>
                    <a:gridCol w="10007278">
                      <a:extLst>
                        <a:ext uri="{9D8B030D-6E8A-4147-A177-3AD203B41FA5}">
                          <a16:colId xmlns:a16="http://schemas.microsoft.com/office/drawing/2014/main" val="294409958"/>
                        </a:ext>
                      </a:extLst>
                    </a:gridCol>
                    <a:gridCol w="508322">
                      <a:extLst>
                        <a:ext uri="{9D8B030D-6E8A-4147-A177-3AD203B41FA5}">
                          <a16:colId xmlns:a16="http://schemas.microsoft.com/office/drawing/2014/main" val="2599969268"/>
                        </a:ext>
                      </a:extLst>
                    </a:gridCol>
                  </a:tblGrid>
                  <a:tr h="707771">
                    <a:tc>
                      <a:txBody>
                        <a:bodyPr/>
                        <a:lstStyle/>
                        <a:p>
                          <a:endParaRPr lang="ja-JP"/>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r="-5052"/>
                          </a:stretch>
                        </a:blipFill>
                      </a:tcPr>
                    </a:tc>
                    <a:tc>
                      <a:txBody>
                        <a:bodyPr/>
                        <a:lstStyle/>
                        <a:p>
                          <a:endParaRPr lang="ja-JP"/>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l="-1979518"/>
                          </a:stretch>
                        </a:blipFill>
                      </a:tcPr>
                    </a:tc>
                    <a:extLst>
                      <a:ext uri="{0D108BD9-81ED-4DB2-BD59-A6C34878D82A}">
                        <a16:rowId xmlns:a16="http://schemas.microsoft.com/office/drawing/2014/main" val="1487056900"/>
                      </a:ext>
                    </a:extLst>
                  </a:tr>
                </a:tbl>
              </a:graphicData>
            </a:graphic>
          </p:graphicFrame>
        </mc:Fallback>
      </mc:AlternateContent>
    </p:spTree>
    <p:extLst>
      <p:ext uri="{BB962C8B-B14F-4D97-AF65-F5344CB8AC3E}">
        <p14:creationId xmlns:p14="http://schemas.microsoft.com/office/powerpoint/2010/main" val="3046542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AE8668-2CFA-1997-8CEC-8A8773FC9BC7}"/>
              </a:ext>
            </a:extLst>
          </p:cNvPr>
          <p:cNvSpPr>
            <a:spLocks noGrp="1"/>
          </p:cNvSpPr>
          <p:nvPr>
            <p:ph type="title"/>
          </p:nvPr>
        </p:nvSpPr>
        <p:spPr/>
        <p:txBody>
          <a:bodyPr/>
          <a:lstStyle/>
          <a:p>
            <a:r>
              <a:rPr kumimoji="1" lang="ja-JP" altLang="en-US" dirty="0"/>
              <a:t>推計結果①</a:t>
            </a:r>
          </a:p>
        </p:txBody>
      </p:sp>
      <p:sp>
        <p:nvSpPr>
          <p:cNvPr id="4" name="スライド番号プレースホルダー 3">
            <a:extLst>
              <a:ext uri="{FF2B5EF4-FFF2-40B4-BE49-F238E27FC236}">
                <a16:creationId xmlns:a16="http://schemas.microsoft.com/office/drawing/2014/main" id="{DDA18F4E-C146-47CA-7F9C-4827B11F90DC}"/>
              </a:ext>
            </a:extLst>
          </p:cNvPr>
          <p:cNvSpPr>
            <a:spLocks noGrp="1"/>
          </p:cNvSpPr>
          <p:nvPr>
            <p:ph type="sldNum" sz="quarter" idx="12"/>
          </p:nvPr>
        </p:nvSpPr>
        <p:spPr/>
        <p:txBody>
          <a:bodyPr/>
          <a:lstStyle/>
          <a:p>
            <a:fld id="{D015B3C7-C04D-468F-B3C4-7E2FB8E54005}" type="slidenum">
              <a:rPr kumimoji="1" lang="ja-JP" altLang="en-US" smtClean="0"/>
              <a:t>6</a:t>
            </a:fld>
            <a:endParaRPr kumimoji="1" lang="ja-JP" altLang="en-US"/>
          </a:p>
        </p:txBody>
      </p:sp>
      <mc:AlternateContent xmlns:mc="http://schemas.openxmlformats.org/markup-compatibility/2006" xmlns:a14="http://schemas.microsoft.com/office/drawing/2010/main">
        <mc:Choice Requires="a14">
          <p:sp>
            <p:nvSpPr>
              <p:cNvPr id="10" name="コンテンツ プレースホルダー 9">
                <a:extLst>
                  <a:ext uri="{FF2B5EF4-FFF2-40B4-BE49-F238E27FC236}">
                    <a16:creationId xmlns:a16="http://schemas.microsoft.com/office/drawing/2014/main" id="{955018DB-1C47-0ECA-6279-6663B9996652}"/>
                  </a:ext>
                </a:extLst>
              </p:cNvPr>
              <p:cNvSpPr>
                <a:spLocks noGrp="1"/>
              </p:cNvSpPr>
              <p:nvPr>
                <p:ph idx="1"/>
              </p:nvPr>
            </p:nvSpPr>
            <p:spPr>
              <a:xfrm>
                <a:off x="838200" y="1163782"/>
                <a:ext cx="10515600" cy="5192568"/>
              </a:xfrm>
            </p:spPr>
            <p:txBody>
              <a:bodyPr>
                <a:normAutofit lnSpcReduction="10000"/>
              </a:bodyPr>
              <a:lstStyle/>
              <a:p>
                <a:pPr>
                  <a:buFont typeface="Wingdings" panose="05000000000000000000" pitchFamily="2" charset="2"/>
                  <a:buChar char="u"/>
                </a:pPr>
                <a:r>
                  <a:rPr lang="ja-JP" altLang="en-US" dirty="0"/>
                  <a:t>全期間を通して</a:t>
                </a:r>
                <a:endParaRPr lang="en-US" altLang="ja-JP" dirty="0"/>
              </a:p>
              <a:p>
                <a:pPr lvl="1"/>
                <a:r>
                  <a:rPr lang="ja-JP" altLang="en-US" dirty="0"/>
                  <a:t>定数項</a:t>
                </a:r>
                <a14:m>
                  <m:oMath xmlns:m="http://schemas.openxmlformats.org/officeDocument/2006/math">
                    <m:r>
                      <a:rPr lang="ja-JP" altLang="en-US" i="1" smtClean="0">
                        <a:latin typeface="Cambria Math" panose="02040503050406030204" pitchFamily="18" charset="0"/>
                      </a:rPr>
                      <m:t>𝜐</m:t>
                    </m:r>
                  </m:oMath>
                </a14:m>
                <a:r>
                  <a:rPr lang="ja-JP" altLang="en-US" dirty="0"/>
                  <a:t>はすべてのモデルで負</a:t>
                </a:r>
                <a:endParaRPr lang="en-US" altLang="ja-JP" dirty="0"/>
              </a:p>
              <a:p>
                <a:pPr lvl="2"/>
                <a:r>
                  <a:rPr lang="ja-JP" altLang="en-US" dirty="0">
                    <a:solidFill>
                      <a:srgbClr val="FF0000"/>
                    </a:solidFill>
                  </a:rPr>
                  <a:t>日本の労働市場のマッチング効率は長期的に低下傾向</a:t>
                </a:r>
                <a:endParaRPr lang="en-US" altLang="ja-JP" dirty="0">
                  <a:solidFill>
                    <a:srgbClr val="FF0000"/>
                  </a:solidFill>
                </a:endParaRPr>
              </a:p>
              <a:p>
                <a:pPr lvl="2"/>
                <a:r>
                  <a:rPr lang="en-US" altLang="ja-JP" dirty="0"/>
                  <a:t>UV</a:t>
                </a:r>
                <a:r>
                  <a:rPr lang="ja-JP" altLang="en-US" dirty="0"/>
                  <a:t>曲線の動きと整合的</a:t>
                </a:r>
                <a:endParaRPr lang="en-US" altLang="ja-JP" dirty="0"/>
              </a:p>
              <a:p>
                <a:pPr lvl="1"/>
                <a:r>
                  <a:rPr lang="ja-JP" altLang="en-US" dirty="0"/>
                  <a:t>パラメータ</a:t>
                </a:r>
                <a14:m>
                  <m:oMath xmlns:m="http://schemas.openxmlformats.org/officeDocument/2006/math">
                    <m:r>
                      <m:rPr>
                        <m:sty m:val="p"/>
                      </m:rPr>
                      <a:rPr lang="en-US" altLang="ja-JP" smtClean="0">
                        <a:latin typeface="Cambria Math" panose="02040503050406030204" pitchFamily="18" charset="0"/>
                      </a:rPr>
                      <m:t>ϕ</m:t>
                    </m:r>
                    <m:r>
                      <a:rPr lang="en-US" altLang="ja-JP" i="1">
                        <a:latin typeface="Cambria Math" panose="02040503050406030204" pitchFamily="18" charset="0"/>
                      </a:rPr>
                      <m:t>(</m:t>
                    </m:r>
                  </m:oMath>
                </a14:m>
                <a:r>
                  <a:rPr lang="ja-JP" altLang="en-US" dirty="0"/>
                  <a:t>新規雇用者数の求人数に対する弾力性</a:t>
                </a:r>
                <a:r>
                  <a:rPr lang="en-US" altLang="ja-JP" dirty="0"/>
                  <a:t>)</a:t>
                </a:r>
              </a:p>
              <a:p>
                <a:pPr lvl="2"/>
                <a:r>
                  <a:rPr lang="ja-JP" altLang="en-US" dirty="0"/>
                  <a:t>雇用創出は失業者数よりも求人数の影響が大きい</a:t>
                </a:r>
                <a:endParaRPr lang="en-US" altLang="ja-JP" dirty="0"/>
              </a:p>
              <a:p>
                <a:pPr lvl="3">
                  <a:buFont typeface="Wingdings" panose="05000000000000000000" pitchFamily="2" charset="2"/>
                  <a:buChar char="Ø"/>
                </a:pPr>
                <a:r>
                  <a:rPr lang="ja-JP" altLang="en-US" dirty="0">
                    <a:solidFill>
                      <a:srgbClr val="FF0000"/>
                    </a:solidFill>
                  </a:rPr>
                  <a:t>企業が求めるスキル・資質に基づく選別的採用の可能性</a:t>
                </a:r>
                <a:endParaRPr lang="en-US" altLang="ja-JP" dirty="0">
                  <a:solidFill>
                    <a:srgbClr val="FF0000"/>
                  </a:solidFill>
                </a:endParaRPr>
              </a:p>
              <a:p>
                <a:pPr lvl="2"/>
                <a:r>
                  <a:rPr lang="ja-JP" altLang="ja-JP" dirty="0"/>
                  <a:t>サーチ理論に基づいた分析が成立</a:t>
                </a:r>
                <a:r>
                  <a:rPr lang="ja-JP" altLang="en-US" dirty="0"/>
                  <a:t>している</a:t>
                </a:r>
                <a:endParaRPr lang="en-US" altLang="ja-JP" dirty="0"/>
              </a:p>
              <a:p>
                <a:pPr lvl="1"/>
                <a:r>
                  <a:rPr lang="ja-JP" altLang="ja-JP" dirty="0">
                    <a:solidFill>
                      <a:srgbClr val="FF0000"/>
                    </a:solidFill>
                  </a:rPr>
                  <a:t>高度成長期から現在まで労働市場の構造変化があったとは言えない</a:t>
                </a:r>
                <a:endParaRPr lang="en-US" altLang="ja-JP" dirty="0">
                  <a:solidFill>
                    <a:srgbClr val="FF0000"/>
                  </a:solidFill>
                </a:endParaRPr>
              </a:p>
              <a:p>
                <a:pPr lvl="2">
                  <a:buFont typeface="Wingdings" panose="05000000000000000000" pitchFamily="2" charset="2"/>
                  <a:buChar char="Ø"/>
                </a:pPr>
                <a:r>
                  <a:rPr lang="ja-JP" altLang="ja-JP" dirty="0"/>
                  <a:t>時代に合わない労働市場が固定されている</a:t>
                </a:r>
                <a:endParaRPr lang="en-US" altLang="ja-JP" dirty="0"/>
              </a:p>
              <a:p>
                <a:pPr marL="914400" lvl="2" indent="0">
                  <a:buNone/>
                </a:pPr>
                <a:r>
                  <a:rPr lang="en-US" altLang="ja-JP" dirty="0"/>
                  <a:t>Cf. Hayashi and Prescott (2002)</a:t>
                </a:r>
              </a:p>
              <a:p>
                <a:pPr lvl="3"/>
                <a:r>
                  <a:rPr lang="en-US" altLang="ja-JP" dirty="0"/>
                  <a:t>1990 </a:t>
                </a:r>
                <a:r>
                  <a:rPr lang="ja-JP" altLang="en-US" dirty="0"/>
                  <a:t>年代の景気停滞は，バブル経済の「崩壊」によって経済システムが歪んだことが原因ではなく，</a:t>
                </a:r>
                <a:br>
                  <a:rPr lang="en-US" altLang="ja-JP" dirty="0"/>
                </a:br>
                <a:r>
                  <a:rPr lang="ja-JP" altLang="en-US" dirty="0"/>
                  <a:t>日本経済の低い生産性という構造的な部分に問題がある．</a:t>
                </a:r>
                <a:endParaRPr lang="en-US" altLang="ja-JP" dirty="0"/>
              </a:p>
            </p:txBody>
          </p:sp>
        </mc:Choice>
        <mc:Fallback xmlns="">
          <p:sp>
            <p:nvSpPr>
              <p:cNvPr id="10" name="コンテンツ プレースホルダー 9">
                <a:extLst>
                  <a:ext uri="{FF2B5EF4-FFF2-40B4-BE49-F238E27FC236}">
                    <a16:creationId xmlns:a16="http://schemas.microsoft.com/office/drawing/2014/main" id="{955018DB-1C47-0ECA-6279-6663B9996652}"/>
                  </a:ext>
                </a:extLst>
              </p:cNvPr>
              <p:cNvSpPr>
                <a:spLocks noGrp="1" noRot="1" noChangeAspect="1" noMove="1" noResize="1" noEditPoints="1" noAdjustHandles="1" noChangeArrowheads="1" noChangeShapeType="1" noTextEdit="1"/>
              </p:cNvSpPr>
              <p:nvPr>
                <p:ph idx="1"/>
              </p:nvPr>
            </p:nvSpPr>
            <p:spPr>
              <a:xfrm>
                <a:off x="838200" y="1163782"/>
                <a:ext cx="10515600" cy="5192568"/>
              </a:xfrm>
              <a:blipFill>
                <a:blip r:embed="rId3"/>
                <a:stretch>
                  <a:fillRect l="-81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74686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079D83-5D68-8ED2-39C8-CFBE774C8187}"/>
              </a:ext>
            </a:extLst>
          </p:cNvPr>
          <p:cNvSpPr>
            <a:spLocks noGrp="1"/>
          </p:cNvSpPr>
          <p:nvPr>
            <p:ph type="title"/>
          </p:nvPr>
        </p:nvSpPr>
        <p:spPr/>
        <p:txBody>
          <a:bodyPr/>
          <a:lstStyle/>
          <a:p>
            <a:r>
              <a:rPr kumimoji="1" lang="ja-JP" altLang="en-US" dirty="0"/>
              <a:t>推計結果②</a:t>
            </a:r>
          </a:p>
        </p:txBody>
      </p:sp>
      <p:sp>
        <p:nvSpPr>
          <p:cNvPr id="3" name="コンテンツ プレースホルダー 2">
            <a:extLst>
              <a:ext uri="{FF2B5EF4-FFF2-40B4-BE49-F238E27FC236}">
                <a16:creationId xmlns:a16="http://schemas.microsoft.com/office/drawing/2014/main" id="{E21CABBD-DAB0-D8A9-AE23-4BE1140F04C4}"/>
              </a:ext>
            </a:extLst>
          </p:cNvPr>
          <p:cNvSpPr>
            <a:spLocks noGrp="1"/>
          </p:cNvSpPr>
          <p:nvPr>
            <p:ph idx="1"/>
          </p:nvPr>
        </p:nvSpPr>
        <p:spPr>
          <a:xfrm>
            <a:off x="838200" y="1041722"/>
            <a:ext cx="10515600" cy="5679752"/>
          </a:xfrm>
        </p:spPr>
        <p:txBody>
          <a:bodyPr>
            <a:normAutofit lnSpcReduction="10000"/>
          </a:bodyPr>
          <a:lstStyle/>
          <a:p>
            <a:pPr>
              <a:buFont typeface="Wingdings" panose="05000000000000000000" pitchFamily="2" charset="2"/>
              <a:buChar char="u"/>
            </a:pPr>
            <a:r>
              <a:rPr kumimoji="1" lang="ja-JP" altLang="en-US" dirty="0"/>
              <a:t>期間ダミー</a:t>
            </a:r>
            <a:endParaRPr lang="en-US" altLang="ja-JP" dirty="0"/>
          </a:p>
          <a:p>
            <a:pPr lvl="1"/>
            <a:r>
              <a:rPr lang="ja-JP" altLang="ja-JP" dirty="0"/>
              <a:t>バブル崩壊</a:t>
            </a:r>
            <a:endParaRPr lang="en-US" altLang="ja-JP" dirty="0"/>
          </a:p>
          <a:p>
            <a:pPr lvl="2"/>
            <a:r>
              <a:rPr lang="ja-JP" altLang="en-US" dirty="0"/>
              <a:t>一般的に，失われた</a:t>
            </a:r>
            <a:r>
              <a:rPr lang="en-US" altLang="ja-JP" dirty="0"/>
              <a:t>30</a:t>
            </a:r>
            <a:r>
              <a:rPr lang="ja-JP" altLang="en-US" dirty="0"/>
              <a:t>年の開始</a:t>
            </a:r>
            <a:endParaRPr lang="en-US" altLang="ja-JP" dirty="0"/>
          </a:p>
          <a:p>
            <a:pPr lvl="2"/>
            <a:r>
              <a:rPr lang="ja-JP" altLang="en-US" dirty="0"/>
              <a:t>しかし，</a:t>
            </a:r>
            <a:r>
              <a:rPr lang="ja-JP" altLang="ja-JP" dirty="0"/>
              <a:t>労働市場が非効率な方向に歪んだとは言えない</a:t>
            </a:r>
            <a:endParaRPr kumimoji="1" lang="en-US" altLang="ja-JP" dirty="0"/>
          </a:p>
          <a:p>
            <a:pPr lvl="1"/>
            <a:r>
              <a:rPr kumimoji="1" lang="ja-JP" altLang="en-US" dirty="0"/>
              <a:t>リーマン・ショック期</a:t>
            </a:r>
            <a:endParaRPr kumimoji="1" lang="en-US" altLang="ja-JP" dirty="0"/>
          </a:p>
          <a:p>
            <a:pPr lvl="2"/>
            <a:r>
              <a:rPr lang="ja-JP" altLang="ja-JP" dirty="0"/>
              <a:t>一時的に</a:t>
            </a:r>
            <a:r>
              <a:rPr lang="ja-JP" altLang="en-US" dirty="0"/>
              <a:t>，</a:t>
            </a:r>
            <a:r>
              <a:rPr lang="ja-JP" altLang="ja-JP" dirty="0"/>
              <a:t>新規雇用の創出における求人数の依存度合いが弱まった</a:t>
            </a:r>
            <a:endParaRPr lang="en-US" altLang="ja-JP" dirty="0"/>
          </a:p>
          <a:p>
            <a:pPr lvl="2">
              <a:buFont typeface="Wingdings" panose="05000000000000000000" pitchFamily="2" charset="2"/>
              <a:buChar char="Ø"/>
            </a:pPr>
            <a:r>
              <a:rPr kumimoji="1" lang="ja-JP" altLang="en-US" dirty="0"/>
              <a:t>採用抑制や求人の減少が影響？</a:t>
            </a:r>
            <a:endParaRPr kumimoji="1" lang="en-US" altLang="ja-JP" dirty="0"/>
          </a:p>
          <a:p>
            <a:pPr lvl="1"/>
            <a:r>
              <a:rPr lang="ja-JP" altLang="en-US" dirty="0"/>
              <a:t>コロナショック期</a:t>
            </a:r>
            <a:endParaRPr lang="en-US" altLang="ja-JP" dirty="0"/>
          </a:p>
          <a:p>
            <a:pPr lvl="2"/>
            <a:r>
              <a:rPr kumimoji="1" lang="ja-JP" altLang="en-US" dirty="0"/>
              <a:t>リーマン・ショック期のような変化は起こらなかった</a:t>
            </a:r>
            <a:endParaRPr kumimoji="1" lang="en-US" altLang="ja-JP" dirty="0"/>
          </a:p>
          <a:p>
            <a:pPr lvl="2"/>
            <a:r>
              <a:rPr lang="ja-JP" altLang="ja-JP" dirty="0"/>
              <a:t>在宅ワークの導入など</a:t>
            </a:r>
            <a:r>
              <a:rPr lang="ja-JP" altLang="en-US" dirty="0"/>
              <a:t>，</a:t>
            </a:r>
            <a:r>
              <a:rPr lang="ja-JP" altLang="ja-JP" dirty="0"/>
              <a:t>感染症の流行に対して柔軟に対応できたことが影響</a:t>
            </a:r>
            <a:r>
              <a:rPr lang="ja-JP" altLang="en-US" dirty="0"/>
              <a:t>？</a:t>
            </a:r>
            <a:endParaRPr lang="en-US" altLang="ja-JP" dirty="0"/>
          </a:p>
          <a:p>
            <a:pPr>
              <a:buFont typeface="Wingdings" panose="05000000000000000000" pitchFamily="2" charset="2"/>
              <a:buChar char="u"/>
            </a:pPr>
            <a:r>
              <a:rPr lang="ja-JP" altLang="en-US" dirty="0"/>
              <a:t>政策インプリケーション</a:t>
            </a:r>
            <a:endParaRPr lang="en-US" altLang="ja-JP" dirty="0"/>
          </a:p>
          <a:p>
            <a:pPr lvl="1"/>
            <a:r>
              <a:rPr lang="ja-JP" altLang="en-US" dirty="0"/>
              <a:t>小泉内閣での労働者派遣法改正は反対が多い政策だが，労働市場の</a:t>
            </a:r>
            <a:r>
              <a:rPr lang="ja-JP" altLang="en-US" u="sng" dirty="0"/>
              <a:t>構造変化をもたらすほどではなかった</a:t>
            </a:r>
            <a:endParaRPr lang="en-US" altLang="ja-JP" u="sng" dirty="0"/>
          </a:p>
          <a:p>
            <a:pPr lvl="1">
              <a:buFont typeface="Wingdings" panose="05000000000000000000" pitchFamily="2" charset="2"/>
              <a:buChar char="Ø"/>
            </a:pPr>
            <a:r>
              <a:rPr lang="ja-JP" altLang="en-US" dirty="0">
                <a:solidFill>
                  <a:srgbClr val="FF0000"/>
                </a:solidFill>
              </a:rPr>
              <a:t>労働市場改革を行う場合，小泉構造改革よりも強力な改革が必要</a:t>
            </a:r>
            <a:endParaRPr lang="en-US" altLang="ja-JP" dirty="0">
              <a:solidFill>
                <a:srgbClr val="FF0000"/>
              </a:solidFill>
            </a:endParaRPr>
          </a:p>
        </p:txBody>
      </p:sp>
      <p:sp>
        <p:nvSpPr>
          <p:cNvPr id="4" name="スライド番号プレースホルダー 3">
            <a:extLst>
              <a:ext uri="{FF2B5EF4-FFF2-40B4-BE49-F238E27FC236}">
                <a16:creationId xmlns:a16="http://schemas.microsoft.com/office/drawing/2014/main" id="{D0C806A7-6F80-0BB0-471E-76252D15CCF2}"/>
              </a:ext>
            </a:extLst>
          </p:cNvPr>
          <p:cNvSpPr>
            <a:spLocks noGrp="1"/>
          </p:cNvSpPr>
          <p:nvPr>
            <p:ph type="sldNum" sz="quarter" idx="12"/>
          </p:nvPr>
        </p:nvSpPr>
        <p:spPr/>
        <p:txBody>
          <a:bodyPr/>
          <a:lstStyle/>
          <a:p>
            <a:fld id="{D015B3C7-C04D-468F-B3C4-7E2FB8E54005}" type="slidenum">
              <a:rPr kumimoji="1" lang="ja-JP" altLang="en-US" smtClean="0"/>
              <a:t>7</a:t>
            </a:fld>
            <a:endParaRPr kumimoji="1" lang="ja-JP" altLang="en-US"/>
          </a:p>
        </p:txBody>
      </p:sp>
    </p:spTree>
    <p:extLst>
      <p:ext uri="{BB962C8B-B14F-4D97-AF65-F5344CB8AC3E}">
        <p14:creationId xmlns:p14="http://schemas.microsoft.com/office/powerpoint/2010/main" val="1415953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B1C93-4749-CEBC-763D-8E731CB5F55F}"/>
              </a:ext>
            </a:extLst>
          </p:cNvPr>
          <p:cNvSpPr>
            <a:spLocks noGrp="1"/>
          </p:cNvSpPr>
          <p:nvPr>
            <p:ph type="title"/>
          </p:nvPr>
        </p:nvSpPr>
        <p:spPr/>
        <p:txBody>
          <a:bodyPr/>
          <a:lstStyle/>
          <a:p>
            <a:r>
              <a:rPr kumimoji="1" lang="ja-JP" altLang="en-US" dirty="0"/>
              <a:t>内生性バイアス：</a:t>
            </a:r>
            <a:r>
              <a:rPr kumimoji="1" lang="en-US" altLang="ja-JP" dirty="0"/>
              <a:t>DWH</a:t>
            </a:r>
            <a:r>
              <a:rPr kumimoji="1" lang="ja-JP" altLang="en-US" dirty="0"/>
              <a:t>検定</a:t>
            </a:r>
          </a:p>
        </p:txBody>
      </p:sp>
      <p:sp>
        <p:nvSpPr>
          <p:cNvPr id="3" name="コンテンツ プレースホルダー 2">
            <a:extLst>
              <a:ext uri="{FF2B5EF4-FFF2-40B4-BE49-F238E27FC236}">
                <a16:creationId xmlns:a16="http://schemas.microsoft.com/office/drawing/2014/main" id="{02F4154B-CF95-2EF2-B278-B9E6AE1B07EE}"/>
              </a:ext>
            </a:extLst>
          </p:cNvPr>
          <p:cNvSpPr>
            <a:spLocks noGrp="1"/>
          </p:cNvSpPr>
          <p:nvPr>
            <p:ph idx="1"/>
          </p:nvPr>
        </p:nvSpPr>
        <p:spPr/>
        <p:txBody>
          <a:bodyPr>
            <a:normAutofit/>
          </a:bodyPr>
          <a:lstStyle/>
          <a:p>
            <a:pPr>
              <a:buFont typeface="Wingdings" panose="05000000000000000000" pitchFamily="2" charset="2"/>
              <a:buChar char="u"/>
            </a:pPr>
            <a:r>
              <a:rPr kumimoji="1" lang="en-US" altLang="ja-JP" dirty="0"/>
              <a:t>OLS</a:t>
            </a:r>
            <a:r>
              <a:rPr kumimoji="1" lang="ja-JP" altLang="en-US" dirty="0"/>
              <a:t>推計</a:t>
            </a:r>
            <a:endParaRPr kumimoji="1" lang="en-US" altLang="ja-JP" dirty="0"/>
          </a:p>
          <a:p>
            <a:pPr lvl="1"/>
            <a:r>
              <a:rPr kumimoji="1" lang="ja-JP" altLang="en-US" dirty="0"/>
              <a:t>説明変数</a:t>
            </a:r>
            <a:r>
              <a:rPr lang="ja-JP" altLang="en-US" dirty="0"/>
              <a:t>「求人・失業」と被説明変数「雇用創出」が別々に動くと想定</a:t>
            </a:r>
            <a:endParaRPr lang="en-US" altLang="ja-JP" dirty="0"/>
          </a:p>
          <a:p>
            <a:pPr lvl="1"/>
            <a:r>
              <a:rPr lang="ja-JP" altLang="en-US" dirty="0"/>
              <a:t>しかし「景気が良くなると雇用と求人が両方増加する」という可能性</a:t>
            </a:r>
            <a:endParaRPr lang="en-US" altLang="ja-JP" dirty="0"/>
          </a:p>
          <a:p>
            <a:pPr lvl="2">
              <a:buFont typeface="Wingdings" panose="05000000000000000000" pitchFamily="2" charset="2"/>
              <a:buChar char="Ø"/>
            </a:pPr>
            <a:r>
              <a:rPr lang="ja-JP" altLang="en-US" dirty="0"/>
              <a:t>この因果関係が成立しているのなら，</a:t>
            </a:r>
            <a:r>
              <a:rPr lang="en-US" altLang="ja-JP" dirty="0"/>
              <a:t>OLS</a:t>
            </a:r>
            <a:r>
              <a:rPr lang="ja-JP" altLang="en-US" dirty="0"/>
              <a:t>推計は成り立たない</a:t>
            </a:r>
            <a:br>
              <a:rPr lang="en-US" altLang="ja-JP" dirty="0"/>
            </a:br>
            <a:r>
              <a:rPr lang="en-US" altLang="ja-JP" dirty="0"/>
              <a:t>(</a:t>
            </a:r>
            <a:r>
              <a:rPr lang="ja-JP" altLang="en-US" dirty="0">
                <a:solidFill>
                  <a:srgbClr val="FF0000"/>
                </a:solidFill>
              </a:rPr>
              <a:t>内生性バイアス</a:t>
            </a:r>
            <a:r>
              <a:rPr lang="en-US" altLang="ja-JP" dirty="0"/>
              <a:t>)</a:t>
            </a:r>
          </a:p>
          <a:p>
            <a:pPr lvl="2">
              <a:buFont typeface="Wingdings" panose="05000000000000000000" pitchFamily="2" charset="2"/>
              <a:buChar char="Ø"/>
            </a:pPr>
            <a:r>
              <a:rPr lang="en-US" altLang="ja-JP" dirty="0">
                <a:solidFill>
                  <a:srgbClr val="FF0000"/>
                </a:solidFill>
              </a:rPr>
              <a:t>DWH </a:t>
            </a:r>
            <a:r>
              <a:rPr lang="ja-JP" altLang="en-US" dirty="0">
                <a:solidFill>
                  <a:srgbClr val="FF0000"/>
                </a:solidFill>
              </a:rPr>
              <a:t>検定</a:t>
            </a:r>
            <a:r>
              <a:rPr lang="ja-JP" altLang="en-US" dirty="0"/>
              <a:t>　⇒　結果：内生性バイアスの可能性あり</a:t>
            </a:r>
            <a:endParaRPr lang="en-US" altLang="ja-JP" dirty="0"/>
          </a:p>
          <a:p>
            <a:pPr lvl="2">
              <a:buFont typeface="Wingdings" panose="05000000000000000000" pitchFamily="2" charset="2"/>
              <a:buChar char="Ø"/>
            </a:pPr>
            <a:r>
              <a:rPr lang="ja-JP" altLang="en-US" dirty="0">
                <a:solidFill>
                  <a:srgbClr val="FF0000"/>
                </a:solidFill>
              </a:rPr>
              <a:t>操作変数法</a:t>
            </a:r>
            <a:r>
              <a:rPr lang="ja-JP" altLang="en-US" dirty="0"/>
              <a:t>による分析</a:t>
            </a:r>
            <a:endParaRPr lang="ja-JP" altLang="en-US" dirty="0">
              <a:solidFill>
                <a:srgbClr val="FF0000"/>
              </a:solidFill>
            </a:endParaRPr>
          </a:p>
          <a:p>
            <a:pPr lvl="2">
              <a:buFont typeface="Wingdings" panose="05000000000000000000" pitchFamily="2" charset="2"/>
              <a:buChar char="Ø"/>
            </a:pPr>
            <a:endParaRPr lang="en-US" altLang="ja-JP" dirty="0"/>
          </a:p>
          <a:p>
            <a:pPr marL="0" indent="0">
              <a:buNone/>
            </a:pPr>
            <a:br>
              <a:rPr lang="en-US" altLang="ja-JP" dirty="0"/>
            </a:br>
            <a:br>
              <a:rPr lang="en-US" altLang="ja-JP" dirty="0"/>
            </a:br>
            <a:br>
              <a:rPr lang="en-US" altLang="ja-JP" dirty="0"/>
            </a:br>
            <a:endParaRPr lang="en-US" altLang="ja-JP" dirty="0"/>
          </a:p>
        </p:txBody>
      </p:sp>
      <p:sp>
        <p:nvSpPr>
          <p:cNvPr id="4" name="スライド番号プレースホルダー 3">
            <a:extLst>
              <a:ext uri="{FF2B5EF4-FFF2-40B4-BE49-F238E27FC236}">
                <a16:creationId xmlns:a16="http://schemas.microsoft.com/office/drawing/2014/main" id="{AEF9009C-D5C7-6AC6-BC31-78BAE6A4DBD5}"/>
              </a:ext>
            </a:extLst>
          </p:cNvPr>
          <p:cNvSpPr>
            <a:spLocks noGrp="1"/>
          </p:cNvSpPr>
          <p:nvPr>
            <p:ph type="sldNum" sz="quarter" idx="12"/>
          </p:nvPr>
        </p:nvSpPr>
        <p:spPr/>
        <p:txBody>
          <a:bodyPr/>
          <a:lstStyle/>
          <a:p>
            <a:fld id="{D015B3C7-C04D-468F-B3C4-7E2FB8E54005}" type="slidenum">
              <a:rPr kumimoji="1" lang="ja-JP" altLang="en-US" smtClean="0"/>
              <a:t>8</a:t>
            </a:fld>
            <a:endParaRPr kumimoji="1" lang="ja-JP" altLang="en-US"/>
          </a:p>
        </p:txBody>
      </p:sp>
      <p:sp>
        <p:nvSpPr>
          <p:cNvPr id="5" name="正方形/長方形 4">
            <a:extLst>
              <a:ext uri="{FF2B5EF4-FFF2-40B4-BE49-F238E27FC236}">
                <a16:creationId xmlns:a16="http://schemas.microsoft.com/office/drawing/2014/main" id="{8E87EF08-389D-0C82-194C-6FBE963414D5}"/>
              </a:ext>
            </a:extLst>
          </p:cNvPr>
          <p:cNvSpPr/>
          <p:nvPr/>
        </p:nvSpPr>
        <p:spPr>
          <a:xfrm>
            <a:off x="2893669" y="5632954"/>
            <a:ext cx="1841339" cy="92885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説明変数</a:t>
            </a:r>
            <a:br>
              <a:rPr kumimoji="1" lang="en-US" altLang="ja-JP" sz="2400" dirty="0">
                <a:solidFill>
                  <a:schemeClr val="tx1"/>
                </a:solidFill>
              </a:rPr>
            </a:br>
            <a:r>
              <a:rPr kumimoji="1" lang="en-US" altLang="ja-JP" sz="2400" dirty="0">
                <a:solidFill>
                  <a:schemeClr val="tx1"/>
                </a:solidFill>
              </a:rPr>
              <a:t>(</a:t>
            </a:r>
            <a:r>
              <a:rPr kumimoji="1" lang="ja-JP" altLang="en-US" sz="2400" dirty="0">
                <a:solidFill>
                  <a:schemeClr val="tx1"/>
                </a:solidFill>
              </a:rPr>
              <a:t>求人</a:t>
            </a:r>
            <a:r>
              <a:rPr kumimoji="1" lang="en-US" altLang="ja-JP" sz="2400" dirty="0">
                <a:solidFill>
                  <a:schemeClr val="tx1"/>
                </a:solidFill>
              </a:rPr>
              <a:t>)</a:t>
            </a:r>
            <a:endParaRPr kumimoji="1" lang="ja-JP" altLang="en-US" sz="2400" dirty="0">
              <a:solidFill>
                <a:schemeClr val="tx1"/>
              </a:solidFill>
            </a:endParaRPr>
          </a:p>
        </p:txBody>
      </p:sp>
      <p:sp>
        <p:nvSpPr>
          <p:cNvPr id="6" name="正方形/長方形 5">
            <a:extLst>
              <a:ext uri="{FF2B5EF4-FFF2-40B4-BE49-F238E27FC236}">
                <a16:creationId xmlns:a16="http://schemas.microsoft.com/office/drawing/2014/main" id="{E3F43B55-883F-9110-4C7B-8D9F0E1821B3}"/>
              </a:ext>
            </a:extLst>
          </p:cNvPr>
          <p:cNvSpPr/>
          <p:nvPr/>
        </p:nvSpPr>
        <p:spPr>
          <a:xfrm>
            <a:off x="5244294" y="4210298"/>
            <a:ext cx="1841339" cy="92885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第</a:t>
            </a:r>
            <a:r>
              <a:rPr lang="en-US" altLang="ja-JP" sz="2400" dirty="0">
                <a:solidFill>
                  <a:schemeClr val="tx1"/>
                </a:solidFill>
              </a:rPr>
              <a:t>3</a:t>
            </a:r>
            <a:r>
              <a:rPr lang="ja-JP" altLang="en-US" sz="2400" dirty="0">
                <a:solidFill>
                  <a:schemeClr val="tx1"/>
                </a:solidFill>
              </a:rPr>
              <a:t>の変数</a:t>
            </a:r>
            <a:endParaRPr lang="en-US" altLang="ja-JP" sz="2400" dirty="0">
              <a:solidFill>
                <a:schemeClr val="tx1"/>
              </a:solidFill>
            </a:endParaRPr>
          </a:p>
          <a:p>
            <a:pPr algn="ctr"/>
            <a:r>
              <a:rPr kumimoji="1" lang="en-US" altLang="ja-JP" sz="2400" dirty="0">
                <a:solidFill>
                  <a:schemeClr val="tx1"/>
                </a:solidFill>
              </a:rPr>
              <a:t>(</a:t>
            </a:r>
            <a:r>
              <a:rPr kumimoji="1" lang="ja-JP" altLang="en-US" sz="2400" dirty="0">
                <a:solidFill>
                  <a:schemeClr val="tx1"/>
                </a:solidFill>
              </a:rPr>
              <a:t>景気</a:t>
            </a:r>
            <a:r>
              <a:rPr kumimoji="1" lang="en-US" altLang="ja-JP" sz="2400" dirty="0">
                <a:solidFill>
                  <a:schemeClr val="tx1"/>
                </a:solidFill>
              </a:rPr>
              <a:t>)</a:t>
            </a:r>
            <a:endParaRPr kumimoji="1" lang="ja-JP" altLang="en-US" sz="2400" dirty="0">
              <a:solidFill>
                <a:schemeClr val="tx1"/>
              </a:solidFill>
            </a:endParaRPr>
          </a:p>
        </p:txBody>
      </p:sp>
      <p:sp>
        <p:nvSpPr>
          <p:cNvPr id="7" name="正方形/長方形 6">
            <a:extLst>
              <a:ext uri="{FF2B5EF4-FFF2-40B4-BE49-F238E27FC236}">
                <a16:creationId xmlns:a16="http://schemas.microsoft.com/office/drawing/2014/main" id="{2FD27A22-13BA-2B44-DEF3-B1187BA6ED1B}"/>
              </a:ext>
            </a:extLst>
          </p:cNvPr>
          <p:cNvSpPr/>
          <p:nvPr/>
        </p:nvSpPr>
        <p:spPr>
          <a:xfrm>
            <a:off x="7742497" y="5632954"/>
            <a:ext cx="1841339" cy="92885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非説明変数</a:t>
            </a:r>
            <a:br>
              <a:rPr kumimoji="1" lang="en-US" altLang="ja-JP" sz="2400" dirty="0">
                <a:solidFill>
                  <a:schemeClr val="tx1"/>
                </a:solidFill>
              </a:rPr>
            </a:br>
            <a:r>
              <a:rPr kumimoji="1" lang="en-US" altLang="ja-JP" sz="2400" dirty="0">
                <a:solidFill>
                  <a:schemeClr val="tx1"/>
                </a:solidFill>
              </a:rPr>
              <a:t>(</a:t>
            </a:r>
            <a:r>
              <a:rPr kumimoji="1" lang="ja-JP" altLang="en-US" sz="2400" dirty="0">
                <a:solidFill>
                  <a:schemeClr val="tx1"/>
                </a:solidFill>
              </a:rPr>
              <a:t>雇用</a:t>
            </a:r>
            <a:r>
              <a:rPr kumimoji="1" lang="en-US" altLang="ja-JP" sz="2400" dirty="0">
                <a:solidFill>
                  <a:schemeClr val="tx1"/>
                </a:solidFill>
              </a:rPr>
              <a:t>)</a:t>
            </a:r>
            <a:endParaRPr kumimoji="1" lang="ja-JP" altLang="en-US" sz="2400" dirty="0">
              <a:solidFill>
                <a:schemeClr val="tx1"/>
              </a:solidFill>
            </a:endParaRPr>
          </a:p>
        </p:txBody>
      </p:sp>
      <p:sp>
        <p:nvSpPr>
          <p:cNvPr id="14" name="矢印: 右 13">
            <a:extLst>
              <a:ext uri="{FF2B5EF4-FFF2-40B4-BE49-F238E27FC236}">
                <a16:creationId xmlns:a16="http://schemas.microsoft.com/office/drawing/2014/main" id="{4D4DD017-6229-0DF7-EF0A-60D1A3BC0CB1}"/>
              </a:ext>
            </a:extLst>
          </p:cNvPr>
          <p:cNvSpPr/>
          <p:nvPr/>
        </p:nvSpPr>
        <p:spPr>
          <a:xfrm>
            <a:off x="4896090" y="5960435"/>
            <a:ext cx="2743200" cy="2777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矢印: 右 14">
            <a:extLst>
              <a:ext uri="{FF2B5EF4-FFF2-40B4-BE49-F238E27FC236}">
                <a16:creationId xmlns:a16="http://schemas.microsoft.com/office/drawing/2014/main" id="{93178393-2731-50D7-A8C2-AE64BDA19810}"/>
              </a:ext>
            </a:extLst>
          </p:cNvPr>
          <p:cNvSpPr/>
          <p:nvPr/>
        </p:nvSpPr>
        <p:spPr>
          <a:xfrm rot="2354233" flipV="1">
            <a:off x="7205648" y="4959692"/>
            <a:ext cx="1278773" cy="256547"/>
          </a:xfrm>
          <a:prstGeom prst="rightArrow">
            <a:avLst>
              <a:gd name="adj1" fmla="val 75039"/>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矢印: 右 15">
            <a:extLst>
              <a:ext uri="{FF2B5EF4-FFF2-40B4-BE49-F238E27FC236}">
                <a16:creationId xmlns:a16="http://schemas.microsoft.com/office/drawing/2014/main" id="{3B431D82-4E4E-0896-39B7-544C9D0AA64A}"/>
              </a:ext>
            </a:extLst>
          </p:cNvPr>
          <p:cNvSpPr/>
          <p:nvPr/>
        </p:nvSpPr>
        <p:spPr>
          <a:xfrm rot="8740161" flipV="1">
            <a:off x="3805712" y="4925526"/>
            <a:ext cx="1327740" cy="3795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B3A52759-8DA3-5DA8-DE09-BCF3F6CDF71E}"/>
              </a:ext>
            </a:extLst>
          </p:cNvPr>
          <p:cNvSpPr txBox="1"/>
          <p:nvPr/>
        </p:nvSpPr>
        <p:spPr>
          <a:xfrm>
            <a:off x="5443062" y="6279431"/>
            <a:ext cx="1649256" cy="461665"/>
          </a:xfrm>
          <a:prstGeom prst="rect">
            <a:avLst/>
          </a:prstGeom>
          <a:noFill/>
        </p:spPr>
        <p:txBody>
          <a:bodyPr wrap="square" rtlCol="0">
            <a:spAutoFit/>
          </a:bodyPr>
          <a:lstStyle/>
          <a:p>
            <a:pPr algn="ctr"/>
            <a:r>
              <a:rPr kumimoji="1" lang="en-US" altLang="ja-JP" sz="2400" dirty="0"/>
              <a:t>OLS</a:t>
            </a:r>
            <a:r>
              <a:rPr kumimoji="1" lang="ja-JP" altLang="en-US" sz="2400" dirty="0"/>
              <a:t>推計</a:t>
            </a:r>
          </a:p>
        </p:txBody>
      </p:sp>
    </p:spTree>
    <p:extLst>
      <p:ext uri="{BB962C8B-B14F-4D97-AF65-F5344CB8AC3E}">
        <p14:creationId xmlns:p14="http://schemas.microsoft.com/office/powerpoint/2010/main" val="1049714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510B9-0229-E919-DAA5-0A88FA17EB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C2DA95E-7F51-265E-BA55-CDACDB006EE4}"/>
              </a:ext>
            </a:extLst>
          </p:cNvPr>
          <p:cNvSpPr>
            <a:spLocks noGrp="1"/>
          </p:cNvSpPr>
          <p:nvPr>
            <p:ph type="title"/>
          </p:nvPr>
        </p:nvSpPr>
        <p:spPr/>
        <p:txBody>
          <a:bodyPr/>
          <a:lstStyle/>
          <a:p>
            <a:r>
              <a:rPr kumimoji="1" lang="ja-JP" altLang="en-US" dirty="0"/>
              <a:t>内生性バイアス</a:t>
            </a:r>
          </a:p>
        </p:txBody>
      </p:sp>
      <p:sp>
        <p:nvSpPr>
          <p:cNvPr id="3" name="コンテンツ プレースホルダー 2">
            <a:extLst>
              <a:ext uri="{FF2B5EF4-FFF2-40B4-BE49-F238E27FC236}">
                <a16:creationId xmlns:a16="http://schemas.microsoft.com/office/drawing/2014/main" id="{3E83BAA8-0653-F4F2-8062-C055D3998091}"/>
              </a:ext>
            </a:extLst>
          </p:cNvPr>
          <p:cNvSpPr>
            <a:spLocks noGrp="1"/>
          </p:cNvSpPr>
          <p:nvPr>
            <p:ph idx="1"/>
          </p:nvPr>
        </p:nvSpPr>
        <p:spPr>
          <a:xfrm>
            <a:off x="838200" y="1163782"/>
            <a:ext cx="10515600" cy="4803881"/>
          </a:xfrm>
        </p:spPr>
        <p:txBody>
          <a:bodyPr anchor="t">
            <a:normAutofit/>
          </a:bodyPr>
          <a:lstStyle/>
          <a:p>
            <a:r>
              <a:rPr lang="ja-JP" altLang="en-US" dirty="0"/>
              <a:t>「景気が悪くなると雇用が減少し，失業が増加する」という因果関係</a:t>
            </a:r>
            <a:endParaRPr lang="en-US" altLang="ja-JP" dirty="0"/>
          </a:p>
          <a:p>
            <a:pPr lvl="1"/>
            <a:r>
              <a:rPr lang="ja-JP" altLang="en-US" dirty="0"/>
              <a:t>サーチ理論</a:t>
            </a:r>
            <a:endParaRPr lang="en-US" altLang="ja-JP" dirty="0"/>
          </a:p>
          <a:p>
            <a:pPr lvl="2"/>
            <a:r>
              <a:rPr lang="ja-JP" altLang="en-US" dirty="0"/>
              <a:t>労働市場に摩擦が存在</a:t>
            </a:r>
            <a:endParaRPr lang="en-US" altLang="ja-JP" dirty="0"/>
          </a:p>
          <a:p>
            <a:pPr lvl="2"/>
            <a:r>
              <a:rPr lang="ja-JP" altLang="en-US" dirty="0"/>
              <a:t>雇用と失業の調整は即時的ではなく，内生的なタイムラグを伴うと仮定</a:t>
            </a:r>
            <a:r>
              <a:rPr lang="en-US" altLang="ja-JP" dirty="0"/>
              <a:t>(Blanchard and Diamond 1992)</a:t>
            </a:r>
          </a:p>
          <a:p>
            <a:pPr lvl="2">
              <a:buFont typeface="Wingdings" panose="05000000000000000000" pitchFamily="2" charset="2"/>
              <a:buChar char="Ø"/>
            </a:pPr>
            <a:r>
              <a:rPr lang="ja-JP" altLang="en-US" dirty="0"/>
              <a:t>同時的な因果関係ではないので，</a:t>
            </a:r>
            <a:br>
              <a:rPr lang="en-US" altLang="ja-JP" dirty="0"/>
            </a:br>
            <a:r>
              <a:rPr lang="ja-JP" altLang="en-US" dirty="0"/>
              <a:t>「景気悪化 ⇒ 失業増加」の因果関係は考えない</a:t>
            </a:r>
            <a:endParaRPr lang="en-US" altLang="ja-JP" dirty="0"/>
          </a:p>
        </p:txBody>
      </p:sp>
      <p:sp>
        <p:nvSpPr>
          <p:cNvPr id="4" name="スライド番号プレースホルダー 3">
            <a:extLst>
              <a:ext uri="{FF2B5EF4-FFF2-40B4-BE49-F238E27FC236}">
                <a16:creationId xmlns:a16="http://schemas.microsoft.com/office/drawing/2014/main" id="{4CB5728C-43F7-B6B7-5C6E-8E826EA9FC1A}"/>
              </a:ext>
            </a:extLst>
          </p:cNvPr>
          <p:cNvSpPr>
            <a:spLocks noGrp="1"/>
          </p:cNvSpPr>
          <p:nvPr>
            <p:ph type="sldNum" sz="quarter" idx="12"/>
          </p:nvPr>
        </p:nvSpPr>
        <p:spPr/>
        <p:txBody>
          <a:bodyPr/>
          <a:lstStyle/>
          <a:p>
            <a:fld id="{D015B3C7-C04D-468F-B3C4-7E2FB8E54005}" type="slidenum">
              <a:rPr kumimoji="1" lang="ja-JP" altLang="en-US" smtClean="0"/>
              <a:t>9</a:t>
            </a:fld>
            <a:endParaRPr kumimoji="1" lang="ja-JP" altLang="en-US" dirty="0"/>
          </a:p>
        </p:txBody>
      </p:sp>
      <p:sp>
        <p:nvSpPr>
          <p:cNvPr id="5" name="正方形/長方形 4">
            <a:extLst>
              <a:ext uri="{FF2B5EF4-FFF2-40B4-BE49-F238E27FC236}">
                <a16:creationId xmlns:a16="http://schemas.microsoft.com/office/drawing/2014/main" id="{9E50083D-644B-A408-1DE2-35C08F9294D2}"/>
              </a:ext>
            </a:extLst>
          </p:cNvPr>
          <p:cNvSpPr/>
          <p:nvPr/>
        </p:nvSpPr>
        <p:spPr>
          <a:xfrm>
            <a:off x="2893669" y="5632954"/>
            <a:ext cx="1841339" cy="92885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説明変数</a:t>
            </a:r>
            <a:br>
              <a:rPr kumimoji="1" lang="en-US" altLang="ja-JP" sz="2400" dirty="0">
                <a:solidFill>
                  <a:schemeClr val="tx1"/>
                </a:solidFill>
              </a:rPr>
            </a:br>
            <a:r>
              <a:rPr kumimoji="1" lang="en-US" altLang="ja-JP" sz="2400" dirty="0">
                <a:solidFill>
                  <a:schemeClr val="tx1"/>
                </a:solidFill>
              </a:rPr>
              <a:t>(</a:t>
            </a:r>
            <a:r>
              <a:rPr lang="ja-JP" altLang="en-US" sz="2400" dirty="0">
                <a:solidFill>
                  <a:schemeClr val="tx1"/>
                </a:solidFill>
              </a:rPr>
              <a:t>失業</a:t>
            </a:r>
            <a:r>
              <a:rPr kumimoji="1" lang="en-US" altLang="ja-JP" sz="2400" dirty="0">
                <a:solidFill>
                  <a:schemeClr val="tx1"/>
                </a:solidFill>
              </a:rPr>
              <a:t>)</a:t>
            </a:r>
            <a:endParaRPr kumimoji="1" lang="ja-JP" altLang="en-US" sz="2400" dirty="0">
              <a:solidFill>
                <a:schemeClr val="tx1"/>
              </a:solidFill>
            </a:endParaRPr>
          </a:p>
        </p:txBody>
      </p:sp>
      <p:sp>
        <p:nvSpPr>
          <p:cNvPr id="6" name="正方形/長方形 5">
            <a:extLst>
              <a:ext uri="{FF2B5EF4-FFF2-40B4-BE49-F238E27FC236}">
                <a16:creationId xmlns:a16="http://schemas.microsoft.com/office/drawing/2014/main" id="{FB385F08-C86C-C777-61AC-11217E4726C9}"/>
              </a:ext>
            </a:extLst>
          </p:cNvPr>
          <p:cNvSpPr/>
          <p:nvPr/>
        </p:nvSpPr>
        <p:spPr>
          <a:xfrm>
            <a:off x="5244294" y="4210298"/>
            <a:ext cx="1841339" cy="92885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第</a:t>
            </a:r>
            <a:r>
              <a:rPr lang="en-US" altLang="ja-JP" sz="2400" dirty="0">
                <a:solidFill>
                  <a:schemeClr val="tx1"/>
                </a:solidFill>
              </a:rPr>
              <a:t>3</a:t>
            </a:r>
            <a:r>
              <a:rPr lang="ja-JP" altLang="en-US" sz="2400" dirty="0">
                <a:solidFill>
                  <a:schemeClr val="tx1"/>
                </a:solidFill>
              </a:rPr>
              <a:t>の変数</a:t>
            </a:r>
            <a:endParaRPr lang="en-US" altLang="ja-JP" sz="2400" dirty="0">
              <a:solidFill>
                <a:schemeClr val="tx1"/>
              </a:solidFill>
            </a:endParaRPr>
          </a:p>
          <a:p>
            <a:pPr algn="ctr"/>
            <a:r>
              <a:rPr kumimoji="1" lang="en-US" altLang="ja-JP" sz="2400" dirty="0">
                <a:solidFill>
                  <a:schemeClr val="tx1"/>
                </a:solidFill>
              </a:rPr>
              <a:t>(</a:t>
            </a:r>
            <a:r>
              <a:rPr kumimoji="1" lang="ja-JP" altLang="en-US" sz="2400" dirty="0">
                <a:solidFill>
                  <a:schemeClr val="tx1"/>
                </a:solidFill>
              </a:rPr>
              <a:t>景気</a:t>
            </a:r>
            <a:r>
              <a:rPr kumimoji="1" lang="en-US" altLang="ja-JP" sz="2400" dirty="0">
                <a:solidFill>
                  <a:schemeClr val="tx1"/>
                </a:solidFill>
              </a:rPr>
              <a:t>)</a:t>
            </a:r>
            <a:endParaRPr kumimoji="1" lang="ja-JP" altLang="en-US" sz="2400" dirty="0">
              <a:solidFill>
                <a:schemeClr val="tx1"/>
              </a:solidFill>
            </a:endParaRPr>
          </a:p>
        </p:txBody>
      </p:sp>
      <p:sp>
        <p:nvSpPr>
          <p:cNvPr id="7" name="正方形/長方形 6">
            <a:extLst>
              <a:ext uri="{FF2B5EF4-FFF2-40B4-BE49-F238E27FC236}">
                <a16:creationId xmlns:a16="http://schemas.microsoft.com/office/drawing/2014/main" id="{25367A5F-07DF-9D2B-081E-4E20E9A09F63}"/>
              </a:ext>
            </a:extLst>
          </p:cNvPr>
          <p:cNvSpPr/>
          <p:nvPr/>
        </p:nvSpPr>
        <p:spPr>
          <a:xfrm>
            <a:off x="7742497" y="5632954"/>
            <a:ext cx="1841339" cy="92885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非説明変数</a:t>
            </a:r>
            <a:br>
              <a:rPr kumimoji="1" lang="en-US" altLang="ja-JP" sz="2400" dirty="0">
                <a:solidFill>
                  <a:schemeClr val="tx1"/>
                </a:solidFill>
              </a:rPr>
            </a:br>
            <a:r>
              <a:rPr kumimoji="1" lang="en-US" altLang="ja-JP" sz="2400" dirty="0">
                <a:solidFill>
                  <a:schemeClr val="tx1"/>
                </a:solidFill>
              </a:rPr>
              <a:t>(</a:t>
            </a:r>
            <a:r>
              <a:rPr kumimoji="1" lang="ja-JP" altLang="en-US" sz="2400" dirty="0">
                <a:solidFill>
                  <a:schemeClr val="tx1"/>
                </a:solidFill>
              </a:rPr>
              <a:t>雇用</a:t>
            </a:r>
            <a:r>
              <a:rPr kumimoji="1" lang="en-US" altLang="ja-JP" sz="2400" dirty="0">
                <a:solidFill>
                  <a:schemeClr val="tx1"/>
                </a:solidFill>
              </a:rPr>
              <a:t>)</a:t>
            </a:r>
            <a:endParaRPr kumimoji="1" lang="ja-JP" altLang="en-US" sz="2400" dirty="0">
              <a:solidFill>
                <a:schemeClr val="tx1"/>
              </a:solidFill>
            </a:endParaRPr>
          </a:p>
        </p:txBody>
      </p:sp>
      <p:sp>
        <p:nvSpPr>
          <p:cNvPr id="8" name="矢印: 右 7">
            <a:extLst>
              <a:ext uri="{FF2B5EF4-FFF2-40B4-BE49-F238E27FC236}">
                <a16:creationId xmlns:a16="http://schemas.microsoft.com/office/drawing/2014/main" id="{2666E6E6-4C0A-C66E-49C5-CACFB4D18C93}"/>
              </a:ext>
            </a:extLst>
          </p:cNvPr>
          <p:cNvSpPr/>
          <p:nvPr/>
        </p:nvSpPr>
        <p:spPr>
          <a:xfrm>
            <a:off x="4896090" y="5960435"/>
            <a:ext cx="2743200" cy="2777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8BFB4948-CD5F-7968-7478-40EDF3D00ED4}"/>
              </a:ext>
            </a:extLst>
          </p:cNvPr>
          <p:cNvSpPr/>
          <p:nvPr/>
        </p:nvSpPr>
        <p:spPr>
          <a:xfrm rot="2354233" flipV="1">
            <a:off x="7205648" y="4959692"/>
            <a:ext cx="1278773" cy="256547"/>
          </a:xfrm>
          <a:prstGeom prst="rightArrow">
            <a:avLst>
              <a:gd name="adj1" fmla="val 75039"/>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右 9">
            <a:extLst>
              <a:ext uri="{FF2B5EF4-FFF2-40B4-BE49-F238E27FC236}">
                <a16:creationId xmlns:a16="http://schemas.microsoft.com/office/drawing/2014/main" id="{0CFF733A-CA67-8EBC-A840-EA7CE74C6BFA}"/>
              </a:ext>
            </a:extLst>
          </p:cNvPr>
          <p:cNvSpPr/>
          <p:nvPr/>
        </p:nvSpPr>
        <p:spPr>
          <a:xfrm rot="8740161" flipV="1">
            <a:off x="3805712" y="4925526"/>
            <a:ext cx="1327740" cy="3795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00B70DBE-C05C-52BA-BBD7-1D16DD87AAF9}"/>
              </a:ext>
            </a:extLst>
          </p:cNvPr>
          <p:cNvSpPr txBox="1"/>
          <p:nvPr/>
        </p:nvSpPr>
        <p:spPr>
          <a:xfrm>
            <a:off x="5443062" y="6279431"/>
            <a:ext cx="1649256" cy="461665"/>
          </a:xfrm>
          <a:prstGeom prst="rect">
            <a:avLst/>
          </a:prstGeom>
          <a:noFill/>
        </p:spPr>
        <p:txBody>
          <a:bodyPr wrap="square" rtlCol="0">
            <a:spAutoFit/>
          </a:bodyPr>
          <a:lstStyle/>
          <a:p>
            <a:pPr algn="ctr"/>
            <a:r>
              <a:rPr kumimoji="1" lang="en-US" altLang="ja-JP" sz="2400" dirty="0"/>
              <a:t>OLS</a:t>
            </a:r>
            <a:r>
              <a:rPr kumimoji="1" lang="ja-JP" altLang="en-US" sz="2400" dirty="0"/>
              <a:t>推計</a:t>
            </a:r>
          </a:p>
        </p:txBody>
      </p:sp>
      <p:sp>
        <p:nvSpPr>
          <p:cNvPr id="12" name="乗算記号 11">
            <a:extLst>
              <a:ext uri="{FF2B5EF4-FFF2-40B4-BE49-F238E27FC236}">
                <a16:creationId xmlns:a16="http://schemas.microsoft.com/office/drawing/2014/main" id="{F6B777C5-0CD6-5F29-2C3E-F48B51C26071}"/>
              </a:ext>
            </a:extLst>
          </p:cNvPr>
          <p:cNvSpPr/>
          <p:nvPr/>
        </p:nvSpPr>
        <p:spPr>
          <a:xfrm>
            <a:off x="7390659" y="4486708"/>
            <a:ext cx="908750" cy="1146246"/>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乗算記号 12">
            <a:extLst>
              <a:ext uri="{FF2B5EF4-FFF2-40B4-BE49-F238E27FC236}">
                <a16:creationId xmlns:a16="http://schemas.microsoft.com/office/drawing/2014/main" id="{E5873DB9-7CA9-740C-F2DC-93EAEF454736}"/>
              </a:ext>
            </a:extLst>
          </p:cNvPr>
          <p:cNvSpPr/>
          <p:nvPr/>
        </p:nvSpPr>
        <p:spPr>
          <a:xfrm>
            <a:off x="4103245" y="4429640"/>
            <a:ext cx="908750" cy="1146246"/>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38126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12B8CF-061C-C165-BF80-C1E67A301381}"/>
              </a:ext>
            </a:extLst>
          </p:cNvPr>
          <p:cNvSpPr>
            <a:spLocks noGrp="1"/>
          </p:cNvSpPr>
          <p:nvPr>
            <p:ph type="title"/>
          </p:nvPr>
        </p:nvSpPr>
        <p:spPr/>
        <p:txBody>
          <a:bodyPr/>
          <a:lstStyle/>
          <a:p>
            <a:r>
              <a:rPr kumimoji="1" lang="ja-JP" altLang="en-US" dirty="0"/>
              <a:t>操作変数法</a:t>
            </a:r>
          </a:p>
        </p:txBody>
      </p:sp>
      <p:sp>
        <p:nvSpPr>
          <p:cNvPr id="4" name="スライド番号プレースホルダー 3">
            <a:extLst>
              <a:ext uri="{FF2B5EF4-FFF2-40B4-BE49-F238E27FC236}">
                <a16:creationId xmlns:a16="http://schemas.microsoft.com/office/drawing/2014/main" id="{90255066-C125-A49E-DDE4-34A215DC89A8}"/>
              </a:ext>
            </a:extLst>
          </p:cNvPr>
          <p:cNvSpPr>
            <a:spLocks noGrp="1"/>
          </p:cNvSpPr>
          <p:nvPr>
            <p:ph type="sldNum" sz="quarter" idx="12"/>
          </p:nvPr>
        </p:nvSpPr>
        <p:spPr/>
        <p:txBody>
          <a:bodyPr/>
          <a:lstStyle/>
          <a:p>
            <a:fld id="{D015B3C7-C04D-468F-B3C4-7E2FB8E54005}" type="slidenum">
              <a:rPr kumimoji="1" lang="ja-JP" altLang="en-US" smtClean="0"/>
              <a:t>10</a:t>
            </a:fld>
            <a:endParaRPr kumimoji="1" lang="ja-JP" altLang="en-US"/>
          </a:p>
        </p:txBody>
      </p:sp>
      <p:sp>
        <p:nvSpPr>
          <p:cNvPr id="13" name="正方形/長方形 12">
            <a:extLst>
              <a:ext uri="{FF2B5EF4-FFF2-40B4-BE49-F238E27FC236}">
                <a16:creationId xmlns:a16="http://schemas.microsoft.com/office/drawing/2014/main" id="{CC3E7EA4-38AB-29D8-9791-B0C4B9CD7717}"/>
              </a:ext>
            </a:extLst>
          </p:cNvPr>
          <p:cNvSpPr/>
          <p:nvPr/>
        </p:nvSpPr>
        <p:spPr>
          <a:xfrm>
            <a:off x="2569581" y="5561768"/>
            <a:ext cx="1841339" cy="92885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説明変数</a:t>
            </a:r>
            <a:br>
              <a:rPr kumimoji="1" lang="en-US" altLang="ja-JP" sz="2400" dirty="0">
                <a:solidFill>
                  <a:schemeClr val="tx1"/>
                </a:solidFill>
              </a:rPr>
            </a:br>
            <a:r>
              <a:rPr kumimoji="1" lang="en-US" altLang="ja-JP" sz="2400" dirty="0">
                <a:solidFill>
                  <a:schemeClr val="tx1"/>
                </a:solidFill>
              </a:rPr>
              <a:t>(</a:t>
            </a:r>
            <a:r>
              <a:rPr kumimoji="1" lang="ja-JP" altLang="en-US" sz="2400" dirty="0">
                <a:solidFill>
                  <a:schemeClr val="tx1"/>
                </a:solidFill>
              </a:rPr>
              <a:t>求人</a:t>
            </a:r>
            <a:r>
              <a:rPr kumimoji="1" lang="en-US" altLang="ja-JP" sz="2400" dirty="0">
                <a:solidFill>
                  <a:schemeClr val="tx1"/>
                </a:solidFill>
              </a:rPr>
              <a:t>)</a:t>
            </a:r>
            <a:endParaRPr kumimoji="1" lang="ja-JP" altLang="en-US" sz="2400" dirty="0">
              <a:solidFill>
                <a:schemeClr val="tx1"/>
              </a:solidFill>
            </a:endParaRPr>
          </a:p>
        </p:txBody>
      </p:sp>
      <p:sp>
        <p:nvSpPr>
          <p:cNvPr id="14" name="正方形/長方形 13">
            <a:extLst>
              <a:ext uri="{FF2B5EF4-FFF2-40B4-BE49-F238E27FC236}">
                <a16:creationId xmlns:a16="http://schemas.microsoft.com/office/drawing/2014/main" id="{4FF50D3D-F123-6658-6A41-CB08AEE5E48A}"/>
              </a:ext>
            </a:extLst>
          </p:cNvPr>
          <p:cNvSpPr/>
          <p:nvPr/>
        </p:nvSpPr>
        <p:spPr>
          <a:xfrm>
            <a:off x="4920206" y="4324311"/>
            <a:ext cx="1841339" cy="92885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操作変数</a:t>
            </a:r>
            <a:endParaRPr kumimoji="1" lang="en-US" altLang="ja-JP" sz="2400" dirty="0">
              <a:solidFill>
                <a:schemeClr val="tx1"/>
              </a:solidFill>
            </a:endParaRPr>
          </a:p>
          <a:p>
            <a:pPr algn="ctr"/>
            <a:r>
              <a:rPr lang="en-US" altLang="ja-JP" sz="2400" dirty="0">
                <a:solidFill>
                  <a:schemeClr val="tx1"/>
                </a:solidFill>
              </a:rPr>
              <a:t>(</a:t>
            </a:r>
            <a:r>
              <a:rPr lang="ja-JP" altLang="en-US" sz="2400" dirty="0">
                <a:solidFill>
                  <a:schemeClr val="tx1"/>
                </a:solidFill>
              </a:rPr>
              <a:t>ラグ</a:t>
            </a:r>
            <a:r>
              <a:rPr lang="en-US" altLang="ja-JP" sz="2400" dirty="0">
                <a:solidFill>
                  <a:schemeClr val="tx1"/>
                </a:solidFill>
              </a:rPr>
              <a:t>1</a:t>
            </a:r>
            <a:r>
              <a:rPr lang="ja-JP" altLang="en-US" sz="2400" dirty="0">
                <a:solidFill>
                  <a:schemeClr val="tx1"/>
                </a:solidFill>
              </a:rPr>
              <a:t>と</a:t>
            </a:r>
            <a:r>
              <a:rPr lang="en-US" altLang="ja-JP" sz="2400" dirty="0">
                <a:solidFill>
                  <a:schemeClr val="tx1"/>
                </a:solidFill>
              </a:rPr>
              <a:t>2)</a:t>
            </a:r>
            <a:endParaRPr kumimoji="1" lang="ja-JP" altLang="en-US" sz="2400" dirty="0">
              <a:solidFill>
                <a:schemeClr val="tx1"/>
              </a:solidFill>
            </a:endParaRPr>
          </a:p>
        </p:txBody>
      </p:sp>
      <p:sp>
        <p:nvSpPr>
          <p:cNvPr id="15" name="正方形/長方形 14">
            <a:extLst>
              <a:ext uri="{FF2B5EF4-FFF2-40B4-BE49-F238E27FC236}">
                <a16:creationId xmlns:a16="http://schemas.microsoft.com/office/drawing/2014/main" id="{801C6B93-0AC9-2525-9BC1-6B41E919B34B}"/>
              </a:ext>
            </a:extLst>
          </p:cNvPr>
          <p:cNvSpPr/>
          <p:nvPr/>
        </p:nvSpPr>
        <p:spPr>
          <a:xfrm>
            <a:off x="7418409" y="5561768"/>
            <a:ext cx="1841339" cy="92885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rPr>
              <a:t>非説明変数</a:t>
            </a:r>
            <a:br>
              <a:rPr kumimoji="1" lang="en-US" altLang="ja-JP" sz="2400" dirty="0">
                <a:solidFill>
                  <a:schemeClr val="tx1"/>
                </a:solidFill>
              </a:rPr>
            </a:br>
            <a:r>
              <a:rPr kumimoji="1" lang="en-US" altLang="ja-JP" sz="2400" dirty="0">
                <a:solidFill>
                  <a:schemeClr val="tx1"/>
                </a:solidFill>
              </a:rPr>
              <a:t>(</a:t>
            </a:r>
            <a:r>
              <a:rPr kumimoji="1" lang="ja-JP" altLang="en-US" sz="2400" dirty="0">
                <a:solidFill>
                  <a:schemeClr val="tx1"/>
                </a:solidFill>
              </a:rPr>
              <a:t>雇用</a:t>
            </a:r>
            <a:r>
              <a:rPr kumimoji="1" lang="en-US" altLang="ja-JP" sz="2400" dirty="0">
                <a:solidFill>
                  <a:schemeClr val="tx1"/>
                </a:solidFill>
              </a:rPr>
              <a:t>)</a:t>
            </a:r>
            <a:endParaRPr kumimoji="1" lang="ja-JP" altLang="en-US" sz="2400" dirty="0">
              <a:solidFill>
                <a:schemeClr val="tx1"/>
              </a:solidFill>
            </a:endParaRPr>
          </a:p>
        </p:txBody>
      </p:sp>
      <p:sp>
        <p:nvSpPr>
          <p:cNvPr id="16" name="矢印: 右 15">
            <a:extLst>
              <a:ext uri="{FF2B5EF4-FFF2-40B4-BE49-F238E27FC236}">
                <a16:creationId xmlns:a16="http://schemas.microsoft.com/office/drawing/2014/main" id="{C022686A-697A-46ED-A446-CCB2899D6DB7}"/>
              </a:ext>
            </a:extLst>
          </p:cNvPr>
          <p:cNvSpPr/>
          <p:nvPr/>
        </p:nvSpPr>
        <p:spPr>
          <a:xfrm>
            <a:off x="4572002" y="5889249"/>
            <a:ext cx="2743200" cy="2777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17">
            <a:extLst>
              <a:ext uri="{FF2B5EF4-FFF2-40B4-BE49-F238E27FC236}">
                <a16:creationId xmlns:a16="http://schemas.microsoft.com/office/drawing/2014/main" id="{332359DF-DCF4-86E3-40AF-4CBE26068322}"/>
              </a:ext>
            </a:extLst>
          </p:cNvPr>
          <p:cNvSpPr/>
          <p:nvPr/>
        </p:nvSpPr>
        <p:spPr>
          <a:xfrm rot="8740161" flipV="1">
            <a:off x="3481624" y="4854340"/>
            <a:ext cx="1327740" cy="3795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CD460EB6-EA66-BCFB-AD41-458DD1C5EE11}"/>
              </a:ext>
            </a:extLst>
          </p:cNvPr>
          <p:cNvSpPr txBox="1"/>
          <p:nvPr/>
        </p:nvSpPr>
        <p:spPr>
          <a:xfrm>
            <a:off x="5118974" y="6208245"/>
            <a:ext cx="1649256" cy="461665"/>
          </a:xfrm>
          <a:prstGeom prst="rect">
            <a:avLst/>
          </a:prstGeom>
          <a:noFill/>
        </p:spPr>
        <p:txBody>
          <a:bodyPr wrap="square" rtlCol="0">
            <a:spAutoFit/>
          </a:bodyPr>
          <a:lstStyle/>
          <a:p>
            <a:pPr algn="ctr"/>
            <a:r>
              <a:rPr kumimoji="1" lang="en-US" altLang="ja-JP" sz="2400" dirty="0"/>
              <a:t>OLS</a:t>
            </a:r>
            <a:r>
              <a:rPr kumimoji="1" lang="ja-JP" altLang="en-US" sz="2400" dirty="0"/>
              <a:t>推計</a:t>
            </a:r>
          </a:p>
        </p:txBody>
      </p:sp>
      <p:sp>
        <p:nvSpPr>
          <p:cNvPr id="21" name="テキスト ボックス 20">
            <a:extLst>
              <a:ext uri="{FF2B5EF4-FFF2-40B4-BE49-F238E27FC236}">
                <a16:creationId xmlns:a16="http://schemas.microsoft.com/office/drawing/2014/main" id="{E2731B88-C908-6D7B-DD0D-3D60755F76DA}"/>
              </a:ext>
            </a:extLst>
          </p:cNvPr>
          <p:cNvSpPr txBox="1"/>
          <p:nvPr/>
        </p:nvSpPr>
        <p:spPr>
          <a:xfrm>
            <a:off x="2496238" y="4415522"/>
            <a:ext cx="1649256" cy="461665"/>
          </a:xfrm>
          <a:prstGeom prst="rect">
            <a:avLst/>
          </a:prstGeom>
          <a:noFill/>
        </p:spPr>
        <p:txBody>
          <a:bodyPr wrap="square" rtlCol="0">
            <a:spAutoFit/>
          </a:bodyPr>
          <a:lstStyle/>
          <a:p>
            <a:pPr algn="ctr"/>
            <a:r>
              <a:rPr kumimoji="1" lang="en-US" altLang="ja-JP" sz="2400" dirty="0"/>
              <a:t>OLS</a:t>
            </a:r>
            <a:r>
              <a:rPr kumimoji="1" lang="ja-JP" altLang="en-US" sz="2400" dirty="0"/>
              <a:t>推計</a:t>
            </a:r>
          </a:p>
        </p:txBody>
      </p:sp>
      <p:sp>
        <p:nvSpPr>
          <p:cNvPr id="23" name="コンテンツ プレースホルダー 2">
            <a:extLst>
              <a:ext uri="{FF2B5EF4-FFF2-40B4-BE49-F238E27FC236}">
                <a16:creationId xmlns:a16="http://schemas.microsoft.com/office/drawing/2014/main" id="{E7CB50EC-18A1-905F-CD63-337193CA1E74}"/>
              </a:ext>
            </a:extLst>
          </p:cNvPr>
          <p:cNvSpPr>
            <a:spLocks noGrp="1"/>
          </p:cNvSpPr>
          <p:nvPr>
            <p:ph idx="1"/>
          </p:nvPr>
        </p:nvSpPr>
        <p:spPr>
          <a:xfrm>
            <a:off x="838200" y="1163782"/>
            <a:ext cx="10515600" cy="5013181"/>
          </a:xfrm>
        </p:spPr>
        <p:txBody>
          <a:bodyPr anchor="t"/>
          <a:lstStyle/>
          <a:p>
            <a:pPr>
              <a:buFont typeface="Wingdings" panose="05000000000000000000" pitchFamily="2" charset="2"/>
              <a:buChar char="u"/>
            </a:pPr>
            <a:r>
              <a:rPr lang="ja-JP" altLang="en-US" dirty="0"/>
              <a:t>操作変数</a:t>
            </a:r>
            <a:endParaRPr lang="en-US" altLang="ja-JP" dirty="0"/>
          </a:p>
          <a:p>
            <a:pPr lvl="1"/>
            <a:r>
              <a:rPr lang="ja-JP" altLang="en-US" dirty="0"/>
              <a:t>説明変数</a:t>
            </a:r>
            <a:r>
              <a:rPr lang="en-US" altLang="ja-JP" dirty="0"/>
              <a:t>(</a:t>
            </a:r>
            <a:r>
              <a:rPr lang="ja-JP" altLang="en-US" dirty="0"/>
              <a:t>求人数</a:t>
            </a:r>
            <a:r>
              <a:rPr lang="en-US" altLang="ja-JP" dirty="0"/>
              <a:t>)</a:t>
            </a:r>
            <a:r>
              <a:rPr lang="ja-JP" altLang="en-US" dirty="0"/>
              <a:t>には影響するが，非説明変数</a:t>
            </a:r>
            <a:r>
              <a:rPr lang="en-US" altLang="ja-JP" dirty="0"/>
              <a:t>(</a:t>
            </a:r>
            <a:r>
              <a:rPr lang="ja-JP" altLang="en-US" dirty="0"/>
              <a:t>雇用</a:t>
            </a:r>
            <a:r>
              <a:rPr lang="en-US" altLang="ja-JP" dirty="0"/>
              <a:t>)</a:t>
            </a:r>
            <a:r>
              <a:rPr lang="ja-JP" altLang="en-US" dirty="0"/>
              <a:t>には影響を与えない変数</a:t>
            </a:r>
            <a:endParaRPr lang="en-US" altLang="ja-JP" dirty="0"/>
          </a:p>
          <a:p>
            <a:pPr lvl="1">
              <a:buFont typeface="Wingdings" panose="05000000000000000000" pitchFamily="2" charset="2"/>
              <a:buChar char="Ø"/>
            </a:pPr>
            <a:r>
              <a:rPr lang="ja-JP" altLang="en-US" dirty="0"/>
              <a:t>操作変数の変化による説明変数の変化と，非説明変数の変化を観察することで，説明変数が被説明変数に，直接与える影響を求められる</a:t>
            </a:r>
            <a:endParaRPr lang="en-US" altLang="ja-JP" dirty="0"/>
          </a:p>
          <a:p>
            <a:pPr>
              <a:buFont typeface="Wingdings" panose="05000000000000000000" pitchFamily="2" charset="2"/>
              <a:buChar char="u"/>
            </a:pPr>
            <a:r>
              <a:rPr lang="ja-JP" altLang="en-US" dirty="0"/>
              <a:t>本分析</a:t>
            </a:r>
            <a:endParaRPr lang="en-US" altLang="ja-JP" dirty="0"/>
          </a:p>
          <a:p>
            <a:pPr lvl="1"/>
            <a:r>
              <a:rPr lang="en-US" altLang="ja-JP" dirty="0"/>
              <a:t>1</a:t>
            </a:r>
            <a:r>
              <a:rPr lang="ja-JP" altLang="en-US" dirty="0"/>
              <a:t>期前と</a:t>
            </a:r>
            <a:r>
              <a:rPr lang="en-US" altLang="ja-JP" dirty="0"/>
              <a:t>2</a:t>
            </a:r>
            <a:r>
              <a:rPr lang="ja-JP" altLang="en-US" dirty="0"/>
              <a:t>期前の求人数</a:t>
            </a:r>
            <a:r>
              <a:rPr lang="en-US" altLang="ja-JP" dirty="0"/>
              <a:t>(</a:t>
            </a:r>
            <a:r>
              <a:rPr lang="ja-JP" altLang="en-US" dirty="0"/>
              <a:t>操作変数</a:t>
            </a:r>
            <a:r>
              <a:rPr lang="en-US" altLang="ja-JP" dirty="0"/>
              <a:t>)</a:t>
            </a:r>
            <a:r>
              <a:rPr lang="ja-JP" altLang="en-US" dirty="0"/>
              <a:t>を用いて，今期の求人数</a:t>
            </a:r>
            <a:r>
              <a:rPr lang="en-US" altLang="ja-JP" dirty="0"/>
              <a:t>(</a:t>
            </a:r>
            <a:r>
              <a:rPr lang="ja-JP" altLang="en-US" dirty="0"/>
              <a:t>説明変数</a:t>
            </a:r>
            <a:r>
              <a:rPr lang="en-US" altLang="ja-JP" dirty="0"/>
              <a:t>)</a:t>
            </a:r>
            <a:r>
              <a:rPr lang="ja-JP" altLang="en-US" dirty="0"/>
              <a:t>を推計</a:t>
            </a:r>
            <a:endParaRPr lang="en-US" altLang="ja-JP" dirty="0"/>
          </a:p>
          <a:p>
            <a:pPr>
              <a:buFont typeface="Wingdings" panose="05000000000000000000" pitchFamily="2" charset="2"/>
              <a:buChar char="u"/>
            </a:pPr>
            <a:endParaRPr lang="en-US" altLang="ja-JP" dirty="0"/>
          </a:p>
        </p:txBody>
      </p:sp>
      <p:sp>
        <p:nvSpPr>
          <p:cNvPr id="27" name="矢印: 右 26">
            <a:extLst>
              <a:ext uri="{FF2B5EF4-FFF2-40B4-BE49-F238E27FC236}">
                <a16:creationId xmlns:a16="http://schemas.microsoft.com/office/drawing/2014/main" id="{F5519118-705B-09F4-BC34-8641C9B66618}"/>
              </a:ext>
            </a:extLst>
          </p:cNvPr>
          <p:cNvSpPr/>
          <p:nvPr/>
        </p:nvSpPr>
        <p:spPr>
          <a:xfrm rot="2354233" flipV="1">
            <a:off x="6706277" y="4865139"/>
            <a:ext cx="1523064" cy="284523"/>
          </a:xfrm>
          <a:prstGeom prst="rightArrow">
            <a:avLst>
              <a:gd name="adj1" fmla="val 75039"/>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C1626E5C-A3DF-74D2-3150-884292F51330}"/>
              </a:ext>
            </a:extLst>
          </p:cNvPr>
          <p:cNvSpPr/>
          <p:nvPr/>
        </p:nvSpPr>
        <p:spPr>
          <a:xfrm>
            <a:off x="6964034" y="4374319"/>
            <a:ext cx="908750" cy="1146246"/>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84633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C2583-5E27-BF39-3BEB-20EDE4F5082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45048B-B9A9-ACE2-1661-5448356F50C3}"/>
              </a:ext>
            </a:extLst>
          </p:cNvPr>
          <p:cNvSpPr>
            <a:spLocks noGrp="1"/>
          </p:cNvSpPr>
          <p:nvPr>
            <p:ph type="title"/>
          </p:nvPr>
        </p:nvSpPr>
        <p:spPr/>
        <p:txBody>
          <a:bodyPr/>
          <a:lstStyle/>
          <a:p>
            <a:r>
              <a:rPr kumimoji="1" lang="ja-JP" altLang="en-US" dirty="0"/>
              <a:t>操作変数法</a:t>
            </a:r>
          </a:p>
        </p:txBody>
      </p:sp>
      <p:sp>
        <p:nvSpPr>
          <p:cNvPr id="4" name="スライド番号プレースホルダー 3">
            <a:extLst>
              <a:ext uri="{FF2B5EF4-FFF2-40B4-BE49-F238E27FC236}">
                <a16:creationId xmlns:a16="http://schemas.microsoft.com/office/drawing/2014/main" id="{A9E6CF0A-BDF4-A10B-B4BC-C3B9658DF86C}"/>
              </a:ext>
            </a:extLst>
          </p:cNvPr>
          <p:cNvSpPr>
            <a:spLocks noGrp="1"/>
          </p:cNvSpPr>
          <p:nvPr>
            <p:ph type="sldNum" sz="quarter" idx="12"/>
          </p:nvPr>
        </p:nvSpPr>
        <p:spPr/>
        <p:txBody>
          <a:bodyPr/>
          <a:lstStyle/>
          <a:p>
            <a:fld id="{D015B3C7-C04D-468F-B3C4-7E2FB8E54005}" type="slidenum">
              <a:rPr kumimoji="1" lang="ja-JP" altLang="en-US" smtClean="0"/>
              <a:t>11</a:t>
            </a:fld>
            <a:endParaRPr kumimoji="1" lang="ja-JP" altLang="en-US"/>
          </a:p>
        </p:txBody>
      </p:sp>
      <p:sp>
        <p:nvSpPr>
          <p:cNvPr id="23" name="コンテンツ プレースホルダー 2">
            <a:extLst>
              <a:ext uri="{FF2B5EF4-FFF2-40B4-BE49-F238E27FC236}">
                <a16:creationId xmlns:a16="http://schemas.microsoft.com/office/drawing/2014/main" id="{1CFC5B84-2B66-2627-C8ED-E0D413612AB2}"/>
              </a:ext>
            </a:extLst>
          </p:cNvPr>
          <p:cNvSpPr>
            <a:spLocks noGrp="1"/>
          </p:cNvSpPr>
          <p:nvPr>
            <p:ph idx="1"/>
          </p:nvPr>
        </p:nvSpPr>
        <p:spPr>
          <a:xfrm>
            <a:off x="838200" y="1163782"/>
            <a:ext cx="10515600" cy="5063398"/>
          </a:xfrm>
        </p:spPr>
        <p:txBody>
          <a:bodyPr anchor="ctr">
            <a:normAutofit/>
          </a:bodyPr>
          <a:lstStyle/>
          <a:p>
            <a:pPr>
              <a:buFont typeface="Wingdings" panose="05000000000000000000" pitchFamily="2" charset="2"/>
              <a:buChar char="u"/>
            </a:pPr>
            <a:r>
              <a:rPr lang="ja-JP" altLang="en-US" dirty="0"/>
              <a:t>「操作変数 ⇒ 説明変数」の推計</a:t>
            </a:r>
            <a:endParaRPr lang="en-US" altLang="ja-JP" dirty="0"/>
          </a:p>
          <a:p>
            <a:pPr lvl="1"/>
            <a:r>
              <a:rPr lang="en-US" altLang="ja-JP" dirty="0"/>
              <a:t>F</a:t>
            </a:r>
            <a:r>
              <a:rPr lang="ja-JP" altLang="en-US" dirty="0"/>
              <a:t>値が</a:t>
            </a:r>
            <a:r>
              <a:rPr lang="en-US" altLang="ja-JP" dirty="0"/>
              <a:t>6.57</a:t>
            </a:r>
            <a:r>
              <a:rPr lang="ja-JP" altLang="en-US" dirty="0"/>
              <a:t>とやや小さい，</a:t>
            </a:r>
            <a:r>
              <a:rPr lang="en-US" altLang="ja-JP" dirty="0"/>
              <a:t>P</a:t>
            </a:r>
            <a:r>
              <a:rPr lang="ja-JP" altLang="en-US" dirty="0"/>
              <a:t>値は</a:t>
            </a:r>
            <a:r>
              <a:rPr lang="en-US" altLang="ja-JP" dirty="0"/>
              <a:t>0.0375</a:t>
            </a:r>
          </a:p>
          <a:p>
            <a:pPr lvl="2">
              <a:buFont typeface="Wingdings" panose="05000000000000000000" pitchFamily="2" charset="2"/>
              <a:buChar char="Ø"/>
            </a:pPr>
            <a:r>
              <a:rPr lang="ja-JP" altLang="en-US" dirty="0"/>
              <a:t>弱操作変数の可能性があるが，</a:t>
            </a:r>
            <a:br>
              <a:rPr lang="en-US" altLang="ja-JP" dirty="0"/>
            </a:br>
            <a:r>
              <a:rPr lang="ja-JP" altLang="en-US" dirty="0"/>
              <a:t>操作変数として使えなくもない</a:t>
            </a:r>
            <a:endParaRPr lang="en-US" altLang="ja-JP" dirty="0"/>
          </a:p>
          <a:p>
            <a:pPr>
              <a:buFont typeface="Wingdings" panose="05000000000000000000" pitchFamily="2" charset="2"/>
              <a:buChar char="u"/>
            </a:pPr>
            <a:r>
              <a:rPr lang="ja-JP" altLang="en-US" dirty="0"/>
              <a:t>結果</a:t>
            </a:r>
            <a:endParaRPr lang="en-US" altLang="ja-JP" dirty="0"/>
          </a:p>
          <a:p>
            <a:pPr lvl="1"/>
            <a:r>
              <a:rPr lang="en-US" altLang="ja-JP" dirty="0"/>
              <a:t>OLS</a:t>
            </a:r>
            <a:r>
              <a:rPr lang="ja-JP" altLang="en-US" dirty="0"/>
              <a:t>推計と符号は同じ</a:t>
            </a:r>
            <a:endParaRPr lang="en-US" altLang="ja-JP" dirty="0"/>
          </a:p>
          <a:p>
            <a:pPr lvl="2">
              <a:buFont typeface="Wingdings" panose="05000000000000000000" pitchFamily="2" charset="2"/>
              <a:buChar char="Ø"/>
            </a:pPr>
            <a:r>
              <a:rPr lang="ja-JP" altLang="en-US" dirty="0"/>
              <a:t>結論は</a:t>
            </a:r>
            <a:r>
              <a:rPr lang="en-US" altLang="ja-JP" dirty="0"/>
              <a:t>OLS</a:t>
            </a:r>
            <a:r>
              <a:rPr lang="ja-JP" altLang="en-US" dirty="0"/>
              <a:t>推計とほぼ同じ</a:t>
            </a:r>
            <a:endParaRPr lang="en-US" altLang="ja-JP" dirty="0"/>
          </a:p>
          <a:p>
            <a:pPr lvl="1"/>
            <a:r>
              <a:rPr lang="ja-JP" altLang="en-US" dirty="0"/>
              <a:t>係数𝜙の値が</a:t>
            </a:r>
            <a:r>
              <a:rPr lang="en-US" altLang="ja-JP" dirty="0"/>
              <a:t>2 </a:t>
            </a:r>
            <a:r>
              <a:rPr lang="ja-JP" altLang="en-US" dirty="0"/>
              <a:t>倍以上に増加</a:t>
            </a:r>
            <a:endParaRPr lang="en-US" altLang="ja-JP" dirty="0"/>
          </a:p>
          <a:p>
            <a:pPr lvl="2">
              <a:buFont typeface="Wingdings" panose="05000000000000000000" pitchFamily="2" charset="2"/>
              <a:buChar char="Ø"/>
            </a:pPr>
            <a:r>
              <a:rPr lang="ja-JP" altLang="en-US" dirty="0"/>
              <a:t>「雇用創出が失業者数よりも求人数の方に影響している」傾向がより強いものであることが示唆</a:t>
            </a:r>
            <a:endParaRPr lang="en-US" altLang="ja-JP" dirty="0"/>
          </a:p>
          <a:p>
            <a:pPr lvl="2"/>
            <a:r>
              <a:rPr lang="ja-JP" altLang="en-US" dirty="0"/>
              <a:t>ただし，弱操作変数の過剰推計の可能性あり</a:t>
            </a:r>
            <a:endParaRPr lang="en-US" altLang="ja-JP" dirty="0"/>
          </a:p>
          <a:p>
            <a:pPr lvl="1"/>
            <a:endParaRPr lang="en-US" altLang="ja-JP" dirty="0"/>
          </a:p>
        </p:txBody>
      </p:sp>
    </p:spTree>
    <p:extLst>
      <p:ext uri="{BB962C8B-B14F-4D97-AF65-F5344CB8AC3E}">
        <p14:creationId xmlns:p14="http://schemas.microsoft.com/office/powerpoint/2010/main" val="2947833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66F05A-6A36-363A-6C81-5EB48D36D3D5}"/>
              </a:ext>
            </a:extLst>
          </p:cNvPr>
          <p:cNvSpPr>
            <a:spLocks noGrp="1"/>
          </p:cNvSpPr>
          <p:nvPr>
            <p:ph type="title"/>
          </p:nvPr>
        </p:nvSpPr>
        <p:spPr/>
        <p:txBody>
          <a:bodyPr/>
          <a:lstStyle/>
          <a:p>
            <a:r>
              <a:rPr kumimoji="1" lang="ja-JP" altLang="en-US" dirty="0"/>
              <a:t>参考</a:t>
            </a:r>
            <a:r>
              <a:rPr lang="ja-JP" altLang="en-US" dirty="0"/>
              <a:t>資料</a:t>
            </a:r>
            <a:endParaRPr kumimoji="1" lang="ja-JP" altLang="en-US" dirty="0"/>
          </a:p>
        </p:txBody>
      </p:sp>
      <p:sp>
        <p:nvSpPr>
          <p:cNvPr id="3" name="コンテンツ プレースホルダー 2">
            <a:extLst>
              <a:ext uri="{FF2B5EF4-FFF2-40B4-BE49-F238E27FC236}">
                <a16:creationId xmlns:a16="http://schemas.microsoft.com/office/drawing/2014/main" id="{3DFFF809-581F-7F57-D737-C065EE5C2839}"/>
              </a:ext>
            </a:extLst>
          </p:cNvPr>
          <p:cNvSpPr>
            <a:spLocks noGrp="1"/>
          </p:cNvSpPr>
          <p:nvPr>
            <p:ph idx="1"/>
          </p:nvPr>
        </p:nvSpPr>
        <p:spPr/>
        <p:txBody>
          <a:bodyPr>
            <a:noAutofit/>
          </a:bodyPr>
          <a:lstStyle/>
          <a:p>
            <a:pPr lvl="1">
              <a:buFont typeface="Wingdings" panose="05000000000000000000" pitchFamily="2" charset="2"/>
              <a:buChar char="u"/>
            </a:pPr>
            <a:r>
              <a:rPr lang="ja-JP" altLang="en-US" sz="1600" dirty="0"/>
              <a:t>参考文献</a:t>
            </a:r>
            <a:endParaRPr lang="en-US" altLang="ja-JP" sz="1600" dirty="0"/>
          </a:p>
          <a:p>
            <a:pPr lvl="1"/>
            <a:r>
              <a:rPr lang="en-US" altLang="ja-JP" sz="1600" dirty="0"/>
              <a:t>Blanchard, O. and D. Diamond (1987), “The Beveridge curve”, </a:t>
            </a:r>
            <a:r>
              <a:rPr lang="en-US" altLang="ja-JP" sz="1600" i="1" dirty="0"/>
              <a:t>NBER Macroeconomic annual</a:t>
            </a:r>
            <a:r>
              <a:rPr lang="en-US" altLang="ja-JP" sz="1600" dirty="0"/>
              <a:t>.</a:t>
            </a:r>
          </a:p>
          <a:p>
            <a:pPr lvl="1"/>
            <a:r>
              <a:rPr lang="en-US" altLang="ja-JP" sz="1600" dirty="0"/>
              <a:t>Blanchard, O. and P. Diamond (1992), “The Flow Approach to Labor Markets”, </a:t>
            </a:r>
            <a:r>
              <a:rPr lang="en-US" altLang="ja-JP" sz="1600" i="1" dirty="0"/>
              <a:t>The American Economic Review</a:t>
            </a:r>
            <a:r>
              <a:rPr lang="en-US" altLang="ja-JP" sz="1600" dirty="0"/>
              <a:t>, 82(2), pp. 354-359.</a:t>
            </a:r>
          </a:p>
          <a:p>
            <a:pPr lvl="1"/>
            <a:r>
              <a:rPr lang="en-US" altLang="ja-JP" sz="1600" dirty="0"/>
              <a:t>Hayashi, Fumio. and Edward C Prescott (2002), “The 1990s in Japan: A Lost Decade”, </a:t>
            </a:r>
            <a:r>
              <a:rPr lang="en-US" altLang="ja-JP" sz="1600" i="1" dirty="0"/>
              <a:t>Review of Economic Dynamics</a:t>
            </a:r>
            <a:r>
              <a:rPr lang="en-US" altLang="ja-JP" sz="1600" dirty="0"/>
              <a:t>, 5(1), pp. 206-235. </a:t>
            </a:r>
          </a:p>
          <a:p>
            <a:pPr lvl="1"/>
            <a:r>
              <a:rPr lang="ja-JP" altLang="ja-JP" sz="1600" dirty="0"/>
              <a:t>石崎寛憲・加藤涼</a:t>
            </a:r>
            <a:r>
              <a:rPr lang="en-US" altLang="ja-JP" sz="1600" dirty="0"/>
              <a:t> (2003)</a:t>
            </a:r>
            <a:r>
              <a:rPr lang="ja-JP" altLang="ja-JP" sz="1600" dirty="0"/>
              <a:t>，『労働市場における硬直性の日米比較と構造調整』日本銀行国際局ワーキング・ペーパー，</a:t>
            </a:r>
            <a:r>
              <a:rPr lang="en-US" altLang="ja-JP" sz="1600" dirty="0"/>
              <a:t>03-J-7</a:t>
            </a:r>
            <a:r>
              <a:rPr lang="ja-JP" altLang="ja-JP" sz="1600" dirty="0"/>
              <a:t>．</a:t>
            </a:r>
            <a:endParaRPr lang="en-US" altLang="ja-JP" sz="1600" dirty="0"/>
          </a:p>
          <a:p>
            <a:pPr lvl="1"/>
            <a:r>
              <a:rPr lang="ja-JP" altLang="ja-JP" sz="1600" dirty="0"/>
              <a:t>加藤涼</a:t>
            </a:r>
            <a:r>
              <a:rPr lang="en-US" altLang="ja-JP" sz="1600" dirty="0"/>
              <a:t> (2006)</a:t>
            </a:r>
            <a:r>
              <a:rPr lang="ja-JP" altLang="ja-JP" sz="1600" dirty="0"/>
              <a:t>，『現代マクロ経済学講義：動学的一般均衡モデル入門』，東洋経済新報社．</a:t>
            </a:r>
            <a:endParaRPr lang="ja-JP" altLang="en-US" sz="1600" dirty="0"/>
          </a:p>
          <a:p>
            <a:pPr lvl="1">
              <a:buFont typeface="Wingdings" panose="05000000000000000000" pitchFamily="2" charset="2"/>
              <a:buChar char="u"/>
            </a:pPr>
            <a:r>
              <a:rPr lang="ja-JP" altLang="en-US" sz="1600" dirty="0"/>
              <a:t>データ出典</a:t>
            </a:r>
            <a:endParaRPr lang="en-US" altLang="ja-JP" sz="1600" dirty="0"/>
          </a:p>
          <a:p>
            <a:pPr lvl="1"/>
            <a:r>
              <a:rPr lang="ja-JP" altLang="en-US" sz="1600" dirty="0"/>
              <a:t>厚生労働省 </a:t>
            </a:r>
            <a:r>
              <a:rPr lang="en-US" altLang="ja-JP" sz="1600" dirty="0"/>
              <a:t>(2025)</a:t>
            </a:r>
            <a:r>
              <a:rPr lang="ja-JP" altLang="en-US" sz="1600" dirty="0"/>
              <a:t>，「一般職業紹介状況（職業安定業務統計）」</a:t>
            </a:r>
            <a:r>
              <a:rPr lang="en-US" altLang="ja-JP" sz="1600" dirty="0"/>
              <a:t>https://www.e-stat.go.jp/stat-search/files?page=1&amp;layout=dataset&amp;toukei=00450222&amp;stat_infid=000040391057</a:t>
            </a:r>
          </a:p>
          <a:p>
            <a:pPr lvl="1"/>
            <a:r>
              <a:rPr lang="ja-JP" altLang="en-US" sz="1600" dirty="0"/>
              <a:t>総務省 </a:t>
            </a:r>
            <a:r>
              <a:rPr lang="en-US" altLang="ja-JP" sz="1600" dirty="0"/>
              <a:t>(2025)</a:t>
            </a:r>
            <a:r>
              <a:rPr lang="ja-JP" altLang="en-US" sz="1600" dirty="0"/>
              <a:t>，「労働力調査」</a:t>
            </a:r>
            <a:r>
              <a:rPr lang="en-US" altLang="ja-JP" sz="1600" dirty="0"/>
              <a:t>https://www.e-stat.go.jp/stat-search/files?page=1&amp;layout=datalist&amp;toukei=00200531&amp;tstat=000001226583&amp;cycle=0&amp;tclass1=000001226851&amp;tclass2=000001226852&amp;stat_infid=000001082681&amp;tclass3val=0</a:t>
            </a:r>
          </a:p>
          <a:p>
            <a:pPr lvl="1"/>
            <a:r>
              <a:rPr lang="ja-JP" altLang="en-US" sz="1600" dirty="0"/>
              <a:t>内閣府 </a:t>
            </a:r>
            <a:r>
              <a:rPr lang="en-US" altLang="ja-JP" sz="1600" dirty="0"/>
              <a:t>(2011)</a:t>
            </a:r>
            <a:r>
              <a:rPr lang="ja-JP" altLang="en-US" sz="1600" dirty="0"/>
              <a:t>，「</a:t>
            </a:r>
            <a:r>
              <a:rPr lang="en-US" altLang="ja-JP" sz="1600" dirty="0"/>
              <a:t>2000</a:t>
            </a:r>
            <a:r>
              <a:rPr lang="ja-JP" altLang="en-US" sz="1600" dirty="0"/>
              <a:t>暦年連鎖価格ＧＤＰ需要項目別時系列表」</a:t>
            </a:r>
            <a:r>
              <a:rPr lang="en-US" altLang="ja-JP" sz="1600" dirty="0"/>
              <a:t>https://www.esri.cao.go.jp/jp/sna/data/data_list/sokuhou/files/2011/qe113/gdemenuja.html</a:t>
            </a:r>
          </a:p>
          <a:p>
            <a:pPr lvl="1"/>
            <a:r>
              <a:rPr lang="ja-JP" altLang="en-US" sz="1600" dirty="0"/>
              <a:t>内閣府 </a:t>
            </a:r>
            <a:r>
              <a:rPr lang="en-US" altLang="ja-JP" sz="1600" dirty="0"/>
              <a:t>(2024)</a:t>
            </a:r>
            <a:r>
              <a:rPr lang="ja-JP" altLang="en-US" sz="1600" dirty="0"/>
              <a:t>，「</a:t>
            </a:r>
            <a:r>
              <a:rPr lang="en-US" altLang="ja-JP" sz="1600" dirty="0"/>
              <a:t>2024</a:t>
            </a:r>
            <a:r>
              <a:rPr lang="ja-JP" altLang="en-US" sz="1600" dirty="0"/>
              <a:t>年度国民経済計算（</a:t>
            </a:r>
            <a:r>
              <a:rPr lang="en-US" altLang="ja-JP" sz="1600" dirty="0"/>
              <a:t>2020</a:t>
            </a:r>
            <a:r>
              <a:rPr lang="ja-JP" altLang="en-US" sz="1600" dirty="0"/>
              <a:t>年基準・</a:t>
            </a:r>
            <a:r>
              <a:rPr lang="en-US" altLang="ja-JP" sz="1600" dirty="0"/>
              <a:t>2008SNA</a:t>
            </a:r>
            <a:r>
              <a:rPr lang="ja-JP" altLang="en-US" sz="1600" dirty="0"/>
              <a:t>）」</a:t>
            </a:r>
            <a:r>
              <a:rPr lang="en-US" altLang="ja-JP" sz="1600" dirty="0"/>
              <a:t>https://www.esri.cao.go.jp/jp/sna/data/data_list/kakuhou/files/2024/2024_kaku_top.html</a:t>
            </a:r>
          </a:p>
        </p:txBody>
      </p:sp>
      <p:sp>
        <p:nvSpPr>
          <p:cNvPr id="4" name="スライド番号プレースホルダー 3">
            <a:extLst>
              <a:ext uri="{FF2B5EF4-FFF2-40B4-BE49-F238E27FC236}">
                <a16:creationId xmlns:a16="http://schemas.microsoft.com/office/drawing/2014/main" id="{B47EE219-807F-9364-A6C1-06D882764BD2}"/>
              </a:ext>
            </a:extLst>
          </p:cNvPr>
          <p:cNvSpPr>
            <a:spLocks noGrp="1"/>
          </p:cNvSpPr>
          <p:nvPr>
            <p:ph type="sldNum" sz="quarter" idx="12"/>
          </p:nvPr>
        </p:nvSpPr>
        <p:spPr/>
        <p:txBody>
          <a:bodyPr/>
          <a:lstStyle/>
          <a:p>
            <a:fld id="{D015B3C7-C04D-468F-B3C4-7E2FB8E54005}" type="slidenum">
              <a:rPr kumimoji="1" lang="ja-JP" altLang="en-US" smtClean="0"/>
              <a:t>12</a:t>
            </a:fld>
            <a:endParaRPr kumimoji="1" lang="ja-JP" altLang="en-US"/>
          </a:p>
        </p:txBody>
      </p:sp>
    </p:spTree>
    <p:extLst>
      <p:ext uri="{BB962C8B-B14F-4D97-AF65-F5344CB8AC3E}">
        <p14:creationId xmlns:p14="http://schemas.microsoft.com/office/powerpoint/2010/main" val="4574500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848</TotalTime>
  <Words>3603</Words>
  <Application>Microsoft Office PowerPoint</Application>
  <PresentationFormat>ワイド画面</PresentationFormat>
  <Paragraphs>237</Paragraphs>
  <Slides>12</Slides>
  <Notes>11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メイリオ</vt:lpstr>
      <vt:lpstr>游ゴシック</vt:lpstr>
      <vt:lpstr>Arial</vt:lpstr>
      <vt:lpstr>Cambria Math</vt:lpstr>
      <vt:lpstr>Wingdings</vt:lpstr>
      <vt:lpstr>Office テーマ</vt:lpstr>
      <vt:lpstr>サーチ理論に基づく日本の労働市場分析： マッチング関数による時期別検証</vt:lpstr>
      <vt:lpstr>「サーチ理論」と「UV曲線」の簡単な説明</vt:lpstr>
      <vt:lpstr>先行研究</vt:lpstr>
      <vt:lpstr>推計モデルの概要</vt:lpstr>
      <vt:lpstr>推計モデルの修正</vt:lpstr>
      <vt:lpstr>推計結果①</vt:lpstr>
      <vt:lpstr>推計結果②</vt:lpstr>
      <vt:lpstr>内生性バイアス：DWH検定</vt:lpstr>
      <vt:lpstr>内生性バイアス</vt:lpstr>
      <vt:lpstr>操作変数法</vt:lpstr>
      <vt:lpstr>操作変数法</vt:lpstr>
      <vt:lpstr>参考資料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康佑 岸本</dc:creator>
  <cp:lastModifiedBy>康佑 岸本</cp:lastModifiedBy>
  <cp:revision>94</cp:revision>
  <dcterms:created xsi:type="dcterms:W3CDTF">2025-12-14T12:28:46Z</dcterms:created>
  <dcterms:modified xsi:type="dcterms:W3CDTF">2026-01-04T23:59:39Z</dcterms:modified>
</cp:coreProperties>
</file>